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4"/>
    <p:sldMasterId id="2147483721" r:id="rId5"/>
  </p:sldMasterIdLst>
  <p:notesMasterIdLst>
    <p:notesMasterId r:id="rId14"/>
  </p:notesMasterIdLst>
  <p:handoutMasterIdLst>
    <p:handoutMasterId r:id="rId15"/>
  </p:handoutMasterIdLst>
  <p:sldIdLst>
    <p:sldId id="2147479184" r:id="rId6"/>
    <p:sldId id="262" r:id="rId7"/>
    <p:sldId id="304" r:id="rId8"/>
    <p:sldId id="356" r:id="rId9"/>
    <p:sldId id="306" r:id="rId10"/>
    <p:sldId id="376" r:id="rId11"/>
    <p:sldId id="375" r:id="rId12"/>
    <p:sldId id="31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B014252-B095-DA1F-C355-486566E1E421}" name="Glass, Melissa (Cognizant)" initials="MG" userId="S::968603@cognizant.com::f2be1d7a-7ede-4646-a9d6-377854f3a77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171C1"/>
    <a:srgbClr val="0397AA"/>
    <a:srgbClr val="000045"/>
    <a:srgbClr val="E9F2FB"/>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8ADE6-5718-5340-91D4-2723AD6812CC}" v="46" dt="2026-04-01T15:39:53.7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21DA16-D7BE-0044-63A4-331775128C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2E90210-8F15-C154-78A1-3950898FF84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4346BD6-702E-674C-8AA6-461D5D081E02}" type="datetimeFigureOut">
              <a:rPr lang="en-US" smtClean="0"/>
              <a:t>4/1/2026</a:t>
            </a:fld>
            <a:endParaRPr lang="en-US"/>
          </a:p>
        </p:txBody>
      </p:sp>
      <p:sp>
        <p:nvSpPr>
          <p:cNvPr id="4" name="Footer Placeholder 3">
            <a:extLst>
              <a:ext uri="{FF2B5EF4-FFF2-40B4-BE49-F238E27FC236}">
                <a16:creationId xmlns:a16="http://schemas.microsoft.com/office/drawing/2014/main" id="{0A2349CD-9450-3112-B27A-45A677D638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844DCE9-C904-0204-E85A-C7904E16FA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9C44A6-0605-AB43-B7D0-E3167D85CB33}" type="slidenum">
              <a:rPr lang="en-US" smtClean="0"/>
              <a:t>‹#›</a:t>
            </a:fld>
            <a:endParaRPr lang="en-US"/>
          </a:p>
        </p:txBody>
      </p:sp>
    </p:spTree>
    <p:extLst>
      <p:ext uri="{BB962C8B-B14F-4D97-AF65-F5344CB8AC3E}">
        <p14:creationId xmlns:p14="http://schemas.microsoft.com/office/powerpoint/2010/main" val="88887033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DF9BC-448F-8A48-AAED-D9F4F58701B0}"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C31363-1E78-E44C-96F7-752056097438}" type="slidenum">
              <a:rPr lang="en-US" smtClean="0"/>
              <a:t>‹#›</a:t>
            </a:fld>
            <a:endParaRPr lang="en-US"/>
          </a:p>
        </p:txBody>
      </p:sp>
    </p:spTree>
    <p:extLst>
      <p:ext uri="{BB962C8B-B14F-4D97-AF65-F5344CB8AC3E}">
        <p14:creationId xmlns:p14="http://schemas.microsoft.com/office/powerpoint/2010/main" val="179789164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48"/>
                </a:solidFill>
                <a:effectLst/>
                <a:uLnTx/>
                <a:uFillTx/>
                <a:latin typeface="Arial" panose="020B0604020202020204"/>
                <a:ea typeface="+mn-ea"/>
                <a:cs typeface="+mn-cs"/>
              </a:rPr>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1EFD08-C94F-6048-8AD6-4B7ED2EB73E5}"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48"/>
              </a:solidFill>
              <a:effectLst/>
              <a:uLnTx/>
              <a:uFillTx/>
              <a:latin typeface="Arial" panose="020B0604020202020204"/>
              <a:ea typeface="+mn-ea"/>
              <a:cs typeface="+mn-cs"/>
            </a:endParaRPr>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To put a number on it: $4.5 trillion in U.S. labor value is now exposed to AI-led automation.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Ninety-three percent of jobs are touched in some way; this means that at least some tasks within a job could be automated with AI.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Thirty percent face existential change – the role itself needs to be reinvented, not just augmented.  These roles have a high AI-assisted automation exposure score , and reimagination here means </a:t>
            </a:r>
            <a:r>
              <a:rPr lang="en-US"/>
              <a:t>humans have to be moved away from those tasks and into "higher-order thinking"—things like empathy, complex strategy, and creative agility that AI still cannot automate.</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i="1"/>
              <a:t>For example:</a:t>
            </a:r>
            <a:r>
              <a:rPr lang="en-US"/>
              <a:t> A Financial Manager (now at </a:t>
            </a:r>
            <a:r>
              <a:rPr lang="en-US" b="1"/>
              <a:t>84% exposure</a:t>
            </a:r>
            <a:r>
              <a:rPr lang="en-US"/>
              <a:t>) doesn't disappear, but their job "reinvention" means they stop doing analysis and start doing "AI orchestration" and "ethical oversight."</a:t>
            </a: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And the rate of exposure has accelerated more than 4x.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5CC31363-1E78-E44C-96F7-752056097438}" type="slidenum">
              <a:rPr lang="en-US" smtClean="0"/>
              <a:t>2</a:t>
            </a:fld>
            <a:endParaRPr lang="en-US"/>
          </a:p>
        </p:txBody>
      </p:sp>
    </p:spTree>
    <p:extLst>
      <p:ext uri="{BB962C8B-B14F-4D97-AF65-F5344CB8AC3E}">
        <p14:creationId xmlns:p14="http://schemas.microsoft.com/office/powerpoint/2010/main" val="2863092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So where does the path forward lie? We see the enterprise opportunity to transform with AI as three strategic streams or vectors, and they fuel each other.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We are helping clients take advantage of these opportunities in parallel, vs. sequentially.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First, one of the earliest and most mature opportunities for AI-led transformation is achieving hyperproductivity in software engineering. Enterprises are using AI to accelerate development, modernize legacy estates, reduce technical debt, and improve productivity across the software development lifecycle. More recently, this has evolved from interactive, real-time AI assistance toward supervised agentic development: instead of prompting an assistant step by step, teams can now assign work to one or more agents that operate asynchronously, often in parallel, and return code, tests, or pull requests for human review.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Second, what we call “Industrializing AI,” means achieving enterprise scale, moving from pilots and experiments to enterprise-grade systems, including reimagining the processes those systems will power.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Lastly, agentifying the enterprise is shifting towards autonomous operations that unlock entirely new pools of value.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tx1"/>
                </a:solidFill>
                <a:effectLst/>
                <a:latin typeface="+mn-lt"/>
                <a:ea typeface="+mn-ea"/>
                <a:cs typeface="+mn-cs"/>
              </a:rPr>
              <a:t>These transformations are interconnected.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a:solidFill>
                  <a:schemeClr val="tx1"/>
                </a:solidFill>
                <a:effectLst/>
                <a:latin typeface="+mn-lt"/>
                <a:ea typeface="+mn-ea"/>
                <a:cs typeface="+mn-cs"/>
              </a:rPr>
              <a:t>Productivity gains fund scaled AI. Industrialization enables a foundational cognitive layer and scaled returns. Agentification generates returns from new areas and builds enterprise confidence for the next cycle.</a:t>
            </a:r>
          </a:p>
          <a:p>
            <a:endParaRPr lang="en-US"/>
          </a:p>
        </p:txBody>
      </p:sp>
      <p:sp>
        <p:nvSpPr>
          <p:cNvPr id="4" name="Slide Number Placeholder 3"/>
          <p:cNvSpPr>
            <a:spLocks noGrp="1"/>
          </p:cNvSpPr>
          <p:nvPr>
            <p:ph type="sldNum" sz="quarter" idx="5"/>
          </p:nvPr>
        </p:nvSpPr>
        <p:spPr/>
        <p:txBody>
          <a:bodyPr/>
          <a:lstStyle/>
          <a:p>
            <a:fld id="{5CC31363-1E78-E44C-96F7-752056097438}" type="slidenum">
              <a:rPr lang="en-US" smtClean="0"/>
              <a:t>3</a:t>
            </a:fld>
            <a:endParaRPr lang="en-US"/>
          </a:p>
        </p:txBody>
      </p:sp>
    </p:spTree>
    <p:extLst>
      <p:ext uri="{BB962C8B-B14F-4D97-AF65-F5344CB8AC3E}">
        <p14:creationId xmlns:p14="http://schemas.microsoft.com/office/powerpoint/2010/main" val="2077114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value we deliver delivers has always depended on what clients need most at a given moment. </a:t>
            </a:r>
          </a:p>
          <a:p>
            <a:r>
              <a:rPr lang="en-US" sz="1200" kern="1200">
                <a:solidFill>
                  <a:schemeClr val="tx1"/>
                </a:solidFill>
                <a:effectLst/>
                <a:latin typeface="+mn-lt"/>
                <a:ea typeface="+mn-ea"/>
                <a:cs typeface="+mn-cs"/>
              </a:rPr>
              <a:t>In the 1990s, enterprises needed custom systems built from scratch, and Cognizant created value by building those systems with exceptional engineering strength, and owning the outcomes. </a:t>
            </a:r>
          </a:p>
          <a:p>
            <a:r>
              <a:rPr lang="en-US" sz="1200" kern="1200">
                <a:solidFill>
                  <a:schemeClr val="tx1"/>
                </a:solidFill>
                <a:effectLst/>
                <a:latin typeface="+mn-lt"/>
                <a:ea typeface="+mn-ea"/>
                <a:cs typeface="+mn-cs"/>
              </a:rPr>
              <a:t>When enterprise software matured, clients needed help configuring and integrating packaged products at speed, and so we adapted and brough our engineering, domain and process expertise to bear to do that well.</a:t>
            </a:r>
          </a:p>
          <a:p>
            <a:r>
              <a:rPr lang="en-US" sz="1200" kern="1200">
                <a:solidFill>
                  <a:schemeClr val="tx1"/>
                </a:solidFill>
                <a:effectLst/>
                <a:latin typeface="+mn-lt"/>
                <a:ea typeface="+mn-ea"/>
                <a:cs typeface="+mn-cs"/>
              </a:rPr>
              <a:t>AI has shifted the gap again. Probabilistic, contextual technology can't be configured off the shelf. It has to be built, tailored to each enterprise's context, processes, and data. We recognized this early and defined the AI Builder category - creating value by helping our clients reimagine processes and workflows, building full-stack, custom agentic journeys, and taking responsibility for the outcomes those journeys deliver. </a:t>
            </a:r>
          </a:p>
          <a:p>
            <a:r>
              <a:rPr lang="en-US" sz="1200" kern="1200">
                <a:solidFill>
                  <a:schemeClr val="tx1"/>
                </a:solidFill>
                <a:effectLst/>
                <a:latin typeface="+mn-lt"/>
                <a:ea typeface="+mn-ea"/>
                <a:cs typeface="+mn-cs"/>
              </a:rPr>
              <a:t>That's the work that simplifies complexity, reduces risk, and accelerates value realization for clients, and we’ve invested here. </a:t>
            </a:r>
            <a:endParaRPr lang="en-US"/>
          </a:p>
        </p:txBody>
      </p:sp>
      <p:sp>
        <p:nvSpPr>
          <p:cNvPr id="4" name="Slide Number Placeholder 3"/>
          <p:cNvSpPr>
            <a:spLocks noGrp="1"/>
          </p:cNvSpPr>
          <p:nvPr>
            <p:ph type="sldNum" sz="quarter" idx="5"/>
          </p:nvPr>
        </p:nvSpPr>
        <p:spPr/>
        <p:txBody>
          <a:bodyPr/>
          <a:lstStyle/>
          <a:p>
            <a:fld id="{5CC31363-1E78-E44C-96F7-752056097438}" type="slidenum">
              <a:rPr lang="en-US" smtClean="0"/>
              <a:t>5</a:t>
            </a:fld>
            <a:endParaRPr lang="en-US"/>
          </a:p>
        </p:txBody>
      </p:sp>
    </p:spTree>
    <p:extLst>
      <p:ext uri="{BB962C8B-B14F-4D97-AF65-F5344CB8AC3E}">
        <p14:creationId xmlns:p14="http://schemas.microsoft.com/office/powerpoint/2010/main" val="33045586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DB5DB-0C61-6371-5D67-1E5BC6192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DA5E09-EEA6-32B6-1B3A-D689E59E0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AE4CD-6A32-F7CA-7E9E-41684FD6EB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a:solidFill>
                  <a:schemeClr val="tx1"/>
                </a:solidFill>
                <a:effectLst/>
                <a:latin typeface="+mn-lt"/>
                <a:ea typeface="+mn-ea"/>
                <a:cs typeface="+mn-cs"/>
              </a:rPr>
              <a:t>Here are some of the core elements that strengthen our AI solutions.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BASIS is how we help you reimagine your processes and operating model.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Context engineering is how we make AI actually understand and amplify your business. That means your workflows, business rules, domain expertise, regulatory constraints, tribal knowledge, and institutional memory, all engineered into the AI system so it reasons with the specificity your business requires. We’ve already spoken about how Cognizant is leading here  with an established Context Engineering discipline and specialization tracks within the company.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Our proprietary platforms (Neuro AI, Flowsource, SLM Factory, Ignition) are modular and already deployed at scale across 400+ client environments.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Our AI Lab, with 65+ patents and 8 global research labs, turns frontier research into capabilities you can use today.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And our board and diverse partner ecosystem – spanning hyperscalers, domain specialists and AI startups - means you get best-of-breed at every layer without being locked into any single vendor.</a:t>
            </a:r>
          </a:p>
          <a:p>
            <a:endParaRPr lang="en-US"/>
          </a:p>
        </p:txBody>
      </p:sp>
      <p:sp>
        <p:nvSpPr>
          <p:cNvPr id="4" name="Slide Number Placeholder 3">
            <a:extLst>
              <a:ext uri="{FF2B5EF4-FFF2-40B4-BE49-F238E27FC236}">
                <a16:creationId xmlns:a16="http://schemas.microsoft.com/office/drawing/2014/main" id="{73582F60-5E68-E7E5-510E-AE7BB7BFF91E}"/>
              </a:ext>
            </a:extLst>
          </p:cNvPr>
          <p:cNvSpPr>
            <a:spLocks noGrp="1"/>
          </p:cNvSpPr>
          <p:nvPr>
            <p:ph type="sldNum" sz="quarter" idx="5"/>
          </p:nvPr>
        </p:nvSpPr>
        <p:spPr/>
        <p:txBody>
          <a:bodyPr/>
          <a:lstStyle/>
          <a:p>
            <a:fld id="{5CC31363-1E78-E44C-96F7-752056097438}" type="slidenum">
              <a:rPr lang="en-US" smtClean="0"/>
              <a:t>6</a:t>
            </a:fld>
            <a:endParaRPr lang="en-US"/>
          </a:p>
        </p:txBody>
      </p:sp>
    </p:spTree>
    <p:extLst>
      <p:ext uri="{BB962C8B-B14F-4D97-AF65-F5344CB8AC3E}">
        <p14:creationId xmlns:p14="http://schemas.microsoft.com/office/powerpoint/2010/main" val="661651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C1A5E-C74B-F1C9-5A13-E762128DB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E44C6F-FC54-3B58-3FB8-36D602D6D0A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5895EDB-5094-C6B1-D424-A1177DF2F02D}"/>
              </a:ext>
            </a:extLst>
          </p:cNvPr>
          <p:cNvSpPr>
            <a:spLocks noGrp="1"/>
          </p:cNvSpPr>
          <p:nvPr>
            <p:ph type="body" idx="1"/>
          </p:nvPr>
        </p:nvSpPr>
        <p:spPr/>
        <p:txBody>
          <a:bodyPr/>
          <a:lstStyle/>
          <a:p>
            <a:r>
              <a:rPr lang="en-US" sz="1200" kern="1200">
                <a:solidFill>
                  <a:schemeClr val="tx1"/>
                </a:solidFill>
                <a:effectLst/>
                <a:latin typeface="+mn-lt"/>
                <a:ea typeface="+mn-ea"/>
                <a:cs typeface="+mn-cs"/>
              </a:rPr>
              <a:t>Plug-and-play AI is a myth. We’re hearing it every day from clients, and our Chief AI Officer Babak Hodjat put it simply: AI does not work out of the box. </a:t>
            </a:r>
          </a:p>
          <a:p>
            <a:r>
              <a:rPr lang="en-US" sz="1200" kern="1200">
                <a:solidFill>
                  <a:schemeClr val="tx1"/>
                </a:solidFill>
                <a:effectLst/>
                <a:latin typeface="+mn-lt"/>
                <a:ea typeface="+mn-ea"/>
                <a:cs typeface="+mn-cs"/>
              </a:rPr>
              <a:t>Almost every client we work with has tried. They've experimented with agents, deployed copilots, run pilots. </a:t>
            </a:r>
          </a:p>
          <a:p>
            <a:r>
              <a:rPr lang="en-US" sz="1200" kern="1200">
                <a:solidFill>
                  <a:schemeClr val="tx1"/>
                </a:solidFill>
                <a:effectLst/>
                <a:latin typeface="+mn-lt"/>
                <a:ea typeface="+mn-ea"/>
                <a:cs typeface="+mn-cs"/>
              </a:rPr>
              <a:t>And they've come back saying: we need someone to engineer this into our systems, govern it at enterprise scale, and make it deliver returns. That mapping between what AI can do generically and what it needs to do inside your specific business, with your data, your processes, your regulatory constraints, is the hardest and most valuable work in the AI era.</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That's what this slide represents. </a:t>
            </a:r>
          </a:p>
          <a:p>
            <a:r>
              <a:rPr lang="en-US" sz="1200" kern="1200">
                <a:solidFill>
                  <a:schemeClr val="tx1"/>
                </a:solidFill>
                <a:effectLst/>
                <a:latin typeface="+mn-lt"/>
                <a:ea typeface="+mn-ea"/>
                <a:cs typeface="+mn-cs"/>
              </a:rPr>
              <a:t>On the left is where capital is going: foundation models, silicon, compute, data infrastructure. Over $600 billion in 2025 alone, potentially a trillion this year. On the right is where you need to get: business reimagination, hyperproductivity, new revenue, competitive advantage. The gap in the middle is where value gets lost, and that’s where Cognizant’s solutions build a bridge.</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We close this gap by partnering closely with your teams for:</a:t>
            </a:r>
          </a:p>
          <a:p>
            <a:pPr marL="171450" indent="-171450">
              <a:buFont typeface="Arial" panose="020B0604020202020204" pitchFamily="34" charset="0"/>
              <a:buChar char="•"/>
            </a:pPr>
            <a:r>
              <a:rPr lang="en-US" sz="1200" kern="1200">
                <a:solidFill>
                  <a:schemeClr val="tx1"/>
                </a:solidFill>
                <a:effectLst/>
                <a:latin typeface="+mn-lt"/>
                <a:ea typeface="+mn-ea"/>
                <a:cs typeface="+mn-cs"/>
              </a:rPr>
              <a:t>Business reimagination - AI bolted onto legacy processes does not realize the full potential this technology holds.</a:t>
            </a:r>
          </a:p>
          <a:p>
            <a:pPr marL="171450" indent="-171450">
              <a:buFont typeface="Arial" panose="020B0604020202020204" pitchFamily="34" charset="0"/>
              <a:buChar char="•"/>
            </a:pPr>
            <a:r>
              <a:rPr lang="en-US" sz="1200" kern="1200">
                <a:solidFill>
                  <a:schemeClr val="tx1"/>
                </a:solidFill>
                <a:effectLst/>
                <a:latin typeface="+mn-lt"/>
                <a:ea typeface="+mn-ea"/>
                <a:cs typeface="+mn-cs"/>
              </a:rPr>
              <a:t>Enterprise-grade guardrails and trust, because probabilistic systems need governance, auditability, and human oversight engineered in from day one. </a:t>
            </a:r>
          </a:p>
          <a:p>
            <a:pPr marL="171450" indent="-171450">
              <a:buFont typeface="Arial" panose="020B0604020202020204" pitchFamily="34" charset="0"/>
              <a:buChar char="•"/>
            </a:pPr>
            <a:r>
              <a:rPr lang="en-US" sz="1200" kern="1200">
                <a:solidFill>
                  <a:schemeClr val="tx1"/>
                </a:solidFill>
                <a:effectLst/>
                <a:latin typeface="+mn-lt"/>
                <a:ea typeface="+mn-ea"/>
                <a:cs typeface="+mn-cs"/>
              </a:rPr>
              <a:t>Full-stack contextual AI solutions – “Full stack” to reduce complexity and provide efficiencies. And contextual because context is what converts a generic model into enterprise-specific intelligence. Cognizant is leading here  with an established Context Engineering discipline and specialization tracks within the company. </a:t>
            </a:r>
          </a:p>
          <a:p>
            <a:pPr marL="171450" indent="-171450">
              <a:buFont typeface="Arial" panose="020B0604020202020204" pitchFamily="34" charset="0"/>
              <a:buChar char="•"/>
            </a:pPr>
            <a:r>
              <a:rPr lang="en-US" sz="1200" kern="1200">
                <a:solidFill>
                  <a:schemeClr val="tx1"/>
                </a:solidFill>
                <a:effectLst/>
                <a:latin typeface="+mn-lt"/>
                <a:ea typeface="+mn-ea"/>
                <a:cs typeface="+mn-cs"/>
              </a:rPr>
              <a:t>Economic AI optimization – because scaling AI affordably requires disciplined token management, right-sized models, and inference cost governance. </a:t>
            </a:r>
          </a:p>
          <a:p>
            <a:pPr marL="171450" indent="-171450">
              <a:buFont typeface="Arial" panose="020B0604020202020204" pitchFamily="34" charset="0"/>
              <a:buChar char="•"/>
            </a:pPr>
            <a:r>
              <a:rPr lang="en-US" sz="1200" kern="1200">
                <a:solidFill>
                  <a:schemeClr val="tx1"/>
                </a:solidFill>
                <a:effectLst/>
                <a:latin typeface="+mn-lt"/>
                <a:ea typeface="+mn-ea"/>
                <a:cs typeface="+mn-cs"/>
              </a:rPr>
              <a:t>Workforce transformation, because skilling is not a peripheral HR initiative, it is core AI infrastructure; your people need to evolve in lockstep with the technology. </a:t>
            </a:r>
          </a:p>
          <a:p>
            <a:pPr marL="171450" indent="-171450">
              <a:buFont typeface="Arial" panose="020B0604020202020204" pitchFamily="34" charset="0"/>
              <a:buChar char="•"/>
            </a:pPr>
            <a:r>
              <a:rPr lang="en-US" sz="1200" kern="1200">
                <a:solidFill>
                  <a:schemeClr val="tx1"/>
                </a:solidFill>
                <a:effectLst/>
                <a:latin typeface="+mn-lt"/>
                <a:ea typeface="+mn-ea"/>
                <a:cs typeface="+mn-cs"/>
              </a:rPr>
              <a:t>And lastly, outcome-based commercial models. Clients want accountability for business results, and we can underwrite them.</a:t>
            </a:r>
          </a:p>
          <a:p>
            <a:br>
              <a:rPr lang="en-US"/>
            </a:br>
            <a:endParaRPr lang="en-US"/>
          </a:p>
        </p:txBody>
      </p:sp>
      <p:sp>
        <p:nvSpPr>
          <p:cNvPr id="4" name="Slide Number Placeholder 3">
            <a:extLst>
              <a:ext uri="{FF2B5EF4-FFF2-40B4-BE49-F238E27FC236}">
                <a16:creationId xmlns:a16="http://schemas.microsoft.com/office/drawing/2014/main" id="{318EC9EA-9565-901C-8853-F0E43EC40CC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01682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are some examples of agentic journeys we’ve built, that are industry-specific: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In financial services, that means KYC turnaround cut by half and first-time approvals jumping from 20% to 80%.</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In healthcare, 90%+ triage accuracy and 75% of clinical talent freed for complex strategic work.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kern="1200">
                <a:solidFill>
                  <a:schemeClr val="tx1"/>
                </a:solidFill>
                <a:effectLst/>
                <a:latin typeface="+mn-lt"/>
                <a:ea typeface="+mn-ea"/>
                <a:cs typeface="+mn-cs"/>
              </a:rPr>
              <a:t>In retail, order response times collapsing from five days to ninety seconds. Each of these started with process reimagination, understanding the workflow deeply before applying AI, and each creates patterns we can replicate across similar organizations.</a:t>
            </a:r>
          </a:p>
          <a:p>
            <a:endParaRPr lang="en-US"/>
          </a:p>
        </p:txBody>
      </p:sp>
      <p:sp>
        <p:nvSpPr>
          <p:cNvPr id="4" name="Slide Number Placeholder 3"/>
          <p:cNvSpPr>
            <a:spLocks noGrp="1"/>
          </p:cNvSpPr>
          <p:nvPr>
            <p:ph type="sldNum" sz="quarter" idx="5"/>
          </p:nvPr>
        </p:nvSpPr>
        <p:spPr/>
        <p:txBody>
          <a:bodyPr/>
          <a:lstStyle/>
          <a:p>
            <a:fld id="{5CC31363-1E78-E44C-96F7-752056097438}" type="slidenum">
              <a:rPr lang="en-US" smtClean="0"/>
              <a:t>8</a:t>
            </a:fld>
            <a:endParaRPr lang="en-US"/>
          </a:p>
        </p:txBody>
      </p:sp>
    </p:spTree>
    <p:extLst>
      <p:ext uri="{BB962C8B-B14F-4D97-AF65-F5344CB8AC3E}">
        <p14:creationId xmlns:p14="http://schemas.microsoft.com/office/powerpoint/2010/main" val="41034575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550CC42-9465-B94D-89B3-CDEFFBD6F86A}" type="datetime1">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95D35-DD53-0442-BAEB-773F9797755E}" type="slidenum">
              <a:rPr lang="en-US" smtClean="0"/>
              <a:t>‹#›</a:t>
            </a:fld>
            <a:endParaRPr lang="en-US"/>
          </a:p>
        </p:txBody>
      </p:sp>
    </p:spTree>
    <p:extLst>
      <p:ext uri="{BB962C8B-B14F-4D97-AF65-F5344CB8AC3E}">
        <p14:creationId xmlns:p14="http://schemas.microsoft.com/office/powerpoint/2010/main" val="2085326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35CE0C-F79E-FD44-8117-AE502B30099A}" type="datetime1">
              <a:rPr lang="en-US" smtClean="0"/>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B95D35-DD53-0442-BAEB-773F9797755E}" type="slidenum">
              <a:rPr lang="en-US" smtClean="0"/>
              <a:t>‹#›</a:t>
            </a:fld>
            <a:endParaRPr lang="en-US"/>
          </a:p>
        </p:txBody>
      </p:sp>
    </p:spTree>
    <p:extLst>
      <p:ext uri="{BB962C8B-B14F-4D97-AF65-F5344CB8AC3E}">
        <p14:creationId xmlns:p14="http://schemas.microsoft.com/office/powerpoint/2010/main" val="2383193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173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94033496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4/1/2026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3">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185325747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4/1/2026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66837204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4/1/2026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9695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4/1/2026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708433224"/>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4/1/2026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1087098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466276466"/>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643959225"/>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3521457"/>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285478497"/>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70472942"/>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148544678"/>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20067068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786008197"/>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36188883"/>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a:extLst>
                <a:ext uri="{96DAC541-7B7A-43D3-8B79-37D633B846F1}">
                  <asvg:svgBlip xmlns:asvg="http://schemas.microsoft.com/office/drawing/2016/SVG/main" r:embed="rId3"/>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0638591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876386830"/>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77276549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5667416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464003012"/>
      </p:ext>
    </p:extLst>
  </p:cSld>
  <p:clrMapOvr>
    <a:overrideClrMapping bg1="lt1" tx1="dk1" bg2="lt2" tx2="dk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297584215"/>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4/1/2026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9337632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6928679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4/1/2026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022195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4/1/2026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50849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4/1/2026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8014687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4/1/2026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25890250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4/1/2026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395992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4/1/2026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460862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4/1/2026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72998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4/1/2026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1420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4/1/2026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5099037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4/1/2026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0806908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4/1/2026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471224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4285766452"/>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217599305"/>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1074176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4/1/2026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7686397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4/1/2026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5992022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4/1/2026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93443365"/>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4/1/2026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735830848"/>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4/1/2026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12582402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4/1/2026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8098273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4/1/2026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29732103"/>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4/1/2026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58752482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4/1/2026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08795533"/>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4/1/2026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559908653"/>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4/1/2026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6849590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14263160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4/1/2026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206504549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39588327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4/1/2026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84255726"/>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57698719"/>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4/1/2026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384448603"/>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4/1/2026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552560366"/>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7623541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4651633"/>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669664518"/>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22695776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233008612"/>
      </p:ext>
    </p:extLst>
  </p:cSld>
  <p:clrMapOvr>
    <a:overrideClrMapping bg1="lt1" tx1="dk1" bg2="lt2" tx2="dk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2775378447"/>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4/1/2026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732651960"/>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131060948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4/1/2026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76702059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4/1/2026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7018008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4/1/2026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1598869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4/1/2026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059959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37462175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29.xml"/><Relationship Id="rId21" Type="http://schemas.openxmlformats.org/officeDocument/2006/relationships/slideLayout" Target="../slideLayouts/slideLayout24.xml"/><Relationship Id="rId42" Type="http://schemas.openxmlformats.org/officeDocument/2006/relationships/slideLayout" Target="../slideLayouts/slideLayout45.xml"/><Relationship Id="rId47" Type="http://schemas.openxmlformats.org/officeDocument/2006/relationships/slideLayout" Target="../slideLayouts/slideLayout50.xml"/><Relationship Id="rId63" Type="http://schemas.openxmlformats.org/officeDocument/2006/relationships/slideLayout" Target="../slideLayouts/slideLayout66.xml"/><Relationship Id="rId68" Type="http://schemas.openxmlformats.org/officeDocument/2006/relationships/slideLayout" Target="../slideLayouts/slideLayout71.xml"/><Relationship Id="rId7" Type="http://schemas.openxmlformats.org/officeDocument/2006/relationships/slideLayout" Target="../slideLayouts/slideLayout10.xml"/><Relationship Id="rId2" Type="http://schemas.openxmlformats.org/officeDocument/2006/relationships/slideLayout" Target="../slideLayouts/slideLayout5.xml"/><Relationship Id="rId16" Type="http://schemas.openxmlformats.org/officeDocument/2006/relationships/slideLayout" Target="../slideLayouts/slideLayout19.xml"/><Relationship Id="rId29" Type="http://schemas.openxmlformats.org/officeDocument/2006/relationships/slideLayout" Target="../slideLayouts/slideLayout32.xml"/><Relationship Id="rId11" Type="http://schemas.openxmlformats.org/officeDocument/2006/relationships/slideLayout" Target="../slideLayouts/slideLayout14.xml"/><Relationship Id="rId24" Type="http://schemas.openxmlformats.org/officeDocument/2006/relationships/slideLayout" Target="../slideLayouts/slideLayout27.xml"/><Relationship Id="rId32" Type="http://schemas.openxmlformats.org/officeDocument/2006/relationships/slideLayout" Target="../slideLayouts/slideLayout35.xml"/><Relationship Id="rId37" Type="http://schemas.openxmlformats.org/officeDocument/2006/relationships/slideLayout" Target="../slideLayouts/slideLayout40.xml"/><Relationship Id="rId40" Type="http://schemas.openxmlformats.org/officeDocument/2006/relationships/slideLayout" Target="../slideLayouts/slideLayout43.xml"/><Relationship Id="rId45" Type="http://schemas.openxmlformats.org/officeDocument/2006/relationships/slideLayout" Target="../slideLayouts/slideLayout48.xml"/><Relationship Id="rId53" Type="http://schemas.openxmlformats.org/officeDocument/2006/relationships/slideLayout" Target="../slideLayouts/slideLayout56.xml"/><Relationship Id="rId58" Type="http://schemas.openxmlformats.org/officeDocument/2006/relationships/slideLayout" Target="../slideLayouts/slideLayout61.xml"/><Relationship Id="rId66" Type="http://schemas.openxmlformats.org/officeDocument/2006/relationships/slideLayout" Target="../slideLayouts/slideLayout69.xml"/><Relationship Id="rId5" Type="http://schemas.openxmlformats.org/officeDocument/2006/relationships/slideLayout" Target="../slideLayouts/slideLayout8.xml"/><Relationship Id="rId61" Type="http://schemas.openxmlformats.org/officeDocument/2006/relationships/slideLayout" Target="../slideLayouts/slideLayout64.xml"/><Relationship Id="rId19" Type="http://schemas.openxmlformats.org/officeDocument/2006/relationships/slideLayout" Target="../slideLayouts/slideLayout22.xml"/><Relationship Id="rId14" Type="http://schemas.openxmlformats.org/officeDocument/2006/relationships/slideLayout" Target="../slideLayouts/slideLayout17.xml"/><Relationship Id="rId22" Type="http://schemas.openxmlformats.org/officeDocument/2006/relationships/slideLayout" Target="../slideLayouts/slideLayout25.xml"/><Relationship Id="rId27" Type="http://schemas.openxmlformats.org/officeDocument/2006/relationships/slideLayout" Target="../slideLayouts/slideLayout30.xml"/><Relationship Id="rId30" Type="http://schemas.openxmlformats.org/officeDocument/2006/relationships/slideLayout" Target="../slideLayouts/slideLayout33.xml"/><Relationship Id="rId35" Type="http://schemas.openxmlformats.org/officeDocument/2006/relationships/slideLayout" Target="../slideLayouts/slideLayout38.xml"/><Relationship Id="rId43" Type="http://schemas.openxmlformats.org/officeDocument/2006/relationships/slideLayout" Target="../slideLayouts/slideLayout46.xml"/><Relationship Id="rId48" Type="http://schemas.openxmlformats.org/officeDocument/2006/relationships/slideLayout" Target="../slideLayouts/slideLayout51.xml"/><Relationship Id="rId56" Type="http://schemas.openxmlformats.org/officeDocument/2006/relationships/slideLayout" Target="../slideLayouts/slideLayout59.xml"/><Relationship Id="rId64" Type="http://schemas.openxmlformats.org/officeDocument/2006/relationships/slideLayout" Target="../slideLayouts/slideLayout67.xml"/><Relationship Id="rId69" Type="http://schemas.openxmlformats.org/officeDocument/2006/relationships/theme" Target="../theme/theme2.xml"/><Relationship Id="rId8" Type="http://schemas.openxmlformats.org/officeDocument/2006/relationships/slideLayout" Target="../slideLayouts/slideLayout11.xml"/><Relationship Id="rId51" Type="http://schemas.openxmlformats.org/officeDocument/2006/relationships/slideLayout" Target="../slideLayouts/slideLayout54.xml"/><Relationship Id="rId3" Type="http://schemas.openxmlformats.org/officeDocument/2006/relationships/slideLayout" Target="../slideLayouts/slideLayout6.xml"/><Relationship Id="rId12" Type="http://schemas.openxmlformats.org/officeDocument/2006/relationships/slideLayout" Target="../slideLayouts/slideLayout15.xml"/><Relationship Id="rId17" Type="http://schemas.openxmlformats.org/officeDocument/2006/relationships/slideLayout" Target="../slideLayouts/slideLayout20.xml"/><Relationship Id="rId25" Type="http://schemas.openxmlformats.org/officeDocument/2006/relationships/slideLayout" Target="../slideLayouts/slideLayout28.xml"/><Relationship Id="rId33" Type="http://schemas.openxmlformats.org/officeDocument/2006/relationships/slideLayout" Target="../slideLayouts/slideLayout36.xml"/><Relationship Id="rId38" Type="http://schemas.openxmlformats.org/officeDocument/2006/relationships/slideLayout" Target="../slideLayouts/slideLayout41.xml"/><Relationship Id="rId46" Type="http://schemas.openxmlformats.org/officeDocument/2006/relationships/slideLayout" Target="../slideLayouts/slideLayout49.xml"/><Relationship Id="rId59" Type="http://schemas.openxmlformats.org/officeDocument/2006/relationships/slideLayout" Target="../slideLayouts/slideLayout62.xml"/><Relationship Id="rId67" Type="http://schemas.openxmlformats.org/officeDocument/2006/relationships/slideLayout" Target="../slideLayouts/slideLayout70.xml"/><Relationship Id="rId20" Type="http://schemas.openxmlformats.org/officeDocument/2006/relationships/slideLayout" Target="../slideLayouts/slideLayout23.xml"/><Relationship Id="rId41" Type="http://schemas.openxmlformats.org/officeDocument/2006/relationships/slideLayout" Target="../slideLayouts/slideLayout44.xml"/><Relationship Id="rId54" Type="http://schemas.openxmlformats.org/officeDocument/2006/relationships/slideLayout" Target="../slideLayouts/slideLayout57.xml"/><Relationship Id="rId62" Type="http://schemas.openxmlformats.org/officeDocument/2006/relationships/slideLayout" Target="../slideLayouts/slideLayout65.xml"/><Relationship Id="rId70" Type="http://schemas.openxmlformats.org/officeDocument/2006/relationships/image" Target="../media/image1.svg"/><Relationship Id="rId1" Type="http://schemas.openxmlformats.org/officeDocument/2006/relationships/slideLayout" Target="../slideLayouts/slideLayout4.xml"/><Relationship Id="rId6" Type="http://schemas.openxmlformats.org/officeDocument/2006/relationships/slideLayout" Target="../slideLayouts/slideLayout9.xml"/><Relationship Id="rId15" Type="http://schemas.openxmlformats.org/officeDocument/2006/relationships/slideLayout" Target="../slideLayouts/slideLayout18.xml"/><Relationship Id="rId23" Type="http://schemas.openxmlformats.org/officeDocument/2006/relationships/slideLayout" Target="../slideLayouts/slideLayout26.xml"/><Relationship Id="rId28" Type="http://schemas.openxmlformats.org/officeDocument/2006/relationships/slideLayout" Target="../slideLayouts/slideLayout31.xml"/><Relationship Id="rId36" Type="http://schemas.openxmlformats.org/officeDocument/2006/relationships/slideLayout" Target="../slideLayouts/slideLayout39.xml"/><Relationship Id="rId49" Type="http://schemas.openxmlformats.org/officeDocument/2006/relationships/slideLayout" Target="../slideLayouts/slideLayout52.xml"/><Relationship Id="rId57" Type="http://schemas.openxmlformats.org/officeDocument/2006/relationships/slideLayout" Target="../slideLayouts/slideLayout60.xml"/><Relationship Id="rId10" Type="http://schemas.openxmlformats.org/officeDocument/2006/relationships/slideLayout" Target="../slideLayouts/slideLayout13.xml"/><Relationship Id="rId31" Type="http://schemas.openxmlformats.org/officeDocument/2006/relationships/slideLayout" Target="../slideLayouts/slideLayout34.xml"/><Relationship Id="rId44" Type="http://schemas.openxmlformats.org/officeDocument/2006/relationships/slideLayout" Target="../slideLayouts/slideLayout47.xml"/><Relationship Id="rId52" Type="http://schemas.openxmlformats.org/officeDocument/2006/relationships/slideLayout" Target="../slideLayouts/slideLayout55.xml"/><Relationship Id="rId60" Type="http://schemas.openxmlformats.org/officeDocument/2006/relationships/slideLayout" Target="../slideLayouts/slideLayout63.xml"/><Relationship Id="rId65" Type="http://schemas.openxmlformats.org/officeDocument/2006/relationships/slideLayout" Target="../slideLayouts/slideLayout68.xml"/><Relationship Id="rId4" Type="http://schemas.openxmlformats.org/officeDocument/2006/relationships/slideLayout" Target="../slideLayouts/slideLayout7.xml"/><Relationship Id="rId9" Type="http://schemas.openxmlformats.org/officeDocument/2006/relationships/slideLayout" Target="../slideLayouts/slideLayout12.xml"/><Relationship Id="rId13" Type="http://schemas.openxmlformats.org/officeDocument/2006/relationships/slideLayout" Target="../slideLayouts/slideLayout16.xml"/><Relationship Id="rId18" Type="http://schemas.openxmlformats.org/officeDocument/2006/relationships/slideLayout" Target="../slideLayouts/slideLayout21.xml"/><Relationship Id="rId39" Type="http://schemas.openxmlformats.org/officeDocument/2006/relationships/slideLayout" Target="../slideLayouts/slideLayout42.xml"/><Relationship Id="rId34" Type="http://schemas.openxmlformats.org/officeDocument/2006/relationships/slideLayout" Target="../slideLayouts/slideLayout37.xml"/><Relationship Id="rId50" Type="http://schemas.openxmlformats.org/officeDocument/2006/relationships/slideLayout" Target="../slideLayouts/slideLayout53.xml"/><Relationship Id="rId55"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F0CDBE-2D6A-7843-A8BA-3C29185655E1}" type="datetime1">
              <a:rPr lang="en-US" smtClean="0"/>
              <a:t>4/1/2026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B95D35-DD53-0442-BAEB-773F9797755E}" type="slidenum">
              <a:rPr lang="en-US" smtClean="0"/>
              <a:t>‹#›</a:t>
            </a:fld>
            <a:endParaRPr lang="en-US"/>
          </a:p>
        </p:txBody>
      </p:sp>
    </p:spTree>
    <p:extLst>
      <p:ext uri="{BB962C8B-B14F-4D97-AF65-F5344CB8AC3E}">
        <p14:creationId xmlns:p14="http://schemas.microsoft.com/office/powerpoint/2010/main" val="307864703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20"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4/1/2026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131822388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 id="2147483767" r:id="rId46"/>
    <p:sldLayoutId id="2147483768" r:id="rId47"/>
    <p:sldLayoutId id="2147483769" r:id="rId48"/>
    <p:sldLayoutId id="2147483770" r:id="rId49"/>
    <p:sldLayoutId id="2147483771" r:id="rId50"/>
    <p:sldLayoutId id="2147483772" r:id="rId51"/>
    <p:sldLayoutId id="2147483773" r:id="rId52"/>
    <p:sldLayoutId id="2147483774" r:id="rId53"/>
    <p:sldLayoutId id="2147483775" r:id="rId54"/>
    <p:sldLayoutId id="2147483776" r:id="rId55"/>
    <p:sldLayoutId id="2147483777" r:id="rId56"/>
    <p:sldLayoutId id="2147483778" r:id="rId57"/>
    <p:sldLayoutId id="2147483779" r:id="rId58"/>
    <p:sldLayoutId id="2147483780" r:id="rId59"/>
    <p:sldLayoutId id="2147483781" r:id="rId60"/>
    <p:sldLayoutId id="2147483782" r:id="rId61"/>
    <p:sldLayoutId id="2147483783" r:id="rId62"/>
    <p:sldLayoutId id="2147483784" r:id="rId63"/>
    <p:sldLayoutId id="2147483785" r:id="rId64"/>
    <p:sldLayoutId id="2147483786" r:id="rId65"/>
    <p:sldLayoutId id="2147483787" r:id="rId66"/>
    <p:sldLayoutId id="2147483788" r:id="rId67"/>
    <p:sldLayoutId id="2147483789"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9.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9.xml"/><Relationship Id="rId5" Type="http://schemas.openxmlformats.org/officeDocument/2006/relationships/image" Target="../media/image23.sv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1005839" y="2936367"/>
            <a:ext cx="4023360" cy="997196"/>
          </a:xfrm>
        </p:spPr>
        <p:txBody>
          <a:bodyPr/>
          <a:lstStyle/>
          <a:p>
            <a:r>
              <a:rPr lang="en-US"/>
              <a:t>Our AI Builder approach</a:t>
            </a:r>
          </a:p>
        </p:txBody>
      </p:sp>
      <p:sp>
        <p:nvSpPr>
          <p:cNvPr id="6" name="Subtitle 5">
            <a:extLst>
              <a:ext uri="{FF2B5EF4-FFF2-40B4-BE49-F238E27FC236}">
                <a16:creationId xmlns:a16="http://schemas.microsoft.com/office/drawing/2014/main" id="{88FEBB95-7384-788A-FB4C-0A6B87FC5084}"/>
              </a:ext>
            </a:extLst>
          </p:cNvPr>
          <p:cNvSpPr>
            <a:spLocks noGrp="1"/>
          </p:cNvSpPr>
          <p:nvPr>
            <p:ph type="subTitle" idx="1"/>
          </p:nvPr>
        </p:nvSpPr>
        <p:spPr>
          <a:xfrm>
            <a:off x="1005839" y="4363798"/>
            <a:ext cx="4023360" cy="738664"/>
          </a:xfrm>
        </p:spPr>
        <p:txBody>
          <a:bodyPr/>
          <a:lstStyle/>
          <a:p>
            <a:pPr>
              <a:lnSpc>
                <a:spcPct val="100000"/>
              </a:lnSpc>
              <a:spcBef>
                <a:spcPts val="0"/>
              </a:spcBef>
            </a:pPr>
            <a:r>
              <a:rPr lang="en-US"/>
              <a:t>Building the bridge to enterprise AI value</a:t>
            </a:r>
            <a:endParaRPr lang="en-US">
              <a:solidFill>
                <a:srgbClr val="CCCCCC"/>
              </a:solidFill>
              <a:latin typeface="Gellix" pitchFamily="2" charset="77"/>
              <a:cs typeface="Gellix" pitchFamily="2" charset="77"/>
            </a:endParaRP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8826FC0-333C-E549-9FA3-0EE43DF298A3}" type="slidenum">
              <a:rPr kumimoji="0" lang="en-US" sz="700" b="0" i="0" u="none" strike="noStrike" kern="1200" cap="none" spc="0" normalizeH="0" baseline="0" noProof="0" smtClean="0">
                <a:ln>
                  <a:noFill/>
                </a:ln>
                <a:solidFill>
                  <a:srgbClr val="FFFFFF"/>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2025–2027 Cognizant | Private</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a:extLst>
              <a:ext uri="{FF2B5EF4-FFF2-40B4-BE49-F238E27FC236}">
                <a16:creationId xmlns:a16="http://schemas.microsoft.com/office/drawing/2014/main" id="{F4A2A8B1-F4EF-F4E5-A084-65E94DE88BFE}"/>
              </a:ext>
            </a:extLst>
          </p:cNvPr>
          <p:cNvSpPr/>
          <p:nvPr/>
        </p:nvSpPr>
        <p:spPr>
          <a:xfrm>
            <a:off x="445769" y="759281"/>
            <a:ext cx="11394935" cy="738137"/>
          </a:xfrm>
          <a:prstGeom prst="rect">
            <a:avLst/>
          </a:prstGeom>
          <a:noFill/>
          <a:ln/>
        </p:spPr>
        <p:txBody>
          <a:bodyPr wrap="square" rtlCol="0" anchor="ctr"/>
          <a:lstStyle/>
          <a:p>
            <a:endParaRPr lang="en-US" sz="2800" b="1">
              <a:solidFill>
                <a:srgbClr val="000045"/>
              </a:solidFill>
              <a:latin typeface="Gellix" pitchFamily="2" charset="77"/>
            </a:endParaRPr>
          </a:p>
        </p:txBody>
      </p:sp>
      <p:sp>
        <p:nvSpPr>
          <p:cNvPr id="18" name="Text 6">
            <a:extLst>
              <a:ext uri="{FF2B5EF4-FFF2-40B4-BE49-F238E27FC236}">
                <a16:creationId xmlns:a16="http://schemas.microsoft.com/office/drawing/2014/main" id="{2A1E1533-5FC0-D792-F0AC-505448F88595}"/>
              </a:ext>
            </a:extLst>
          </p:cNvPr>
          <p:cNvSpPr/>
          <p:nvPr/>
        </p:nvSpPr>
        <p:spPr>
          <a:xfrm>
            <a:off x="1114678" y="1293285"/>
            <a:ext cx="1537776" cy="516277"/>
          </a:xfrm>
          <a:prstGeom prst="rect">
            <a:avLst/>
          </a:prstGeom>
          <a:noFill/>
          <a:ln>
            <a:noFill/>
          </a:ln>
        </p:spPr>
        <p:txBody>
          <a:bodyPr wrap="square" rtlCol="0" anchor="ctr"/>
          <a:lstStyle/>
          <a:p>
            <a:pPr marL="0" indent="0">
              <a:buNone/>
            </a:pPr>
            <a:r>
              <a:rPr lang="en-US" sz="4800">
                <a:solidFill>
                  <a:srgbClr val="0171C1"/>
                </a:solidFill>
                <a:latin typeface="Gellix" pitchFamily="2" charset="77"/>
                <a:ea typeface="Calibri" pitchFamily="34" charset="-122"/>
                <a:cs typeface="Gellix" pitchFamily="2" charset="77"/>
              </a:rPr>
              <a:t>93%</a:t>
            </a:r>
            <a:endParaRPr lang="en-US" sz="4800">
              <a:solidFill>
                <a:srgbClr val="0171C1"/>
              </a:solidFill>
              <a:latin typeface="Gellix" pitchFamily="2" charset="77"/>
              <a:cs typeface="Gellix" pitchFamily="2" charset="77"/>
            </a:endParaRPr>
          </a:p>
        </p:txBody>
      </p:sp>
      <p:sp>
        <p:nvSpPr>
          <p:cNvPr id="19" name="Text 7">
            <a:extLst>
              <a:ext uri="{FF2B5EF4-FFF2-40B4-BE49-F238E27FC236}">
                <a16:creationId xmlns:a16="http://schemas.microsoft.com/office/drawing/2014/main" id="{283CE24C-814C-7BB5-D721-9E74D48946F8}"/>
              </a:ext>
            </a:extLst>
          </p:cNvPr>
          <p:cNvSpPr/>
          <p:nvPr/>
        </p:nvSpPr>
        <p:spPr>
          <a:xfrm>
            <a:off x="2547979" y="1046257"/>
            <a:ext cx="3827992" cy="722720"/>
          </a:xfrm>
          <a:prstGeom prst="rect">
            <a:avLst/>
          </a:prstGeom>
          <a:noFill/>
          <a:ln/>
        </p:spPr>
        <p:txBody>
          <a:bodyPr wrap="square" rtlCol="0" anchor="ctr"/>
          <a:lstStyle/>
          <a:p>
            <a:pPr marL="0" indent="0">
              <a:lnSpc>
                <a:spcPct val="130000"/>
              </a:lnSpc>
              <a:buNone/>
            </a:pPr>
            <a:r>
              <a:rPr lang="en-US" sz="1400">
                <a:solidFill>
                  <a:srgbClr val="000045"/>
                </a:solidFill>
                <a:latin typeface="Gellix" pitchFamily="2" charset="77"/>
                <a:ea typeface="Calibri" pitchFamily="34" charset="-122"/>
                <a:cs typeface="Gellix" pitchFamily="2" charset="77"/>
              </a:rPr>
              <a:t>of jobs impacted</a:t>
            </a:r>
            <a:r>
              <a:rPr lang="en-US" sz="1400">
                <a:solidFill>
                  <a:srgbClr val="000045"/>
                </a:solidFill>
                <a:latin typeface="Gellix" pitchFamily="2" charset="77"/>
                <a:cs typeface="Gellix" pitchFamily="2" charset="77"/>
              </a:rPr>
              <a:t> </a:t>
            </a:r>
            <a:r>
              <a:rPr lang="en-US" sz="1400">
                <a:solidFill>
                  <a:srgbClr val="000045"/>
                </a:solidFill>
                <a:latin typeface="Gellix" pitchFamily="2" charset="77"/>
                <a:ea typeface="Calibri" pitchFamily="34" charset="-122"/>
                <a:cs typeface="Gellix" pitchFamily="2" charset="77"/>
              </a:rPr>
              <a:t>by AI in some way</a:t>
            </a:r>
            <a:endParaRPr lang="en-US" sz="1400">
              <a:solidFill>
                <a:srgbClr val="000045"/>
              </a:solidFill>
              <a:latin typeface="Gellix" pitchFamily="2" charset="77"/>
              <a:cs typeface="Gellix" pitchFamily="2" charset="77"/>
            </a:endParaRPr>
          </a:p>
        </p:txBody>
      </p:sp>
      <p:sp>
        <p:nvSpPr>
          <p:cNvPr id="21" name="Text 9">
            <a:extLst>
              <a:ext uri="{FF2B5EF4-FFF2-40B4-BE49-F238E27FC236}">
                <a16:creationId xmlns:a16="http://schemas.microsoft.com/office/drawing/2014/main" id="{24978F98-2AF4-6454-9259-A0210D5D88A3}"/>
              </a:ext>
            </a:extLst>
          </p:cNvPr>
          <p:cNvSpPr/>
          <p:nvPr/>
        </p:nvSpPr>
        <p:spPr>
          <a:xfrm>
            <a:off x="2228353" y="1538730"/>
            <a:ext cx="2348620" cy="368862"/>
          </a:xfrm>
          <a:prstGeom prst="rect">
            <a:avLst/>
          </a:prstGeom>
          <a:noFill/>
          <a:ln/>
        </p:spPr>
        <p:txBody>
          <a:bodyPr wrap="square" rtlCol="0" anchor="ctr"/>
          <a:lstStyle/>
          <a:p>
            <a:pPr marL="0" indent="0" algn="ctr">
              <a:lnSpc>
                <a:spcPct val="120000"/>
              </a:lnSpc>
              <a:buNone/>
            </a:pPr>
            <a:r>
              <a:rPr lang="en-US" sz="1100">
                <a:solidFill>
                  <a:srgbClr val="888888"/>
                </a:solidFill>
                <a:latin typeface="Gellix" pitchFamily="2" charset="77"/>
                <a:ea typeface="Calibri" pitchFamily="34" charset="-122"/>
                <a:cs typeface="Gellix" pitchFamily="2" charset="77"/>
              </a:rPr>
              <a:t>vs. 90% forecast for 2032</a:t>
            </a:r>
            <a:endParaRPr lang="en-US" sz="1100">
              <a:latin typeface="Gellix" pitchFamily="2" charset="77"/>
              <a:cs typeface="Gellix" pitchFamily="2" charset="77"/>
            </a:endParaRPr>
          </a:p>
        </p:txBody>
      </p:sp>
      <p:sp>
        <p:nvSpPr>
          <p:cNvPr id="13" name="Text 6">
            <a:extLst>
              <a:ext uri="{FF2B5EF4-FFF2-40B4-BE49-F238E27FC236}">
                <a16:creationId xmlns:a16="http://schemas.microsoft.com/office/drawing/2014/main" id="{17EF27A6-0EFF-A7E0-E6B0-2060EFD930FA}"/>
              </a:ext>
            </a:extLst>
          </p:cNvPr>
          <p:cNvSpPr/>
          <p:nvPr/>
        </p:nvSpPr>
        <p:spPr>
          <a:xfrm>
            <a:off x="1075389" y="2382703"/>
            <a:ext cx="1537776" cy="516277"/>
          </a:xfrm>
          <a:prstGeom prst="rect">
            <a:avLst/>
          </a:prstGeom>
          <a:noFill/>
          <a:ln>
            <a:noFill/>
          </a:ln>
        </p:spPr>
        <p:txBody>
          <a:bodyPr wrap="square" rtlCol="0" anchor="ctr"/>
          <a:lstStyle/>
          <a:p>
            <a:pPr marL="0" indent="0">
              <a:buNone/>
            </a:pPr>
            <a:r>
              <a:rPr lang="en-US" sz="4800">
                <a:solidFill>
                  <a:srgbClr val="0171C1"/>
                </a:solidFill>
                <a:latin typeface="Gellix" pitchFamily="2" charset="77"/>
                <a:cs typeface="Gellix" pitchFamily="2" charset="77"/>
              </a:rPr>
              <a:t>30%</a:t>
            </a:r>
          </a:p>
        </p:txBody>
      </p:sp>
      <p:sp>
        <p:nvSpPr>
          <p:cNvPr id="14" name="Text 7">
            <a:extLst>
              <a:ext uri="{FF2B5EF4-FFF2-40B4-BE49-F238E27FC236}">
                <a16:creationId xmlns:a16="http://schemas.microsoft.com/office/drawing/2014/main" id="{87EAEB75-1070-480E-22DA-54948AE5AAC6}"/>
              </a:ext>
            </a:extLst>
          </p:cNvPr>
          <p:cNvSpPr/>
          <p:nvPr/>
        </p:nvSpPr>
        <p:spPr>
          <a:xfrm>
            <a:off x="2508690" y="2135675"/>
            <a:ext cx="3827992" cy="722720"/>
          </a:xfrm>
          <a:prstGeom prst="rect">
            <a:avLst/>
          </a:prstGeom>
          <a:noFill/>
          <a:ln/>
        </p:spPr>
        <p:txBody>
          <a:bodyPr wrap="square" rtlCol="0" anchor="ctr"/>
          <a:lstStyle/>
          <a:p>
            <a:pPr marL="0" indent="0">
              <a:lnSpc>
                <a:spcPct val="130000"/>
              </a:lnSpc>
              <a:buNone/>
            </a:pPr>
            <a:r>
              <a:rPr lang="en-US" sz="1400">
                <a:solidFill>
                  <a:srgbClr val="000045"/>
                </a:solidFill>
                <a:latin typeface="Gellix" pitchFamily="2" charset="77"/>
                <a:ea typeface="Calibri" pitchFamily="34" charset="-122"/>
                <a:cs typeface="Gellix" pitchFamily="2" charset="77"/>
              </a:rPr>
              <a:t>of jobs facing existential change</a:t>
            </a:r>
            <a:endParaRPr lang="en-US" sz="1400">
              <a:solidFill>
                <a:srgbClr val="000045"/>
              </a:solidFill>
              <a:latin typeface="Gellix" pitchFamily="2" charset="77"/>
              <a:cs typeface="Gellix" pitchFamily="2" charset="77"/>
            </a:endParaRPr>
          </a:p>
        </p:txBody>
      </p:sp>
      <p:sp>
        <p:nvSpPr>
          <p:cNvPr id="15" name="Text 9">
            <a:extLst>
              <a:ext uri="{FF2B5EF4-FFF2-40B4-BE49-F238E27FC236}">
                <a16:creationId xmlns:a16="http://schemas.microsoft.com/office/drawing/2014/main" id="{62538F93-B56B-4898-7F5B-6782279C72E4}"/>
              </a:ext>
            </a:extLst>
          </p:cNvPr>
          <p:cNvSpPr/>
          <p:nvPr/>
        </p:nvSpPr>
        <p:spPr>
          <a:xfrm>
            <a:off x="2189064" y="2628148"/>
            <a:ext cx="2348620" cy="368862"/>
          </a:xfrm>
          <a:prstGeom prst="rect">
            <a:avLst/>
          </a:prstGeom>
          <a:noFill/>
          <a:ln/>
        </p:spPr>
        <p:txBody>
          <a:bodyPr wrap="square" rtlCol="0" anchor="ctr"/>
          <a:lstStyle/>
          <a:p>
            <a:pPr marL="0" indent="0" algn="ctr">
              <a:lnSpc>
                <a:spcPct val="120000"/>
              </a:lnSpc>
              <a:buNone/>
            </a:pPr>
            <a:r>
              <a:rPr lang="en-US" sz="1050">
                <a:solidFill>
                  <a:srgbClr val="888888"/>
                </a:solidFill>
                <a:latin typeface="Gellix" pitchFamily="2" charset="77"/>
                <a:ea typeface="Calibri" pitchFamily="34" charset="-122"/>
                <a:cs typeface="Gellix" pitchFamily="2" charset="77"/>
              </a:rPr>
              <a:t>vs. 15% originally forecast</a:t>
            </a:r>
            <a:endParaRPr lang="en-US" sz="1050">
              <a:latin typeface="Gellix" pitchFamily="2" charset="77"/>
              <a:cs typeface="Gellix" pitchFamily="2" charset="77"/>
            </a:endParaRPr>
          </a:p>
        </p:txBody>
      </p:sp>
      <p:sp>
        <p:nvSpPr>
          <p:cNvPr id="22" name="Text 6">
            <a:extLst>
              <a:ext uri="{FF2B5EF4-FFF2-40B4-BE49-F238E27FC236}">
                <a16:creationId xmlns:a16="http://schemas.microsoft.com/office/drawing/2014/main" id="{A17ED325-998D-F25F-75AF-DA73A88F5946}"/>
              </a:ext>
            </a:extLst>
          </p:cNvPr>
          <p:cNvSpPr/>
          <p:nvPr/>
        </p:nvSpPr>
        <p:spPr>
          <a:xfrm>
            <a:off x="846789" y="3493571"/>
            <a:ext cx="1537776" cy="516277"/>
          </a:xfrm>
          <a:prstGeom prst="rect">
            <a:avLst/>
          </a:prstGeom>
          <a:noFill/>
          <a:ln>
            <a:noFill/>
          </a:ln>
        </p:spPr>
        <p:txBody>
          <a:bodyPr wrap="square" rtlCol="0" anchor="ctr"/>
          <a:lstStyle/>
          <a:p>
            <a:pPr marL="0" indent="0" algn="ctr">
              <a:buNone/>
            </a:pPr>
            <a:r>
              <a:rPr lang="en-US" sz="4800">
                <a:solidFill>
                  <a:srgbClr val="0171C1"/>
                </a:solidFill>
                <a:latin typeface="Gellix" pitchFamily="2" charset="77"/>
                <a:cs typeface="Gellix" pitchFamily="2" charset="77"/>
              </a:rPr>
              <a:t>+4x</a:t>
            </a:r>
          </a:p>
        </p:txBody>
      </p:sp>
      <p:sp>
        <p:nvSpPr>
          <p:cNvPr id="23" name="Text 7">
            <a:extLst>
              <a:ext uri="{FF2B5EF4-FFF2-40B4-BE49-F238E27FC236}">
                <a16:creationId xmlns:a16="http://schemas.microsoft.com/office/drawing/2014/main" id="{4D36FC0D-82FB-D9E6-7860-0D9F844BBC6E}"/>
              </a:ext>
            </a:extLst>
          </p:cNvPr>
          <p:cNvSpPr/>
          <p:nvPr/>
        </p:nvSpPr>
        <p:spPr>
          <a:xfrm>
            <a:off x="2508690" y="3246543"/>
            <a:ext cx="3827992" cy="722720"/>
          </a:xfrm>
          <a:prstGeom prst="rect">
            <a:avLst/>
          </a:prstGeom>
          <a:noFill/>
          <a:ln/>
        </p:spPr>
        <p:txBody>
          <a:bodyPr wrap="square" rtlCol="0" anchor="ctr"/>
          <a:lstStyle/>
          <a:p>
            <a:pPr marL="0" indent="0">
              <a:lnSpc>
                <a:spcPct val="130000"/>
              </a:lnSpc>
              <a:buNone/>
            </a:pPr>
            <a:r>
              <a:rPr lang="en-US" sz="1400">
                <a:solidFill>
                  <a:srgbClr val="000045"/>
                </a:solidFill>
                <a:latin typeface="Gellix" pitchFamily="2" charset="77"/>
                <a:cs typeface="Gellix" pitchFamily="2" charset="77"/>
              </a:rPr>
              <a:t>Faster annual exposure growth rate</a:t>
            </a:r>
          </a:p>
        </p:txBody>
      </p:sp>
      <p:sp>
        <p:nvSpPr>
          <p:cNvPr id="24" name="Text 9">
            <a:extLst>
              <a:ext uri="{FF2B5EF4-FFF2-40B4-BE49-F238E27FC236}">
                <a16:creationId xmlns:a16="http://schemas.microsoft.com/office/drawing/2014/main" id="{A6EF2290-7B4D-2B7A-C95F-3455DD61AD4D}"/>
              </a:ext>
            </a:extLst>
          </p:cNvPr>
          <p:cNvSpPr/>
          <p:nvPr/>
        </p:nvSpPr>
        <p:spPr>
          <a:xfrm>
            <a:off x="2146201" y="3753303"/>
            <a:ext cx="2348620" cy="368862"/>
          </a:xfrm>
          <a:prstGeom prst="rect">
            <a:avLst/>
          </a:prstGeom>
          <a:noFill/>
          <a:ln/>
        </p:spPr>
        <p:txBody>
          <a:bodyPr wrap="square" rtlCol="0" anchor="ctr"/>
          <a:lstStyle/>
          <a:p>
            <a:pPr marL="0" indent="0" algn="ctr">
              <a:lnSpc>
                <a:spcPct val="120000"/>
              </a:lnSpc>
              <a:buNone/>
            </a:pPr>
            <a:r>
              <a:rPr lang="en-US" sz="1050">
                <a:solidFill>
                  <a:srgbClr val="888888"/>
                </a:solidFill>
                <a:latin typeface="Gellix" pitchFamily="2" charset="77"/>
                <a:cs typeface="Gellix" pitchFamily="2" charset="77"/>
              </a:rPr>
              <a:t>From 2% annually to 9%</a:t>
            </a:r>
            <a:endParaRPr lang="en-US" sz="1050">
              <a:latin typeface="Gellix" pitchFamily="2" charset="77"/>
              <a:cs typeface="Gellix" pitchFamily="2" charset="77"/>
            </a:endParaRPr>
          </a:p>
        </p:txBody>
      </p:sp>
      <p:sp>
        <p:nvSpPr>
          <p:cNvPr id="45" name="Text 6">
            <a:extLst>
              <a:ext uri="{FF2B5EF4-FFF2-40B4-BE49-F238E27FC236}">
                <a16:creationId xmlns:a16="http://schemas.microsoft.com/office/drawing/2014/main" id="{6D617A60-CB76-01DD-4EF3-FFC9DC0B158E}"/>
              </a:ext>
            </a:extLst>
          </p:cNvPr>
          <p:cNvSpPr/>
          <p:nvPr/>
        </p:nvSpPr>
        <p:spPr>
          <a:xfrm>
            <a:off x="756741" y="4603520"/>
            <a:ext cx="1843172" cy="516277"/>
          </a:xfrm>
          <a:prstGeom prst="rect">
            <a:avLst/>
          </a:prstGeom>
          <a:noFill/>
          <a:ln>
            <a:noFill/>
          </a:ln>
        </p:spPr>
        <p:txBody>
          <a:bodyPr wrap="square" rtlCol="0" anchor="ctr"/>
          <a:lstStyle/>
          <a:p>
            <a:pPr marL="0" indent="0">
              <a:buNone/>
            </a:pPr>
            <a:r>
              <a:rPr lang="en-US" sz="4800">
                <a:solidFill>
                  <a:srgbClr val="0171C1"/>
                </a:solidFill>
                <a:latin typeface="Gellix" pitchFamily="2" charset="77"/>
                <a:cs typeface="Gellix" pitchFamily="2" charset="77"/>
              </a:rPr>
              <a:t>$4.5T</a:t>
            </a:r>
          </a:p>
        </p:txBody>
      </p:sp>
      <p:sp>
        <p:nvSpPr>
          <p:cNvPr id="54" name="Text 7">
            <a:extLst>
              <a:ext uri="{FF2B5EF4-FFF2-40B4-BE49-F238E27FC236}">
                <a16:creationId xmlns:a16="http://schemas.microsoft.com/office/drawing/2014/main" id="{9A894747-0412-85BA-067F-A3563E7A25A5}"/>
              </a:ext>
            </a:extLst>
          </p:cNvPr>
          <p:cNvSpPr/>
          <p:nvPr/>
        </p:nvSpPr>
        <p:spPr>
          <a:xfrm>
            <a:off x="2495438" y="4356492"/>
            <a:ext cx="3827992" cy="722720"/>
          </a:xfrm>
          <a:prstGeom prst="rect">
            <a:avLst/>
          </a:prstGeom>
          <a:noFill/>
          <a:ln/>
        </p:spPr>
        <p:txBody>
          <a:bodyPr wrap="square" rtlCol="0" anchor="ctr"/>
          <a:lstStyle/>
          <a:p>
            <a:pPr marL="0" indent="0">
              <a:lnSpc>
                <a:spcPct val="130000"/>
              </a:lnSpc>
              <a:buNone/>
            </a:pPr>
            <a:r>
              <a:rPr lang="en-US" sz="1400">
                <a:solidFill>
                  <a:srgbClr val="000045"/>
                </a:solidFill>
                <a:latin typeface="Gellix" pitchFamily="2" charset="77"/>
                <a:cs typeface="Gellix" pitchFamily="2" charset="77"/>
              </a:rPr>
              <a:t>US labor value exposed to AI shift</a:t>
            </a:r>
          </a:p>
        </p:txBody>
      </p:sp>
      <p:sp>
        <p:nvSpPr>
          <p:cNvPr id="55" name="Text 9">
            <a:extLst>
              <a:ext uri="{FF2B5EF4-FFF2-40B4-BE49-F238E27FC236}">
                <a16:creationId xmlns:a16="http://schemas.microsoft.com/office/drawing/2014/main" id="{97361B79-EAC5-2853-C715-1F8E742F7C56}"/>
              </a:ext>
            </a:extLst>
          </p:cNvPr>
          <p:cNvSpPr/>
          <p:nvPr/>
        </p:nvSpPr>
        <p:spPr>
          <a:xfrm>
            <a:off x="2509298" y="4848965"/>
            <a:ext cx="2348620" cy="368862"/>
          </a:xfrm>
          <a:prstGeom prst="rect">
            <a:avLst/>
          </a:prstGeom>
          <a:noFill/>
          <a:ln/>
        </p:spPr>
        <p:txBody>
          <a:bodyPr wrap="square" rtlCol="0" anchor="ctr"/>
          <a:lstStyle/>
          <a:p>
            <a:pPr marL="0" indent="0">
              <a:lnSpc>
                <a:spcPct val="120000"/>
              </a:lnSpc>
              <a:buNone/>
            </a:pPr>
            <a:r>
              <a:rPr lang="en-US" sz="1050">
                <a:solidFill>
                  <a:srgbClr val="888888"/>
                </a:solidFill>
                <a:latin typeface="Gellix" pitchFamily="2" charset="77"/>
                <a:cs typeface="Gellix" pitchFamily="2" charset="77"/>
              </a:rPr>
              <a:t>Bureau of Labor Statistics</a:t>
            </a:r>
            <a:endParaRPr lang="en-US" sz="1050">
              <a:latin typeface="Gellix" pitchFamily="2" charset="77"/>
              <a:cs typeface="Gellix" pitchFamily="2" charset="77"/>
            </a:endParaRPr>
          </a:p>
        </p:txBody>
      </p:sp>
      <p:sp>
        <p:nvSpPr>
          <p:cNvPr id="56" name="Shape 4">
            <a:extLst>
              <a:ext uri="{FF2B5EF4-FFF2-40B4-BE49-F238E27FC236}">
                <a16:creationId xmlns:a16="http://schemas.microsoft.com/office/drawing/2014/main" id="{67CE7B64-D520-EDD8-F770-9504345FBF64}"/>
              </a:ext>
            </a:extLst>
          </p:cNvPr>
          <p:cNvSpPr/>
          <p:nvPr/>
        </p:nvSpPr>
        <p:spPr>
          <a:xfrm>
            <a:off x="6400800" y="1103801"/>
            <a:ext cx="5110843" cy="4300537"/>
          </a:xfrm>
          <a:prstGeom prst="rect">
            <a:avLst/>
          </a:prstGeom>
          <a:solidFill>
            <a:srgbClr val="E9F2FB"/>
          </a:solidFill>
          <a:ln w="9525">
            <a:solidFill>
              <a:srgbClr val="E9F2FB"/>
            </a:solidFill>
            <a:prstDash val="solid"/>
          </a:ln>
        </p:spPr>
        <p:txBody>
          <a:bodyPr/>
          <a:lstStyle/>
          <a:p>
            <a:endParaRPr lang="en-US"/>
          </a:p>
        </p:txBody>
      </p:sp>
      <p:sp>
        <p:nvSpPr>
          <p:cNvPr id="3" name="Title 2">
            <a:extLst>
              <a:ext uri="{FF2B5EF4-FFF2-40B4-BE49-F238E27FC236}">
                <a16:creationId xmlns:a16="http://schemas.microsoft.com/office/drawing/2014/main" id="{D5F1176E-15FD-4938-CDFD-F7EC01336737}"/>
              </a:ext>
            </a:extLst>
          </p:cNvPr>
          <p:cNvSpPr>
            <a:spLocks noGrp="1"/>
          </p:cNvSpPr>
          <p:nvPr>
            <p:ph type="title"/>
          </p:nvPr>
        </p:nvSpPr>
        <p:spPr>
          <a:xfrm>
            <a:off x="457200" y="457200"/>
            <a:ext cx="11277600" cy="332399"/>
          </a:xfrm>
        </p:spPr>
        <p:txBody>
          <a:bodyPr/>
          <a:lstStyle/>
          <a:p>
            <a:r>
              <a:rPr lang="en-US">
                <a:solidFill>
                  <a:srgbClr val="000045"/>
                </a:solidFill>
                <a:latin typeface="Arial" panose="020B0604020202020204" pitchFamily="34" charset="0"/>
                <a:cs typeface="Arial" panose="020B0604020202020204" pitchFamily="34" charset="0"/>
              </a:rPr>
              <a:t>$4.5 trillion in labor value is exposed to AI — six years ahead of schedule</a:t>
            </a:r>
            <a:endParaRPr lang="en-US">
              <a:latin typeface="Arial" panose="020B0604020202020204" pitchFamily="34" charset="0"/>
              <a:cs typeface="Arial" panose="020B0604020202020204" pitchFamily="34" charset="0"/>
            </a:endParaRPr>
          </a:p>
        </p:txBody>
      </p:sp>
      <p:sp>
        <p:nvSpPr>
          <p:cNvPr id="57" name="Slide Number Placeholder 4">
            <a:extLst>
              <a:ext uri="{FF2B5EF4-FFF2-40B4-BE49-F238E27FC236}">
                <a16:creationId xmlns:a16="http://schemas.microsoft.com/office/drawing/2014/main" id="{2236DE5A-BCD8-621D-1439-3D38433024B7}"/>
              </a:ext>
            </a:extLst>
          </p:cNvPr>
          <p:cNvSpPr>
            <a:spLocks noGrp="1"/>
          </p:cNvSpPr>
          <p:nvPr>
            <p:ph type="sldNum" sz="quarter" idx="12"/>
          </p:nvPr>
        </p:nvSpPr>
        <p:spPr/>
        <p:txBody>
          <a:bodyPr/>
          <a:lstStyle/>
          <a:p>
            <a:fld id="{11B95D35-DD53-0442-BAEB-773F9797755E}" type="slidenum">
              <a:rPr lang="en-US" sz="1000" smtClean="0">
                <a:solidFill>
                  <a:schemeClr val="bg1">
                    <a:lumMod val="65000"/>
                    <a:lumOff val="35000"/>
                  </a:schemeClr>
                </a:solidFill>
                <a:latin typeface="Gellix" pitchFamily="2" charset="77"/>
                <a:cs typeface="Gellix" pitchFamily="2" charset="77"/>
              </a:rPr>
              <a:t>2</a:t>
            </a:fld>
            <a:endParaRPr lang="en-US" sz="1000">
              <a:solidFill>
                <a:schemeClr val="bg1">
                  <a:lumMod val="65000"/>
                  <a:lumOff val="35000"/>
                </a:schemeClr>
              </a:solidFill>
              <a:latin typeface="Gellix" pitchFamily="2" charset="77"/>
              <a:cs typeface="Gellix" pitchFamily="2" charset="77"/>
            </a:endParaRPr>
          </a:p>
        </p:txBody>
      </p:sp>
      <p:sp>
        <p:nvSpPr>
          <p:cNvPr id="58" name="Text 5">
            <a:extLst>
              <a:ext uri="{FF2B5EF4-FFF2-40B4-BE49-F238E27FC236}">
                <a16:creationId xmlns:a16="http://schemas.microsoft.com/office/drawing/2014/main" id="{4B32B08A-CBAD-3EB6-023B-4F928E1B777B}"/>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59" name="Slide Number Placeholder 8">
            <a:extLst>
              <a:ext uri="{FF2B5EF4-FFF2-40B4-BE49-F238E27FC236}">
                <a16:creationId xmlns:a16="http://schemas.microsoft.com/office/drawing/2014/main" id="{03AA12A2-75D2-8AE9-ACEE-B620D7A5A41E}"/>
              </a:ext>
            </a:extLst>
          </p:cNvPr>
          <p:cNvSpPr txBox="1">
            <a:spLocks/>
          </p:cNvSpPr>
          <p:nvPr/>
        </p:nvSpPr>
        <p:spPr>
          <a:xfrm>
            <a:off x="428293" y="6424768"/>
            <a:ext cx="328448" cy="312464"/>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2</a:t>
            </a:fld>
            <a:endParaRPr lang="en-US" sz="1100">
              <a:solidFill>
                <a:schemeClr val="tx1">
                  <a:lumMod val="50000"/>
                  <a:lumOff val="50000"/>
                </a:schemeClr>
              </a:solidFill>
              <a:latin typeface="Gellix Light" pitchFamily="2" charset="77"/>
              <a:cs typeface="Gellix Light" pitchFamily="2" charset="77"/>
            </a:endParaRPr>
          </a:p>
        </p:txBody>
      </p:sp>
      <p:sp>
        <p:nvSpPr>
          <p:cNvPr id="61" name="TextBox 60">
            <a:extLst>
              <a:ext uri="{FF2B5EF4-FFF2-40B4-BE49-F238E27FC236}">
                <a16:creationId xmlns:a16="http://schemas.microsoft.com/office/drawing/2014/main" id="{E512DBB2-DCB8-DBF6-6F46-AF71B3AE45C9}"/>
              </a:ext>
            </a:extLst>
          </p:cNvPr>
          <p:cNvSpPr txBox="1"/>
          <p:nvPr/>
        </p:nvSpPr>
        <p:spPr>
          <a:xfrm>
            <a:off x="7071218" y="2463364"/>
            <a:ext cx="3748717" cy="1477328"/>
          </a:xfrm>
          <a:prstGeom prst="rect">
            <a:avLst/>
          </a:prstGeom>
          <a:noFill/>
        </p:spPr>
        <p:txBody>
          <a:bodyPr wrap="square">
            <a:spAutoFit/>
          </a:bodyPr>
          <a:lstStyle/>
          <a:p>
            <a:pPr marL="0" indent="0">
              <a:buNone/>
            </a:pPr>
            <a:r>
              <a:rPr lang="en-US">
                <a:solidFill>
                  <a:srgbClr val="0171C1"/>
                </a:solidFill>
                <a:latin typeface="Gellix" pitchFamily="2" charset="77"/>
                <a:ea typeface="Calibri" pitchFamily="34" charset="-122"/>
                <a:cs typeface="Gellix" pitchFamily="2" charset="77"/>
              </a:rPr>
              <a:t>"The pace of change in work is now inextricably tied to the acceleration of AI itself.  What we forecast would take a decade has arrived in three years."</a:t>
            </a:r>
            <a:endParaRPr lang="en-US">
              <a:solidFill>
                <a:srgbClr val="0171C1"/>
              </a:solidFill>
              <a:latin typeface="Gellix" pitchFamily="2" charset="77"/>
              <a:cs typeface="Gellix" pitchFamily="2" charset="77"/>
            </a:endParaRPr>
          </a:p>
        </p:txBody>
      </p:sp>
      <p:sp>
        <p:nvSpPr>
          <p:cNvPr id="2" name="Text 3">
            <a:extLst>
              <a:ext uri="{FF2B5EF4-FFF2-40B4-BE49-F238E27FC236}">
                <a16:creationId xmlns:a16="http://schemas.microsoft.com/office/drawing/2014/main" id="{921EE308-01AD-4B9F-F221-B6BEEC3FE2DE}"/>
              </a:ext>
            </a:extLst>
          </p:cNvPr>
          <p:cNvSpPr/>
          <p:nvPr/>
        </p:nvSpPr>
        <p:spPr>
          <a:xfrm>
            <a:off x="546233" y="5745124"/>
            <a:ext cx="8412480" cy="228600"/>
          </a:xfrm>
          <a:prstGeom prst="rect">
            <a:avLst/>
          </a:prstGeom>
          <a:noFill/>
          <a:ln/>
        </p:spPr>
        <p:txBody>
          <a:bodyPr wrap="square" rtlCol="0" anchor="ctr"/>
          <a:lstStyle/>
          <a:p>
            <a:pPr marL="0" indent="0">
              <a:buNone/>
            </a:pPr>
            <a:r>
              <a:rPr lang="en-US" sz="1000" i="1">
                <a:solidFill>
                  <a:srgbClr val="0171C1"/>
                </a:solidFill>
                <a:latin typeface="Calibri" pitchFamily="34" charset="0"/>
                <a:ea typeface="Calibri" pitchFamily="34" charset="-122"/>
                <a:cs typeface="Calibri" pitchFamily="34" charset="-120"/>
              </a:rPr>
              <a:t>Cognizant Research · New Work New World 2026 · Reassessment of 18,000 tasks across ~1,000 professions</a:t>
            </a:r>
            <a:endParaRPr lang="en-US" sz="1000">
              <a:solidFill>
                <a:srgbClr val="0171C1"/>
              </a:solidFill>
            </a:endParaRPr>
          </a:p>
        </p:txBody>
      </p:sp>
    </p:spTree>
    <p:extLst>
      <p:ext uri="{BB962C8B-B14F-4D97-AF65-F5344CB8AC3E}">
        <p14:creationId xmlns:p14="http://schemas.microsoft.com/office/powerpoint/2010/main" val="45505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4">
            <a:extLst>
              <a:ext uri="{FF2B5EF4-FFF2-40B4-BE49-F238E27FC236}">
                <a16:creationId xmlns:a16="http://schemas.microsoft.com/office/drawing/2014/main" id="{1FA4056C-CC53-831D-F5D6-1667235A5797}"/>
              </a:ext>
            </a:extLst>
          </p:cNvPr>
          <p:cNvSpPr/>
          <p:nvPr/>
        </p:nvSpPr>
        <p:spPr>
          <a:xfrm>
            <a:off x="445770" y="1769477"/>
            <a:ext cx="4245187" cy="2993909"/>
          </a:xfrm>
          <a:prstGeom prst="rect">
            <a:avLst/>
          </a:prstGeom>
          <a:noFill/>
          <a:ln/>
        </p:spPr>
        <p:txBody>
          <a:bodyPr wrap="square" rtlCol="0" anchor="ctr"/>
          <a:lstStyle/>
          <a:p>
            <a:pPr marL="0" indent="0">
              <a:buNone/>
            </a:pPr>
            <a:endParaRPr lang="en-US" sz="3200" b="1">
              <a:solidFill>
                <a:srgbClr val="000045"/>
              </a:solidFill>
              <a:latin typeface="Gellix" pitchFamily="2" charset="77"/>
              <a:cs typeface="Gellix" pitchFamily="2" charset="77"/>
            </a:endParaRPr>
          </a:p>
        </p:txBody>
      </p:sp>
      <p:sp>
        <p:nvSpPr>
          <p:cNvPr id="17" name="Shape">
            <a:extLst>
              <a:ext uri="{FF2B5EF4-FFF2-40B4-BE49-F238E27FC236}">
                <a16:creationId xmlns:a16="http://schemas.microsoft.com/office/drawing/2014/main" id="{2C73D602-8ABE-C846-C42D-952EA7162FD8}"/>
              </a:ext>
            </a:extLst>
          </p:cNvPr>
          <p:cNvSpPr/>
          <p:nvPr/>
        </p:nvSpPr>
        <p:spPr>
          <a:xfrm>
            <a:off x="7683109" y="2069507"/>
            <a:ext cx="1417025" cy="1942479"/>
          </a:xfrm>
          <a:custGeom>
            <a:avLst/>
            <a:gdLst/>
            <a:ahLst/>
            <a:cxnLst>
              <a:cxn ang="0">
                <a:pos x="wd2" y="hd2"/>
              </a:cxn>
              <a:cxn ang="5400000">
                <a:pos x="wd2" y="hd2"/>
              </a:cxn>
              <a:cxn ang="10800000">
                <a:pos x="wd2" y="hd2"/>
              </a:cxn>
              <a:cxn ang="16200000">
                <a:pos x="wd2" y="hd2"/>
              </a:cxn>
            </a:cxnLst>
            <a:rect l="0" t="0" r="r" b="b"/>
            <a:pathLst>
              <a:path w="21600" h="21600" extrusionOk="0">
                <a:moveTo>
                  <a:pt x="0" y="21587"/>
                </a:moveTo>
                <a:lnTo>
                  <a:pt x="8913" y="21600"/>
                </a:lnTo>
                <a:lnTo>
                  <a:pt x="21600" y="5695"/>
                </a:lnTo>
                <a:lnTo>
                  <a:pt x="17063" y="0"/>
                </a:lnTo>
                <a:lnTo>
                  <a:pt x="0" y="21587"/>
                </a:lnTo>
                <a:close/>
              </a:path>
            </a:pathLst>
          </a:custGeom>
          <a:solidFill>
            <a:srgbClr val="86AEDD"/>
          </a:solidFill>
          <a:ln w="3175">
            <a:miter lim="400000"/>
          </a:ln>
        </p:spPr>
        <p:txBody>
          <a:bodyPr lIns="28656" tIns="28656" rIns="28656" bIns="28656" anchor="ctr"/>
          <a:lstStyle/>
          <a:p>
            <a:pPr algn="ctr" defTabSz="552402" hangingPunct="0">
              <a:spcBef>
                <a:spcPts val="3850"/>
              </a:spcBef>
              <a:defRPr sz="4800"/>
            </a:pPr>
            <a:endParaRPr sz="2400" kern="0">
              <a:solidFill>
                <a:srgbClr val="FFFFFF"/>
              </a:solidFill>
              <a:latin typeface="Gellix Regular"/>
              <a:sym typeface="Gellix Regular"/>
            </a:endParaRPr>
          </a:p>
        </p:txBody>
      </p:sp>
      <p:sp>
        <p:nvSpPr>
          <p:cNvPr id="18" name="Shape">
            <a:extLst>
              <a:ext uri="{FF2B5EF4-FFF2-40B4-BE49-F238E27FC236}">
                <a16:creationId xmlns:a16="http://schemas.microsoft.com/office/drawing/2014/main" id="{F99A157A-82A6-4FC3-EC2C-F7F483AB3BBB}"/>
              </a:ext>
            </a:extLst>
          </p:cNvPr>
          <p:cNvSpPr/>
          <p:nvPr/>
        </p:nvSpPr>
        <p:spPr>
          <a:xfrm>
            <a:off x="7275846" y="4137216"/>
            <a:ext cx="2231553" cy="508536"/>
          </a:xfrm>
          <a:custGeom>
            <a:avLst/>
            <a:gdLst/>
            <a:ahLst/>
            <a:cxnLst>
              <a:cxn ang="0">
                <a:pos x="wd2" y="hd2"/>
              </a:cxn>
              <a:cxn ang="5400000">
                <a:pos x="wd2" y="hd2"/>
              </a:cxn>
              <a:cxn ang="10800000">
                <a:pos x="wd2" y="hd2"/>
              </a:cxn>
              <a:cxn ang="16200000">
                <a:pos x="wd2" y="hd2"/>
              </a:cxn>
            </a:cxnLst>
            <a:rect l="0" t="0" r="r" b="b"/>
            <a:pathLst>
              <a:path w="21600" h="21600" extrusionOk="0">
                <a:moveTo>
                  <a:pt x="2864" y="0"/>
                </a:moveTo>
                <a:lnTo>
                  <a:pt x="0" y="21600"/>
                </a:lnTo>
                <a:lnTo>
                  <a:pt x="21600" y="21497"/>
                </a:lnTo>
                <a:lnTo>
                  <a:pt x="18852" y="83"/>
                </a:lnTo>
                <a:lnTo>
                  <a:pt x="2864" y="0"/>
                </a:lnTo>
                <a:close/>
              </a:path>
            </a:pathLst>
          </a:custGeom>
          <a:solidFill>
            <a:schemeClr val="accent2"/>
          </a:solidFill>
          <a:ln w="3175">
            <a:miter lim="400000"/>
          </a:ln>
        </p:spPr>
        <p:txBody>
          <a:bodyPr lIns="28656" tIns="28656" rIns="28656" bIns="28656" anchor="ctr"/>
          <a:lstStyle/>
          <a:p>
            <a:pPr algn="ctr" defTabSz="552402" hangingPunct="0">
              <a:spcBef>
                <a:spcPts val="3850"/>
              </a:spcBef>
              <a:defRPr sz="4800">
                <a:solidFill>
                  <a:srgbClr val="2D2F8D">
                    <a:satOff val="-21983"/>
                    <a:lumOff val="31764"/>
                  </a:srgbClr>
                </a:solidFill>
              </a:defRPr>
            </a:pPr>
            <a:endParaRPr sz="2400" kern="0">
              <a:solidFill>
                <a:srgbClr val="2D2F8D">
                  <a:satOff val="-21983"/>
                  <a:lumOff val="31764"/>
                </a:srgbClr>
              </a:solidFill>
              <a:latin typeface="Gellix Regular"/>
              <a:sym typeface="Gellix Regular"/>
            </a:endParaRPr>
          </a:p>
        </p:txBody>
      </p:sp>
      <p:sp>
        <p:nvSpPr>
          <p:cNvPr id="19" name="Shape">
            <a:extLst>
              <a:ext uri="{FF2B5EF4-FFF2-40B4-BE49-F238E27FC236}">
                <a16:creationId xmlns:a16="http://schemas.microsoft.com/office/drawing/2014/main" id="{6012F54C-6FE1-62FE-82F0-EF85EC179EA6}"/>
              </a:ext>
            </a:extLst>
          </p:cNvPr>
          <p:cNvSpPr/>
          <p:nvPr/>
        </p:nvSpPr>
        <p:spPr>
          <a:xfrm>
            <a:off x="8886069" y="2730244"/>
            <a:ext cx="1406584" cy="1916225"/>
          </a:xfrm>
          <a:custGeom>
            <a:avLst/>
            <a:gdLst/>
            <a:ahLst/>
            <a:cxnLst>
              <a:cxn ang="0">
                <a:pos x="wd2" y="hd2"/>
              </a:cxn>
              <a:cxn ang="5400000">
                <a:pos x="wd2" y="hd2"/>
              </a:cxn>
              <a:cxn ang="10800000">
                <a:pos x="wd2" y="hd2"/>
              </a:cxn>
              <a:cxn ang="16200000">
                <a:pos x="wd2" y="hd2"/>
              </a:cxn>
            </a:cxnLst>
            <a:rect l="0" t="0" r="r" b="b"/>
            <a:pathLst>
              <a:path w="21600" h="21600" extrusionOk="0">
                <a:moveTo>
                  <a:pt x="12489" y="21600"/>
                </a:moveTo>
                <a:lnTo>
                  <a:pt x="21600" y="21600"/>
                </a:lnTo>
                <a:lnTo>
                  <a:pt x="4589" y="0"/>
                </a:lnTo>
                <a:lnTo>
                  <a:pt x="0" y="5705"/>
                </a:lnTo>
                <a:lnTo>
                  <a:pt x="12489" y="21600"/>
                </a:lnTo>
                <a:close/>
              </a:path>
            </a:pathLst>
          </a:custGeom>
          <a:solidFill>
            <a:schemeClr val="accent2"/>
          </a:solidFill>
          <a:ln w="3175">
            <a:miter lim="400000"/>
          </a:ln>
        </p:spPr>
        <p:txBody>
          <a:bodyPr lIns="28656" tIns="28656" rIns="28656" bIns="28656" anchor="ctr"/>
          <a:lstStyle/>
          <a:p>
            <a:pPr algn="ctr" defTabSz="552402" hangingPunct="0">
              <a:spcBef>
                <a:spcPts val="3850"/>
              </a:spcBef>
              <a:defRPr sz="4800">
                <a:solidFill>
                  <a:srgbClr val="2D2F8D">
                    <a:satOff val="-21983"/>
                    <a:lumOff val="31764"/>
                  </a:srgbClr>
                </a:solidFill>
              </a:defRPr>
            </a:pPr>
            <a:endParaRPr sz="2400" kern="0">
              <a:solidFill>
                <a:srgbClr val="2D2F8D">
                  <a:satOff val="-21983"/>
                  <a:lumOff val="31764"/>
                </a:srgbClr>
              </a:solidFill>
              <a:latin typeface="Gellix Regular"/>
              <a:sym typeface="Gellix Regular"/>
            </a:endParaRPr>
          </a:p>
        </p:txBody>
      </p:sp>
      <p:sp>
        <p:nvSpPr>
          <p:cNvPr id="20" name="Enabling Hyperproductivity">
            <a:extLst>
              <a:ext uri="{FF2B5EF4-FFF2-40B4-BE49-F238E27FC236}">
                <a16:creationId xmlns:a16="http://schemas.microsoft.com/office/drawing/2014/main" id="{F283F971-890B-8F0D-48DF-E08DD702E030}"/>
              </a:ext>
            </a:extLst>
          </p:cNvPr>
          <p:cNvSpPr txBox="1"/>
          <p:nvPr/>
        </p:nvSpPr>
        <p:spPr>
          <a:xfrm>
            <a:off x="5706926" y="2391075"/>
            <a:ext cx="2547029" cy="480416"/>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15965" tIns="115965" rIns="115965" bIns="115965" anchor="ctr">
            <a:spAutoFit/>
          </a:bodyPr>
          <a:lstStyle>
            <a:lvl1pPr algn="r" defTabSz="1861530">
              <a:lnSpc>
                <a:spcPct val="100000"/>
              </a:lnSpc>
              <a:spcBef>
                <a:spcPts val="0"/>
              </a:spcBef>
              <a:defRPr sz="3200"/>
            </a:lvl1pPr>
          </a:lstStyle>
          <a:p>
            <a:pPr defTabSz="930765" hangingPunct="0"/>
            <a:r>
              <a:rPr sz="1600" kern="0">
                <a:solidFill>
                  <a:srgbClr val="000045"/>
                </a:solidFill>
                <a:latin typeface="Gellix Regular"/>
                <a:sym typeface="Gellix Regular"/>
              </a:rPr>
              <a:t>Enabling </a:t>
            </a:r>
            <a:r>
              <a:rPr lang="en-US" sz="1600" kern="0">
                <a:solidFill>
                  <a:srgbClr val="000045"/>
                </a:solidFill>
                <a:latin typeface="Gellix Regular"/>
                <a:sym typeface="Gellix Regular"/>
              </a:rPr>
              <a:t>H</a:t>
            </a:r>
            <a:r>
              <a:rPr sz="1600" kern="0">
                <a:solidFill>
                  <a:srgbClr val="000045"/>
                </a:solidFill>
                <a:latin typeface="Gellix Regular"/>
                <a:sym typeface="Gellix Regular"/>
              </a:rPr>
              <a:t>yperproductivity</a:t>
            </a:r>
          </a:p>
        </p:txBody>
      </p:sp>
      <p:sp>
        <p:nvSpPr>
          <p:cNvPr id="21" name="Industrializing AI">
            <a:extLst>
              <a:ext uri="{FF2B5EF4-FFF2-40B4-BE49-F238E27FC236}">
                <a16:creationId xmlns:a16="http://schemas.microsoft.com/office/drawing/2014/main" id="{F622BB87-964D-6E5F-3C6F-6A71B6F87A5C}"/>
              </a:ext>
            </a:extLst>
          </p:cNvPr>
          <p:cNvSpPr txBox="1"/>
          <p:nvPr/>
        </p:nvSpPr>
        <p:spPr>
          <a:xfrm>
            <a:off x="9732248" y="2800538"/>
            <a:ext cx="1850554" cy="480416"/>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15965" tIns="115965" rIns="115965" bIns="115965" anchor="ctr">
            <a:spAutoFit/>
          </a:bodyPr>
          <a:lstStyle>
            <a:lvl1pPr defTabSz="1861530">
              <a:lnSpc>
                <a:spcPct val="100000"/>
              </a:lnSpc>
              <a:spcBef>
                <a:spcPts val="0"/>
              </a:spcBef>
              <a:defRPr sz="3200"/>
            </a:lvl1pPr>
          </a:lstStyle>
          <a:p>
            <a:pPr defTabSz="930765" hangingPunct="0"/>
            <a:r>
              <a:rPr sz="1600" kern="0">
                <a:solidFill>
                  <a:srgbClr val="000045"/>
                </a:solidFill>
                <a:latin typeface="Gellix Regular"/>
                <a:sym typeface="Gellix Regular"/>
              </a:rPr>
              <a:t>Industrializing AI</a:t>
            </a:r>
          </a:p>
        </p:txBody>
      </p:sp>
      <p:sp>
        <p:nvSpPr>
          <p:cNvPr id="22" name="Agentifying  the enterprise">
            <a:extLst>
              <a:ext uri="{FF2B5EF4-FFF2-40B4-BE49-F238E27FC236}">
                <a16:creationId xmlns:a16="http://schemas.microsoft.com/office/drawing/2014/main" id="{4F88C43C-0B19-6C34-74B8-7174E7EE8551}"/>
              </a:ext>
            </a:extLst>
          </p:cNvPr>
          <p:cNvSpPr txBox="1"/>
          <p:nvPr/>
        </p:nvSpPr>
        <p:spPr>
          <a:xfrm>
            <a:off x="7247079" y="4867452"/>
            <a:ext cx="2901440" cy="726637"/>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15965" tIns="115965" rIns="115965" bIns="115965" anchor="ctr">
            <a:spAutoFit/>
          </a:bodyPr>
          <a:lstStyle/>
          <a:p>
            <a:pPr algn="ctr" defTabSz="930765" hangingPunct="0">
              <a:defRPr sz="3200"/>
            </a:pPr>
            <a:r>
              <a:rPr sz="1600" kern="0">
                <a:solidFill>
                  <a:srgbClr val="000045"/>
                </a:solidFill>
                <a:latin typeface="Gellix Regular"/>
                <a:sym typeface="Gellix Regular"/>
              </a:rPr>
              <a:t>Agentifying </a:t>
            </a:r>
            <a:br>
              <a:rPr sz="1600" kern="0">
                <a:solidFill>
                  <a:srgbClr val="000045"/>
                </a:solidFill>
                <a:latin typeface="Gellix Regular"/>
                <a:sym typeface="Gellix Regular"/>
              </a:rPr>
            </a:br>
            <a:r>
              <a:rPr sz="1600" kern="0">
                <a:solidFill>
                  <a:srgbClr val="000045"/>
                </a:solidFill>
                <a:latin typeface="Gellix Regular"/>
                <a:sym typeface="Gellix Regular"/>
              </a:rPr>
              <a:t>the </a:t>
            </a:r>
            <a:r>
              <a:rPr lang="en-US" sz="1600" kern="0">
                <a:solidFill>
                  <a:srgbClr val="000045"/>
                </a:solidFill>
                <a:latin typeface="Gellix Regular"/>
                <a:sym typeface="Gellix Regular"/>
              </a:rPr>
              <a:t>E</a:t>
            </a:r>
            <a:r>
              <a:rPr sz="1600" kern="0">
                <a:solidFill>
                  <a:srgbClr val="000045"/>
                </a:solidFill>
                <a:latin typeface="Gellix Regular"/>
                <a:sym typeface="Gellix Regular"/>
              </a:rPr>
              <a:t>nterprise</a:t>
            </a:r>
            <a:endParaRPr lang="en-US" sz="1600" kern="0">
              <a:solidFill>
                <a:srgbClr val="000045"/>
              </a:solidFill>
              <a:latin typeface="Gellix Regular"/>
              <a:sym typeface="Gellix Regular"/>
            </a:endParaRPr>
          </a:p>
        </p:txBody>
      </p:sp>
      <p:sp>
        <p:nvSpPr>
          <p:cNvPr id="24" name="Slide Number Placeholder 4">
            <a:extLst>
              <a:ext uri="{FF2B5EF4-FFF2-40B4-BE49-F238E27FC236}">
                <a16:creationId xmlns:a16="http://schemas.microsoft.com/office/drawing/2014/main" id="{475E14E6-99CD-ABC8-5667-2AFAA2BFD26E}"/>
              </a:ext>
            </a:extLst>
          </p:cNvPr>
          <p:cNvSpPr txBox="1">
            <a:spLocks/>
          </p:cNvSpPr>
          <p:nvPr/>
        </p:nvSpPr>
        <p:spPr>
          <a:xfrm>
            <a:off x="9056370" y="6374447"/>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1B95D35-DD53-0442-BAEB-773F9797755E}" type="slidenum">
              <a:rPr lang="en-US" sz="1000" smtClean="0">
                <a:solidFill>
                  <a:schemeClr val="bg1">
                    <a:lumMod val="65000"/>
                    <a:lumOff val="35000"/>
                  </a:schemeClr>
                </a:solidFill>
                <a:latin typeface="Gellix" pitchFamily="2" charset="77"/>
                <a:cs typeface="Gellix" pitchFamily="2" charset="77"/>
              </a:rPr>
              <a:pPr/>
              <a:t>3</a:t>
            </a:fld>
            <a:endParaRPr lang="en-US" sz="1000">
              <a:solidFill>
                <a:schemeClr val="bg1">
                  <a:lumMod val="65000"/>
                  <a:lumOff val="35000"/>
                </a:schemeClr>
              </a:solidFill>
              <a:latin typeface="Gellix" pitchFamily="2" charset="77"/>
              <a:cs typeface="Gellix" pitchFamily="2" charset="77"/>
            </a:endParaRPr>
          </a:p>
        </p:txBody>
      </p:sp>
      <p:sp>
        <p:nvSpPr>
          <p:cNvPr id="25" name="Text 5">
            <a:extLst>
              <a:ext uri="{FF2B5EF4-FFF2-40B4-BE49-F238E27FC236}">
                <a16:creationId xmlns:a16="http://schemas.microsoft.com/office/drawing/2014/main" id="{23785F2C-9DCC-6FEF-38FE-A39299CC5F45}"/>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26" name="Slide Number Placeholder 8">
            <a:extLst>
              <a:ext uri="{FF2B5EF4-FFF2-40B4-BE49-F238E27FC236}">
                <a16:creationId xmlns:a16="http://schemas.microsoft.com/office/drawing/2014/main" id="{1035B289-71D4-E10E-2655-1D1AB4B2FB07}"/>
              </a:ext>
            </a:extLst>
          </p:cNvPr>
          <p:cNvSpPr txBox="1">
            <a:spLocks/>
          </p:cNvSpPr>
          <p:nvPr/>
        </p:nvSpPr>
        <p:spPr>
          <a:xfrm>
            <a:off x="428293" y="6424768"/>
            <a:ext cx="328448" cy="312464"/>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3</a:t>
            </a:fld>
            <a:endParaRPr lang="en-US" sz="1100">
              <a:solidFill>
                <a:schemeClr val="tx1">
                  <a:lumMod val="50000"/>
                  <a:lumOff val="50000"/>
                </a:schemeClr>
              </a:solidFill>
              <a:latin typeface="Gellix Light" pitchFamily="2" charset="77"/>
              <a:cs typeface="Gellix Light" pitchFamily="2" charset="77"/>
            </a:endParaRPr>
          </a:p>
        </p:txBody>
      </p:sp>
      <p:pic>
        <p:nvPicPr>
          <p:cNvPr id="27" name="Picture 26" descr="A blue text on a black background&#10;&#10;Description automatically generated">
            <a:extLst>
              <a:ext uri="{FF2B5EF4-FFF2-40B4-BE49-F238E27FC236}">
                <a16:creationId xmlns:a16="http://schemas.microsoft.com/office/drawing/2014/main" id="{5A8EBDC5-03B9-EF0B-93FC-BABD48F4F686}"/>
              </a:ext>
            </a:extLst>
          </p:cNvPr>
          <p:cNvPicPr>
            <a:picLocks noChangeAspect="1"/>
          </p:cNvPicPr>
          <p:nvPr/>
        </p:nvPicPr>
        <p:blipFill>
          <a:blip r:embed="rId3"/>
          <a:stretch>
            <a:fillRect/>
          </a:stretch>
        </p:blipFill>
        <p:spPr>
          <a:xfrm>
            <a:off x="10725682" y="6495222"/>
            <a:ext cx="974900" cy="174670"/>
          </a:xfrm>
          <a:prstGeom prst="rect">
            <a:avLst/>
          </a:prstGeom>
        </p:spPr>
      </p:pic>
      <p:sp>
        <p:nvSpPr>
          <p:cNvPr id="30" name="Text 67">
            <a:extLst>
              <a:ext uri="{FF2B5EF4-FFF2-40B4-BE49-F238E27FC236}">
                <a16:creationId xmlns:a16="http://schemas.microsoft.com/office/drawing/2014/main" id="{61DC4735-130F-BE54-38A8-1FFE88CF4EBA}"/>
              </a:ext>
            </a:extLst>
          </p:cNvPr>
          <p:cNvSpPr/>
          <p:nvPr/>
        </p:nvSpPr>
        <p:spPr>
          <a:xfrm>
            <a:off x="5829385" y="2799530"/>
            <a:ext cx="1853723" cy="390144"/>
          </a:xfrm>
          <a:prstGeom prst="rect">
            <a:avLst/>
          </a:prstGeom>
          <a:noFill/>
          <a:ln/>
        </p:spPr>
        <p:txBody>
          <a:bodyPr wrap="square" lIns="0" tIns="0" rIns="0" bIns="0" rtlCol="0" anchor="t"/>
          <a:lstStyle/>
          <a:p>
            <a:pPr defTabSz="1219170">
              <a:defRPr/>
            </a:pPr>
            <a:r>
              <a:rPr lang="en-US" sz="867">
                <a:solidFill>
                  <a:schemeClr val="bg2">
                    <a:lumMod val="50000"/>
                  </a:schemeClr>
                </a:solidFill>
                <a:latin typeface="Calibri" panose="020F0502020204030204"/>
              </a:rPr>
              <a:t>Earliest use case for AI, fueling the SDLC</a:t>
            </a:r>
          </a:p>
          <a:p>
            <a:pPr defTabSz="1219170">
              <a:defRPr/>
            </a:pPr>
            <a:r>
              <a:rPr lang="en-US" sz="867">
                <a:solidFill>
                  <a:schemeClr val="bg2">
                    <a:lumMod val="50000"/>
                  </a:schemeClr>
                </a:solidFill>
                <a:latin typeface="Calibri" panose="020F0502020204030204"/>
              </a:rPr>
              <a:t>Current shift: from synchronous to asynchronous agentic software development</a:t>
            </a:r>
          </a:p>
        </p:txBody>
      </p:sp>
      <p:sp>
        <p:nvSpPr>
          <p:cNvPr id="31" name="Text 67">
            <a:extLst>
              <a:ext uri="{FF2B5EF4-FFF2-40B4-BE49-F238E27FC236}">
                <a16:creationId xmlns:a16="http://schemas.microsoft.com/office/drawing/2014/main" id="{CC1C8EB5-DE70-1C9C-C194-582475CCE14E}"/>
              </a:ext>
            </a:extLst>
          </p:cNvPr>
          <p:cNvSpPr/>
          <p:nvPr/>
        </p:nvSpPr>
        <p:spPr>
          <a:xfrm>
            <a:off x="9863356" y="3183433"/>
            <a:ext cx="1632257" cy="390144"/>
          </a:xfrm>
          <a:prstGeom prst="rect">
            <a:avLst/>
          </a:prstGeom>
          <a:noFill/>
          <a:ln/>
        </p:spPr>
        <p:txBody>
          <a:bodyPr wrap="square" lIns="0" tIns="0" rIns="0" bIns="0" rtlCol="0" anchor="t"/>
          <a:lstStyle/>
          <a:p>
            <a:pPr defTabSz="1219170">
              <a:defRPr/>
            </a:pPr>
            <a:r>
              <a:rPr lang="en-US" sz="867">
                <a:solidFill>
                  <a:schemeClr val="bg2">
                    <a:lumMod val="50000"/>
                  </a:schemeClr>
                </a:solidFill>
                <a:latin typeface="Calibri" panose="020F0502020204030204"/>
              </a:rPr>
              <a:t>Moving from pilots to scaled production, including process and workflow reimagination</a:t>
            </a:r>
          </a:p>
        </p:txBody>
      </p:sp>
      <p:sp>
        <p:nvSpPr>
          <p:cNvPr id="32" name="Text 67">
            <a:extLst>
              <a:ext uri="{FF2B5EF4-FFF2-40B4-BE49-F238E27FC236}">
                <a16:creationId xmlns:a16="http://schemas.microsoft.com/office/drawing/2014/main" id="{139DC163-B98A-8F0E-4429-E7808C815DEB}"/>
              </a:ext>
            </a:extLst>
          </p:cNvPr>
          <p:cNvSpPr/>
          <p:nvPr/>
        </p:nvSpPr>
        <p:spPr>
          <a:xfrm>
            <a:off x="8099991" y="5496568"/>
            <a:ext cx="1632257" cy="390144"/>
          </a:xfrm>
          <a:prstGeom prst="rect">
            <a:avLst/>
          </a:prstGeom>
          <a:noFill/>
          <a:ln/>
        </p:spPr>
        <p:txBody>
          <a:bodyPr wrap="square" lIns="0" tIns="0" rIns="0" bIns="0" rtlCol="0" anchor="t"/>
          <a:lstStyle/>
          <a:p>
            <a:pPr defTabSz="1219170">
              <a:defRPr/>
            </a:pPr>
            <a:r>
              <a:rPr lang="en-US" sz="867">
                <a:solidFill>
                  <a:schemeClr val="bg2">
                    <a:lumMod val="50000"/>
                  </a:schemeClr>
                </a:solidFill>
                <a:latin typeface="Calibri" panose="020F0502020204030204"/>
              </a:rPr>
              <a:t>Shift towards autonomous, unlocking new value pools</a:t>
            </a:r>
          </a:p>
        </p:txBody>
      </p:sp>
      <p:sp>
        <p:nvSpPr>
          <p:cNvPr id="2" name="Title 1">
            <a:extLst>
              <a:ext uri="{FF2B5EF4-FFF2-40B4-BE49-F238E27FC236}">
                <a16:creationId xmlns:a16="http://schemas.microsoft.com/office/drawing/2014/main" id="{57A847EA-D99E-1161-D6EB-AD75B934CC79}"/>
              </a:ext>
            </a:extLst>
          </p:cNvPr>
          <p:cNvSpPr>
            <a:spLocks noGrp="1"/>
          </p:cNvSpPr>
          <p:nvPr>
            <p:ph type="title"/>
          </p:nvPr>
        </p:nvSpPr>
        <p:spPr>
          <a:xfrm>
            <a:off x="457200" y="457200"/>
            <a:ext cx="11277600" cy="664797"/>
          </a:xfrm>
        </p:spPr>
        <p:txBody>
          <a:bodyPr/>
          <a:lstStyle/>
          <a:p>
            <a:r>
              <a:rPr lang="en-US">
                <a:solidFill>
                  <a:srgbClr val="000045"/>
                </a:solidFill>
                <a:latin typeface="Gellix" pitchFamily="2" charset="77"/>
                <a:cs typeface="Gellix" pitchFamily="2" charset="77"/>
              </a:rPr>
              <a:t>To realize tangible value, focus is shifting to AI industrialization and agentification</a:t>
            </a:r>
            <a:endParaRPr lang="en-US"/>
          </a:p>
        </p:txBody>
      </p:sp>
    </p:spTree>
    <p:extLst>
      <p:ext uri="{BB962C8B-B14F-4D97-AF65-F5344CB8AC3E}">
        <p14:creationId xmlns:p14="http://schemas.microsoft.com/office/powerpoint/2010/main" val="3512521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iterate>
                                    <p:tmAbs val="0"/>
                                  </p:iterate>
                                  <p:childTnLst>
                                    <p:set>
                                      <p:cBhvr>
                                        <p:cTn id="6" fill="hold"/>
                                        <p:tgtEl>
                                          <p:spTgt spid="17"/>
                                        </p:tgtEl>
                                        <p:attrNameLst>
                                          <p:attrName>style.visibility</p:attrName>
                                        </p:attrNameLst>
                                      </p:cBhvr>
                                      <p:to>
                                        <p:strVal val="visible"/>
                                      </p:to>
                                    </p:set>
                                    <p:animEffect transition="in" filter="strips(upRight)">
                                      <p:cBhvr>
                                        <p:cTn id="7" dur="1000"/>
                                        <p:tgtEl>
                                          <p:spTgt spid="17"/>
                                        </p:tgtEl>
                                      </p:cBhvr>
                                    </p:animEffect>
                                  </p:childTnLst>
                                </p:cTn>
                              </p:par>
                            </p:childTnLst>
                          </p:cTn>
                        </p:par>
                        <p:par>
                          <p:cTn id="8" fill="hold">
                            <p:stCondLst>
                              <p:cond delay="1000"/>
                            </p:stCondLst>
                            <p:childTnLst>
                              <p:par>
                                <p:cTn id="9" presetID="2" presetClass="entr" presetSubtype="2" fill="hold" grpId="0" nodeType="afterEffect">
                                  <p:stCondLst>
                                    <p:cond delay="400"/>
                                  </p:stCondLst>
                                  <p:iterate>
                                    <p:tmAbs val="0"/>
                                  </p:iterate>
                                  <p:childTnLst>
                                    <p:set>
                                      <p:cBhvr>
                                        <p:cTn id="10" fill="hold"/>
                                        <p:tgtEl>
                                          <p:spTgt spid="20"/>
                                        </p:tgtEl>
                                        <p:attrNameLst>
                                          <p:attrName>style.visibility</p:attrName>
                                        </p:attrNameLst>
                                      </p:cBhvr>
                                      <p:to>
                                        <p:strVal val="visible"/>
                                      </p:to>
                                    </p:set>
                                    <p:anim calcmode="lin" valueType="num">
                                      <p:cBhvr>
                                        <p:cTn id="11" dur="1250" fill="hold"/>
                                        <p:tgtEl>
                                          <p:spTgt spid="20"/>
                                        </p:tgtEl>
                                        <p:attrNameLst>
                                          <p:attrName>ppt_x</p:attrName>
                                        </p:attrNameLst>
                                      </p:cBhvr>
                                      <p:tavLst>
                                        <p:tav tm="0">
                                          <p:val>
                                            <p:strVal val="1+#ppt_w/2"/>
                                          </p:val>
                                        </p:tav>
                                        <p:tav tm="100000">
                                          <p:val>
                                            <p:strVal val="#ppt_x"/>
                                          </p:val>
                                        </p:tav>
                                      </p:tavLst>
                                    </p:anim>
                                    <p:anim calcmode="lin" valueType="num">
                                      <p:cBhvr>
                                        <p:cTn id="12" dur="1250" fill="hold"/>
                                        <p:tgtEl>
                                          <p:spTgt spid="20"/>
                                        </p:tgtEl>
                                        <p:attrNameLst>
                                          <p:attrName>ppt_y</p:attrName>
                                        </p:attrNameLst>
                                      </p:cBhvr>
                                      <p:tavLst>
                                        <p:tav tm="0">
                                          <p:val>
                                            <p:strVal val="#ppt_y"/>
                                          </p:val>
                                        </p:tav>
                                        <p:tav tm="100000">
                                          <p:val>
                                            <p:strVal val="#ppt_y"/>
                                          </p:val>
                                        </p:tav>
                                      </p:tavLst>
                                    </p:anim>
                                  </p:childTnLst>
                                </p:cTn>
                              </p:par>
                            </p:childTnLst>
                          </p:cTn>
                        </p:par>
                        <p:par>
                          <p:cTn id="13" fill="hold">
                            <p:stCondLst>
                              <p:cond delay="2650"/>
                            </p:stCondLst>
                            <p:childTnLst>
                              <p:par>
                                <p:cTn id="14" presetID="18" presetClass="entr" presetSubtype="6" fill="hold" grpId="0" nodeType="afterEffect">
                                  <p:stCondLst>
                                    <p:cond delay="300"/>
                                  </p:stCondLst>
                                  <p:iterate>
                                    <p:tmAbs val="0"/>
                                  </p:iterate>
                                  <p:childTnLst>
                                    <p:set>
                                      <p:cBhvr>
                                        <p:cTn id="15" fill="hold"/>
                                        <p:tgtEl>
                                          <p:spTgt spid="19"/>
                                        </p:tgtEl>
                                        <p:attrNameLst>
                                          <p:attrName>style.visibility</p:attrName>
                                        </p:attrNameLst>
                                      </p:cBhvr>
                                      <p:to>
                                        <p:strVal val="visible"/>
                                      </p:to>
                                    </p:set>
                                    <p:animEffect transition="in" filter="strips(downRight)">
                                      <p:cBhvr>
                                        <p:cTn id="16" dur="1000"/>
                                        <p:tgtEl>
                                          <p:spTgt spid="19"/>
                                        </p:tgtEl>
                                      </p:cBhvr>
                                    </p:animEffect>
                                  </p:childTnLst>
                                </p:cTn>
                              </p:par>
                            </p:childTnLst>
                          </p:cTn>
                        </p:par>
                        <p:par>
                          <p:cTn id="17" fill="hold">
                            <p:stCondLst>
                              <p:cond delay="3950"/>
                            </p:stCondLst>
                            <p:childTnLst>
                              <p:par>
                                <p:cTn id="18" presetID="2" presetClass="entr" presetSubtype="8" fill="hold" grpId="0" nodeType="afterEffect">
                                  <p:stCondLst>
                                    <p:cond delay="400"/>
                                  </p:stCondLst>
                                  <p:iterate>
                                    <p:tmAbs val="0"/>
                                  </p:iterate>
                                  <p:childTnLst>
                                    <p:set>
                                      <p:cBhvr>
                                        <p:cTn id="19" fill="hold"/>
                                        <p:tgtEl>
                                          <p:spTgt spid="21"/>
                                        </p:tgtEl>
                                        <p:attrNameLst>
                                          <p:attrName>style.visibility</p:attrName>
                                        </p:attrNameLst>
                                      </p:cBhvr>
                                      <p:to>
                                        <p:strVal val="visible"/>
                                      </p:to>
                                    </p:set>
                                    <p:anim calcmode="lin" valueType="num">
                                      <p:cBhvr>
                                        <p:cTn id="20" dur="1250" fill="hold"/>
                                        <p:tgtEl>
                                          <p:spTgt spid="21"/>
                                        </p:tgtEl>
                                        <p:attrNameLst>
                                          <p:attrName>ppt_x</p:attrName>
                                        </p:attrNameLst>
                                      </p:cBhvr>
                                      <p:tavLst>
                                        <p:tav tm="0">
                                          <p:val>
                                            <p:strVal val="0-#ppt_w/2"/>
                                          </p:val>
                                        </p:tav>
                                        <p:tav tm="100000">
                                          <p:val>
                                            <p:strVal val="#ppt_x"/>
                                          </p:val>
                                        </p:tav>
                                      </p:tavLst>
                                    </p:anim>
                                    <p:anim calcmode="lin" valueType="num">
                                      <p:cBhvr>
                                        <p:cTn id="21" dur="1250" fill="hold"/>
                                        <p:tgtEl>
                                          <p:spTgt spid="21"/>
                                        </p:tgtEl>
                                        <p:attrNameLst>
                                          <p:attrName>ppt_y</p:attrName>
                                        </p:attrNameLst>
                                      </p:cBhvr>
                                      <p:tavLst>
                                        <p:tav tm="0">
                                          <p:val>
                                            <p:strVal val="#ppt_y"/>
                                          </p:val>
                                        </p:tav>
                                        <p:tav tm="100000">
                                          <p:val>
                                            <p:strVal val="#ppt_y"/>
                                          </p:val>
                                        </p:tav>
                                      </p:tavLst>
                                    </p:anim>
                                  </p:childTnLst>
                                </p:cTn>
                              </p:par>
                            </p:childTnLst>
                          </p:cTn>
                        </p:par>
                        <p:par>
                          <p:cTn id="22" fill="hold">
                            <p:stCondLst>
                              <p:cond delay="5600"/>
                            </p:stCondLst>
                            <p:childTnLst>
                              <p:par>
                                <p:cTn id="23" presetID="22" presetClass="entr" presetSubtype="2" fill="hold" grpId="0" nodeType="afterEffect">
                                  <p:stCondLst>
                                    <p:cond delay="300"/>
                                  </p:stCondLst>
                                  <p:iterate>
                                    <p:tmAbs val="0"/>
                                  </p:iterate>
                                  <p:childTnLst>
                                    <p:set>
                                      <p:cBhvr>
                                        <p:cTn id="24" fill="hold"/>
                                        <p:tgtEl>
                                          <p:spTgt spid="18"/>
                                        </p:tgtEl>
                                        <p:attrNameLst>
                                          <p:attrName>style.visibility</p:attrName>
                                        </p:attrNameLst>
                                      </p:cBhvr>
                                      <p:to>
                                        <p:strVal val="visible"/>
                                      </p:to>
                                    </p:set>
                                    <p:animEffect transition="in" filter="wipe(right)">
                                      <p:cBhvr>
                                        <p:cTn id="25" dur="1000"/>
                                        <p:tgtEl>
                                          <p:spTgt spid="18"/>
                                        </p:tgtEl>
                                      </p:cBhvr>
                                    </p:animEffect>
                                  </p:childTnLst>
                                </p:cTn>
                              </p:par>
                            </p:childTnLst>
                          </p:cTn>
                        </p:par>
                        <p:par>
                          <p:cTn id="26" fill="hold">
                            <p:stCondLst>
                              <p:cond delay="6900"/>
                            </p:stCondLst>
                            <p:childTnLst>
                              <p:par>
                                <p:cTn id="27" presetID="2" presetClass="entr" presetSubtype="1" fill="hold" grpId="0" nodeType="afterEffect">
                                  <p:stCondLst>
                                    <p:cond delay="400"/>
                                  </p:stCondLst>
                                  <p:iterate>
                                    <p:tmAbs val="0"/>
                                  </p:iterate>
                                  <p:childTnLst>
                                    <p:set>
                                      <p:cBhvr>
                                        <p:cTn id="28" fill="hold"/>
                                        <p:tgtEl>
                                          <p:spTgt spid="22"/>
                                        </p:tgtEl>
                                        <p:attrNameLst>
                                          <p:attrName>style.visibility</p:attrName>
                                        </p:attrNameLst>
                                      </p:cBhvr>
                                      <p:to>
                                        <p:strVal val="visible"/>
                                      </p:to>
                                    </p:set>
                                    <p:anim calcmode="lin" valueType="num">
                                      <p:cBhvr>
                                        <p:cTn id="29" dur="1250" fill="hold"/>
                                        <p:tgtEl>
                                          <p:spTgt spid="22"/>
                                        </p:tgtEl>
                                        <p:attrNameLst>
                                          <p:attrName>ppt_x</p:attrName>
                                        </p:attrNameLst>
                                      </p:cBhvr>
                                      <p:tavLst>
                                        <p:tav tm="0">
                                          <p:val>
                                            <p:strVal val="#ppt_x"/>
                                          </p:val>
                                        </p:tav>
                                        <p:tav tm="100000">
                                          <p:val>
                                            <p:strVal val="#ppt_x"/>
                                          </p:val>
                                        </p:tav>
                                      </p:tavLst>
                                    </p:anim>
                                    <p:anim calcmode="lin" valueType="num">
                                      <p:cBhvr>
                                        <p:cTn id="30" dur="1250" fill="hold"/>
                                        <p:tgtEl>
                                          <p:spTgt spid="2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dvAuto="0"/>
      <p:bldP spid="18" grpId="0" animBg="1" advAuto="0"/>
      <p:bldP spid="19" grpId="0" animBg="1" advAuto="0"/>
      <p:bldP spid="20" grpId="0" animBg="1" advAuto="0"/>
      <p:bldP spid="21" grpId="0" animBg="1" advAuto="0"/>
      <p:bldP spid="22" grpId="0"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3D0F5-BEAB-139A-E356-A32CDCD9BA98}"/>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D92E1253-7D13-6348-0109-1255C54E4F83}"/>
              </a:ext>
            </a:extLst>
          </p:cNvPr>
          <p:cNvSpPr/>
          <p:nvPr/>
        </p:nvSpPr>
        <p:spPr>
          <a:xfrm>
            <a:off x="487410" y="584790"/>
            <a:ext cx="10238272" cy="738137"/>
          </a:xfrm>
          <a:prstGeom prst="rect">
            <a:avLst/>
          </a:prstGeom>
          <a:noFill/>
          <a:ln/>
        </p:spPr>
        <p:txBody>
          <a:bodyPr wrap="square" rtlCol="0" anchor="ctr"/>
          <a:lstStyle/>
          <a:p>
            <a:pPr marL="0" indent="0">
              <a:buNone/>
            </a:pPr>
            <a:endParaRPr lang="en-US" sz="2800" b="1">
              <a:solidFill>
                <a:srgbClr val="000045"/>
              </a:solidFill>
              <a:latin typeface="Gellix" pitchFamily="2" charset="77"/>
              <a:cs typeface="Gellix" pitchFamily="2" charset="77"/>
            </a:endParaRPr>
          </a:p>
        </p:txBody>
      </p:sp>
      <p:sp>
        <p:nvSpPr>
          <p:cNvPr id="15" name="Text 3">
            <a:extLst>
              <a:ext uri="{FF2B5EF4-FFF2-40B4-BE49-F238E27FC236}">
                <a16:creationId xmlns:a16="http://schemas.microsoft.com/office/drawing/2014/main" id="{CADDE7AB-BEA1-6169-AABA-724EC9F9A31B}"/>
              </a:ext>
            </a:extLst>
          </p:cNvPr>
          <p:cNvSpPr/>
          <p:nvPr/>
        </p:nvSpPr>
        <p:spPr>
          <a:xfrm>
            <a:off x="457200" y="1478837"/>
            <a:ext cx="8412480" cy="228600"/>
          </a:xfrm>
          <a:prstGeom prst="rect">
            <a:avLst/>
          </a:prstGeom>
          <a:noFill/>
          <a:ln/>
        </p:spPr>
        <p:txBody>
          <a:bodyPr wrap="square" rtlCol="0" anchor="ctr"/>
          <a:lstStyle/>
          <a:p>
            <a:pPr marL="0" indent="0">
              <a:buNone/>
            </a:pPr>
            <a:r>
              <a:rPr lang="en-US" sz="1100" i="1">
                <a:solidFill>
                  <a:srgbClr val="0171C1"/>
                </a:solidFill>
                <a:latin typeface="Calibri" pitchFamily="34" charset="0"/>
                <a:ea typeface="Calibri" pitchFamily="34" charset="-122"/>
                <a:cs typeface="Calibri" pitchFamily="34" charset="-120"/>
              </a:rPr>
              <a:t>A virtuous flywheel — each vector reinforces the other, yet transformation occurs in parallel along all three</a:t>
            </a:r>
          </a:p>
        </p:txBody>
      </p:sp>
      <p:sp>
        <p:nvSpPr>
          <p:cNvPr id="16" name="Shape 4">
            <a:extLst>
              <a:ext uri="{FF2B5EF4-FFF2-40B4-BE49-F238E27FC236}">
                <a16:creationId xmlns:a16="http://schemas.microsoft.com/office/drawing/2014/main" id="{F44EF166-7DA9-C593-2552-F5238F460D1B}"/>
              </a:ext>
            </a:extLst>
          </p:cNvPr>
          <p:cNvSpPr/>
          <p:nvPr/>
        </p:nvSpPr>
        <p:spPr>
          <a:xfrm>
            <a:off x="556820" y="1923706"/>
            <a:ext cx="3585689" cy="3903044"/>
          </a:xfrm>
          <a:prstGeom prst="rect">
            <a:avLst/>
          </a:prstGeom>
          <a:solidFill>
            <a:srgbClr val="F4F4F4"/>
          </a:solidFill>
          <a:ln w="9525">
            <a:noFill/>
            <a:prstDash val="solid"/>
          </a:ln>
        </p:spPr>
        <p:txBody>
          <a:bodyPr/>
          <a:lstStyle/>
          <a:p>
            <a:endParaRPr lang="en-US"/>
          </a:p>
        </p:txBody>
      </p:sp>
      <p:sp>
        <p:nvSpPr>
          <p:cNvPr id="18" name="Text 6">
            <a:extLst>
              <a:ext uri="{FF2B5EF4-FFF2-40B4-BE49-F238E27FC236}">
                <a16:creationId xmlns:a16="http://schemas.microsoft.com/office/drawing/2014/main" id="{BDE4CF21-ECC8-3217-27AC-9E7013408BD8}"/>
              </a:ext>
            </a:extLst>
          </p:cNvPr>
          <p:cNvSpPr/>
          <p:nvPr/>
        </p:nvSpPr>
        <p:spPr>
          <a:xfrm>
            <a:off x="693980" y="2015146"/>
            <a:ext cx="650281" cy="546396"/>
          </a:xfrm>
          <a:prstGeom prst="rect">
            <a:avLst/>
          </a:prstGeom>
          <a:noFill/>
          <a:ln/>
        </p:spPr>
        <p:txBody>
          <a:bodyPr wrap="square" rtlCol="0" anchor="ctr"/>
          <a:lstStyle/>
          <a:p>
            <a:pPr marL="0" indent="0">
              <a:buNone/>
            </a:pPr>
            <a:r>
              <a:rPr lang="en-US" sz="3200">
                <a:solidFill>
                  <a:srgbClr val="0171C1"/>
                </a:solidFill>
                <a:latin typeface="Gellix" pitchFamily="2" charset="77"/>
                <a:ea typeface="Calibri" pitchFamily="34" charset="-122"/>
                <a:cs typeface="Gellix" pitchFamily="2" charset="77"/>
              </a:rPr>
              <a:t>01</a:t>
            </a:r>
            <a:endParaRPr lang="en-US" sz="3200">
              <a:solidFill>
                <a:srgbClr val="0171C1"/>
              </a:solidFill>
              <a:latin typeface="Gellix" pitchFamily="2" charset="77"/>
              <a:cs typeface="Gellix" pitchFamily="2" charset="77"/>
            </a:endParaRPr>
          </a:p>
        </p:txBody>
      </p:sp>
      <p:sp>
        <p:nvSpPr>
          <p:cNvPr id="19" name="Text 7">
            <a:extLst>
              <a:ext uri="{FF2B5EF4-FFF2-40B4-BE49-F238E27FC236}">
                <a16:creationId xmlns:a16="http://schemas.microsoft.com/office/drawing/2014/main" id="{E1055C32-E02A-8C4F-A4B2-46F3303C392A}"/>
              </a:ext>
            </a:extLst>
          </p:cNvPr>
          <p:cNvSpPr/>
          <p:nvPr/>
        </p:nvSpPr>
        <p:spPr>
          <a:xfrm>
            <a:off x="693980" y="2582074"/>
            <a:ext cx="3251407" cy="377510"/>
          </a:xfrm>
          <a:prstGeom prst="rect">
            <a:avLst/>
          </a:prstGeom>
          <a:noFill/>
          <a:ln/>
        </p:spPr>
        <p:txBody>
          <a:bodyPr wrap="square" rtlCol="0" anchor="ctr"/>
          <a:lstStyle/>
          <a:p>
            <a:pPr marL="0" indent="0">
              <a:buNone/>
            </a:pPr>
            <a:r>
              <a:rPr lang="en-US" sz="1600">
                <a:solidFill>
                  <a:srgbClr val="000045"/>
                </a:solidFill>
                <a:latin typeface="Gellix" pitchFamily="2" charset="77"/>
                <a:ea typeface="Calibri" pitchFamily="34" charset="-122"/>
                <a:cs typeface="Gellix" pitchFamily="2" charset="77"/>
              </a:rPr>
              <a:t>AI-Led Productivity</a:t>
            </a:r>
          </a:p>
        </p:txBody>
      </p:sp>
      <p:sp>
        <p:nvSpPr>
          <p:cNvPr id="20" name="Text 8">
            <a:extLst>
              <a:ext uri="{FF2B5EF4-FFF2-40B4-BE49-F238E27FC236}">
                <a16:creationId xmlns:a16="http://schemas.microsoft.com/office/drawing/2014/main" id="{8F4C6C40-0A6A-3EE2-36F4-1BBD66A3F237}"/>
              </a:ext>
            </a:extLst>
          </p:cNvPr>
          <p:cNvSpPr/>
          <p:nvPr/>
        </p:nvSpPr>
        <p:spPr>
          <a:xfrm>
            <a:off x="693980" y="2947834"/>
            <a:ext cx="3251407" cy="218559"/>
          </a:xfrm>
          <a:prstGeom prst="rect">
            <a:avLst/>
          </a:prstGeom>
          <a:noFill/>
          <a:ln/>
        </p:spPr>
        <p:txBody>
          <a:bodyPr wrap="square" rtlCol="0" anchor="ctr"/>
          <a:lstStyle/>
          <a:p>
            <a:pPr marL="0" indent="0">
              <a:buNone/>
            </a:pPr>
            <a:r>
              <a:rPr lang="en-US" sz="850" kern="0" spc="120">
                <a:solidFill>
                  <a:srgbClr val="0171C1"/>
                </a:solidFill>
                <a:latin typeface="Gellix" pitchFamily="2" charset="77"/>
                <a:ea typeface="Calibri" pitchFamily="34" charset="-122"/>
                <a:cs typeface="Gellix" pitchFamily="2" charset="77"/>
              </a:rPr>
              <a:t>VECTOR 01</a:t>
            </a:r>
            <a:endParaRPr lang="en-US" sz="850">
              <a:solidFill>
                <a:srgbClr val="0171C1"/>
              </a:solidFill>
              <a:latin typeface="Gellix" pitchFamily="2" charset="77"/>
              <a:cs typeface="Gellix" pitchFamily="2" charset="77"/>
            </a:endParaRPr>
          </a:p>
        </p:txBody>
      </p:sp>
      <p:sp>
        <p:nvSpPr>
          <p:cNvPr id="21" name="Text 9">
            <a:extLst>
              <a:ext uri="{FF2B5EF4-FFF2-40B4-BE49-F238E27FC236}">
                <a16:creationId xmlns:a16="http://schemas.microsoft.com/office/drawing/2014/main" id="{8C0D2DBF-CD35-7EE8-1720-A2DC65172DD8}"/>
              </a:ext>
            </a:extLst>
          </p:cNvPr>
          <p:cNvSpPr/>
          <p:nvPr/>
        </p:nvSpPr>
        <p:spPr>
          <a:xfrm>
            <a:off x="693980" y="3120553"/>
            <a:ext cx="3251407" cy="920142"/>
          </a:xfrm>
          <a:prstGeom prst="rect">
            <a:avLst/>
          </a:prstGeom>
          <a:noFill/>
          <a:ln/>
        </p:spPr>
        <p:txBody>
          <a:bodyPr wrap="square" rtlCol="0" anchor="ctr"/>
          <a:lstStyle/>
          <a:p>
            <a:pPr marL="0" indent="0">
              <a:lnSpc>
                <a:spcPct val="135000"/>
              </a:lnSpc>
              <a:buNone/>
            </a:pPr>
            <a:r>
              <a:rPr lang="en-US" sz="1050">
                <a:solidFill>
                  <a:srgbClr val="000045"/>
                </a:solidFill>
                <a:latin typeface="Gellix" pitchFamily="2" charset="77"/>
                <a:ea typeface="Calibri" pitchFamily="34" charset="-122"/>
                <a:cs typeface="Gellix" pitchFamily="2" charset="77"/>
              </a:rPr>
              <a:t>Accelerate software development, reduce $2T in enterprise tech debt, lower deployment costs. Embed AI across the full SDLC.</a:t>
            </a:r>
          </a:p>
        </p:txBody>
      </p:sp>
      <p:sp>
        <p:nvSpPr>
          <p:cNvPr id="22" name="Shape 10">
            <a:extLst>
              <a:ext uri="{FF2B5EF4-FFF2-40B4-BE49-F238E27FC236}">
                <a16:creationId xmlns:a16="http://schemas.microsoft.com/office/drawing/2014/main" id="{C544F1ED-12A6-2350-0550-54DBF00BA82A}"/>
              </a:ext>
            </a:extLst>
          </p:cNvPr>
          <p:cNvSpPr/>
          <p:nvPr/>
        </p:nvSpPr>
        <p:spPr>
          <a:xfrm>
            <a:off x="666271" y="4265676"/>
            <a:ext cx="3251407" cy="0"/>
          </a:xfrm>
          <a:prstGeom prst="line">
            <a:avLst/>
          </a:prstGeom>
          <a:noFill/>
          <a:ln w="9525">
            <a:solidFill>
              <a:srgbClr val="BBBBBB"/>
            </a:solidFill>
            <a:prstDash val="solid"/>
          </a:ln>
        </p:spPr>
        <p:txBody>
          <a:bodyPr/>
          <a:lstStyle/>
          <a:p>
            <a:endParaRPr lang="en-US"/>
          </a:p>
        </p:txBody>
      </p:sp>
      <p:sp>
        <p:nvSpPr>
          <p:cNvPr id="7" name="Text 12">
            <a:extLst>
              <a:ext uri="{FF2B5EF4-FFF2-40B4-BE49-F238E27FC236}">
                <a16:creationId xmlns:a16="http://schemas.microsoft.com/office/drawing/2014/main" id="{F9C5895F-3D9F-1615-6FF7-B8611B2BC4F7}"/>
              </a:ext>
            </a:extLst>
          </p:cNvPr>
          <p:cNvSpPr/>
          <p:nvPr/>
        </p:nvSpPr>
        <p:spPr>
          <a:xfrm>
            <a:off x="684137" y="4753004"/>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20–50% engineering productivity gains</a:t>
            </a:r>
            <a:endParaRPr lang="en-US" sz="950">
              <a:latin typeface="Gellix" pitchFamily="2" charset="77"/>
              <a:cs typeface="Gellix" pitchFamily="2" charset="77"/>
            </a:endParaRPr>
          </a:p>
        </p:txBody>
      </p:sp>
      <p:sp>
        <p:nvSpPr>
          <p:cNvPr id="8" name="Text 13">
            <a:extLst>
              <a:ext uri="{FF2B5EF4-FFF2-40B4-BE49-F238E27FC236}">
                <a16:creationId xmlns:a16="http://schemas.microsoft.com/office/drawing/2014/main" id="{C103FBBA-B25E-F7F4-E290-9F4E763D03AF}"/>
              </a:ext>
            </a:extLst>
          </p:cNvPr>
          <p:cNvSpPr/>
          <p:nvPr/>
        </p:nvSpPr>
        <p:spPr>
          <a:xfrm>
            <a:off x="670283" y="5055033"/>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70+ enterprise clients deployed</a:t>
            </a:r>
            <a:endParaRPr lang="en-US" sz="950">
              <a:latin typeface="Gellix" pitchFamily="2" charset="77"/>
              <a:cs typeface="Gellix" pitchFamily="2" charset="77"/>
            </a:endParaRPr>
          </a:p>
        </p:txBody>
      </p:sp>
      <p:sp>
        <p:nvSpPr>
          <p:cNvPr id="10" name="Text 8">
            <a:extLst>
              <a:ext uri="{FF2B5EF4-FFF2-40B4-BE49-F238E27FC236}">
                <a16:creationId xmlns:a16="http://schemas.microsoft.com/office/drawing/2014/main" id="{E325D346-2855-C449-93F0-B43884B7EBB5}"/>
              </a:ext>
            </a:extLst>
          </p:cNvPr>
          <p:cNvSpPr/>
          <p:nvPr/>
        </p:nvSpPr>
        <p:spPr>
          <a:xfrm>
            <a:off x="685800" y="4391676"/>
            <a:ext cx="3251407" cy="357067"/>
          </a:xfrm>
          <a:prstGeom prst="rect">
            <a:avLst/>
          </a:prstGeom>
          <a:noFill/>
          <a:ln/>
        </p:spPr>
        <p:txBody>
          <a:bodyPr wrap="square" rtlCol="0" anchor="ctr"/>
          <a:lstStyle/>
          <a:p>
            <a:pPr marL="0" indent="0">
              <a:buNone/>
            </a:pPr>
            <a:r>
              <a:rPr lang="en-US" sz="900">
                <a:solidFill>
                  <a:srgbClr val="0171C1"/>
                </a:solidFill>
                <a:latin typeface="Gellix" pitchFamily="2" charset="77"/>
                <a:cs typeface="Gellix" pitchFamily="2" charset="77"/>
              </a:rPr>
              <a:t>LEGACY MODERNIZATION, FASTER INNOVATION</a:t>
            </a:r>
          </a:p>
          <a:p>
            <a:pPr marL="0" indent="0">
              <a:buNone/>
            </a:pPr>
            <a:r>
              <a:rPr lang="en-US" sz="900">
                <a:solidFill>
                  <a:srgbClr val="0171C1"/>
                </a:solidFill>
                <a:latin typeface="Gellix" pitchFamily="2" charset="77"/>
                <a:cs typeface="Gellix" pitchFamily="2" charset="77"/>
              </a:rPr>
              <a:t>EXAMPLE results from specific client work:</a:t>
            </a:r>
          </a:p>
        </p:txBody>
      </p:sp>
      <p:sp>
        <p:nvSpPr>
          <p:cNvPr id="11" name="Shape 4">
            <a:extLst>
              <a:ext uri="{FF2B5EF4-FFF2-40B4-BE49-F238E27FC236}">
                <a16:creationId xmlns:a16="http://schemas.microsoft.com/office/drawing/2014/main" id="{5BA3E814-BF8D-90B9-6EA9-45088D2431C7}"/>
              </a:ext>
            </a:extLst>
          </p:cNvPr>
          <p:cNvSpPr/>
          <p:nvPr/>
        </p:nvSpPr>
        <p:spPr>
          <a:xfrm>
            <a:off x="4246420" y="1925780"/>
            <a:ext cx="3585689" cy="3903044"/>
          </a:xfrm>
          <a:prstGeom prst="rect">
            <a:avLst/>
          </a:prstGeom>
          <a:solidFill>
            <a:srgbClr val="F4F4F4"/>
          </a:solidFill>
          <a:ln w="9525">
            <a:noFill/>
            <a:prstDash val="solid"/>
          </a:ln>
        </p:spPr>
        <p:txBody>
          <a:bodyPr/>
          <a:lstStyle/>
          <a:p>
            <a:endParaRPr lang="en-US"/>
          </a:p>
        </p:txBody>
      </p:sp>
      <p:sp>
        <p:nvSpPr>
          <p:cNvPr id="26" name="Text 6">
            <a:extLst>
              <a:ext uri="{FF2B5EF4-FFF2-40B4-BE49-F238E27FC236}">
                <a16:creationId xmlns:a16="http://schemas.microsoft.com/office/drawing/2014/main" id="{7F6A73B9-08E1-D1E6-3361-23A1D661940F}"/>
              </a:ext>
            </a:extLst>
          </p:cNvPr>
          <p:cNvSpPr/>
          <p:nvPr/>
        </p:nvSpPr>
        <p:spPr>
          <a:xfrm>
            <a:off x="4383580" y="2017220"/>
            <a:ext cx="650281" cy="546396"/>
          </a:xfrm>
          <a:prstGeom prst="rect">
            <a:avLst/>
          </a:prstGeom>
          <a:noFill/>
          <a:ln/>
        </p:spPr>
        <p:txBody>
          <a:bodyPr wrap="square" rtlCol="0" anchor="ctr"/>
          <a:lstStyle/>
          <a:p>
            <a:pPr marL="0" indent="0">
              <a:buNone/>
            </a:pPr>
            <a:r>
              <a:rPr lang="en-US" sz="3200">
                <a:solidFill>
                  <a:srgbClr val="0171C1"/>
                </a:solidFill>
                <a:latin typeface="Gellix" pitchFamily="2" charset="77"/>
                <a:cs typeface="Gellix" pitchFamily="2" charset="77"/>
              </a:rPr>
              <a:t>02</a:t>
            </a:r>
          </a:p>
        </p:txBody>
      </p:sp>
      <p:sp>
        <p:nvSpPr>
          <p:cNvPr id="27" name="Text 7">
            <a:extLst>
              <a:ext uri="{FF2B5EF4-FFF2-40B4-BE49-F238E27FC236}">
                <a16:creationId xmlns:a16="http://schemas.microsoft.com/office/drawing/2014/main" id="{5FA3AE1F-EEE0-1A5B-2534-B37732373791}"/>
              </a:ext>
            </a:extLst>
          </p:cNvPr>
          <p:cNvSpPr/>
          <p:nvPr/>
        </p:nvSpPr>
        <p:spPr>
          <a:xfrm>
            <a:off x="4383580" y="2584148"/>
            <a:ext cx="3251407" cy="377510"/>
          </a:xfrm>
          <a:prstGeom prst="rect">
            <a:avLst/>
          </a:prstGeom>
          <a:noFill/>
          <a:ln/>
        </p:spPr>
        <p:txBody>
          <a:bodyPr wrap="square" rtlCol="0" anchor="ctr"/>
          <a:lstStyle/>
          <a:p>
            <a:pPr marL="0" indent="0">
              <a:buNone/>
            </a:pPr>
            <a:r>
              <a:rPr lang="en-US" sz="1600">
                <a:solidFill>
                  <a:srgbClr val="000045"/>
                </a:solidFill>
                <a:latin typeface="Gellix" pitchFamily="2" charset="77"/>
                <a:ea typeface="Calibri" pitchFamily="34" charset="-122"/>
                <a:cs typeface="Gellix" pitchFamily="2" charset="77"/>
              </a:rPr>
              <a:t>Scale AI including agentic AI</a:t>
            </a:r>
          </a:p>
        </p:txBody>
      </p:sp>
      <p:sp>
        <p:nvSpPr>
          <p:cNvPr id="28" name="Text 8">
            <a:extLst>
              <a:ext uri="{FF2B5EF4-FFF2-40B4-BE49-F238E27FC236}">
                <a16:creationId xmlns:a16="http://schemas.microsoft.com/office/drawing/2014/main" id="{8994C4BA-9848-913C-56DF-FD75A2F4593F}"/>
              </a:ext>
            </a:extLst>
          </p:cNvPr>
          <p:cNvSpPr/>
          <p:nvPr/>
        </p:nvSpPr>
        <p:spPr>
          <a:xfrm>
            <a:off x="4383580" y="2949908"/>
            <a:ext cx="3251407" cy="218559"/>
          </a:xfrm>
          <a:prstGeom prst="rect">
            <a:avLst/>
          </a:prstGeom>
          <a:noFill/>
          <a:ln/>
        </p:spPr>
        <p:txBody>
          <a:bodyPr wrap="square" rtlCol="0" anchor="ctr"/>
          <a:lstStyle/>
          <a:p>
            <a:pPr marL="0" indent="0">
              <a:buNone/>
            </a:pPr>
            <a:r>
              <a:rPr lang="en-US" sz="850" kern="0" spc="120">
                <a:solidFill>
                  <a:srgbClr val="0171C1"/>
                </a:solidFill>
                <a:latin typeface="Gellix" pitchFamily="2" charset="77"/>
                <a:ea typeface="Calibri" pitchFamily="34" charset="-122"/>
                <a:cs typeface="Gellix" pitchFamily="2" charset="77"/>
              </a:rPr>
              <a:t>VECTOR 02</a:t>
            </a:r>
            <a:endParaRPr lang="en-US" sz="850">
              <a:solidFill>
                <a:srgbClr val="0171C1"/>
              </a:solidFill>
              <a:latin typeface="Gellix" pitchFamily="2" charset="77"/>
              <a:cs typeface="Gellix" pitchFamily="2" charset="77"/>
            </a:endParaRPr>
          </a:p>
        </p:txBody>
      </p:sp>
      <p:sp>
        <p:nvSpPr>
          <p:cNvPr id="29" name="Text 9">
            <a:extLst>
              <a:ext uri="{FF2B5EF4-FFF2-40B4-BE49-F238E27FC236}">
                <a16:creationId xmlns:a16="http://schemas.microsoft.com/office/drawing/2014/main" id="{D5288984-93F7-ED66-D8A9-4E189B5B4254}"/>
              </a:ext>
            </a:extLst>
          </p:cNvPr>
          <p:cNvSpPr/>
          <p:nvPr/>
        </p:nvSpPr>
        <p:spPr>
          <a:xfrm>
            <a:off x="4383580" y="3224228"/>
            <a:ext cx="3321087" cy="920142"/>
          </a:xfrm>
          <a:prstGeom prst="rect">
            <a:avLst/>
          </a:prstGeom>
          <a:noFill/>
          <a:ln/>
        </p:spPr>
        <p:txBody>
          <a:bodyPr wrap="square" rtlCol="0" anchor="ctr"/>
          <a:lstStyle/>
          <a:p>
            <a:pPr marL="0" indent="0">
              <a:lnSpc>
                <a:spcPct val="130000"/>
              </a:lnSpc>
              <a:buNone/>
            </a:pPr>
            <a:r>
              <a:rPr lang="en-US" sz="1050">
                <a:solidFill>
                  <a:srgbClr val="000045"/>
                </a:solidFill>
                <a:latin typeface="Gellix" pitchFamily="2" charset="77"/>
                <a:ea typeface="Calibri" pitchFamily="34" charset="-122"/>
                <a:cs typeface="Gellix" pitchFamily="2" charset="77"/>
              </a:rPr>
              <a:t>Move AI from experiments to enterprise-grade operating systems. Build full stack AI systems, operationalize responsibly, adopt ADLC alongside SDLC.</a:t>
            </a:r>
            <a:endParaRPr lang="en-US" sz="1050">
              <a:solidFill>
                <a:srgbClr val="000045"/>
              </a:solidFill>
              <a:latin typeface="Gellix" pitchFamily="2" charset="77"/>
              <a:cs typeface="Gellix" pitchFamily="2" charset="77"/>
            </a:endParaRPr>
          </a:p>
        </p:txBody>
      </p:sp>
      <p:sp>
        <p:nvSpPr>
          <p:cNvPr id="30" name="Shape 10">
            <a:extLst>
              <a:ext uri="{FF2B5EF4-FFF2-40B4-BE49-F238E27FC236}">
                <a16:creationId xmlns:a16="http://schemas.microsoft.com/office/drawing/2014/main" id="{72B75E72-F6C4-3A99-B012-6C218849F17D}"/>
              </a:ext>
            </a:extLst>
          </p:cNvPr>
          <p:cNvSpPr/>
          <p:nvPr/>
        </p:nvSpPr>
        <p:spPr>
          <a:xfrm>
            <a:off x="4355871" y="4267750"/>
            <a:ext cx="3251407" cy="0"/>
          </a:xfrm>
          <a:prstGeom prst="line">
            <a:avLst/>
          </a:prstGeom>
          <a:noFill/>
          <a:ln w="9525">
            <a:solidFill>
              <a:srgbClr val="BBBBBB"/>
            </a:solidFill>
            <a:prstDash val="solid"/>
          </a:ln>
        </p:spPr>
        <p:txBody>
          <a:bodyPr/>
          <a:lstStyle/>
          <a:p>
            <a:endParaRPr lang="en-US"/>
          </a:p>
        </p:txBody>
      </p:sp>
      <p:sp>
        <p:nvSpPr>
          <p:cNvPr id="34" name="Text 8">
            <a:extLst>
              <a:ext uri="{FF2B5EF4-FFF2-40B4-BE49-F238E27FC236}">
                <a16:creationId xmlns:a16="http://schemas.microsoft.com/office/drawing/2014/main" id="{CCD6B9B0-1939-581D-9B4F-49A709573A60}"/>
              </a:ext>
            </a:extLst>
          </p:cNvPr>
          <p:cNvSpPr/>
          <p:nvPr/>
        </p:nvSpPr>
        <p:spPr>
          <a:xfrm>
            <a:off x="4383579" y="4442832"/>
            <a:ext cx="3251407" cy="218559"/>
          </a:xfrm>
          <a:prstGeom prst="rect">
            <a:avLst/>
          </a:prstGeom>
          <a:noFill/>
          <a:ln/>
        </p:spPr>
        <p:txBody>
          <a:bodyPr wrap="square" rtlCol="0" anchor="ctr"/>
          <a:lstStyle/>
          <a:p>
            <a:pPr marL="0" indent="0">
              <a:buNone/>
            </a:pPr>
            <a:r>
              <a:rPr lang="en-US" sz="900">
                <a:solidFill>
                  <a:srgbClr val="0171C1"/>
                </a:solidFill>
                <a:latin typeface="Gellix" pitchFamily="2" charset="77"/>
                <a:cs typeface="Gellix" pitchFamily="2" charset="77"/>
              </a:rPr>
              <a:t>BUSINESS REINVENTION, SCALED AGENTIFICATION</a:t>
            </a:r>
          </a:p>
          <a:p>
            <a:r>
              <a:rPr lang="en-US" sz="900">
                <a:solidFill>
                  <a:srgbClr val="0171C1"/>
                </a:solidFill>
                <a:latin typeface="Gellix" pitchFamily="2" charset="77"/>
                <a:cs typeface="Gellix" pitchFamily="2" charset="77"/>
              </a:rPr>
              <a:t>EXAMPLE results from specific client work:</a:t>
            </a:r>
          </a:p>
        </p:txBody>
      </p:sp>
      <p:sp>
        <p:nvSpPr>
          <p:cNvPr id="35" name="Shape 4">
            <a:extLst>
              <a:ext uri="{FF2B5EF4-FFF2-40B4-BE49-F238E27FC236}">
                <a16:creationId xmlns:a16="http://schemas.microsoft.com/office/drawing/2014/main" id="{CBEC0BBE-B51C-6175-CA74-7C377481016A}"/>
              </a:ext>
            </a:extLst>
          </p:cNvPr>
          <p:cNvSpPr/>
          <p:nvPr/>
        </p:nvSpPr>
        <p:spPr>
          <a:xfrm>
            <a:off x="7924800" y="1925780"/>
            <a:ext cx="3585689" cy="3903044"/>
          </a:xfrm>
          <a:prstGeom prst="rect">
            <a:avLst/>
          </a:prstGeom>
          <a:solidFill>
            <a:srgbClr val="F4F4F4"/>
          </a:solidFill>
          <a:ln w="9525">
            <a:noFill/>
            <a:prstDash val="solid"/>
          </a:ln>
        </p:spPr>
        <p:txBody>
          <a:bodyPr/>
          <a:lstStyle/>
          <a:p>
            <a:endParaRPr lang="en-US"/>
          </a:p>
        </p:txBody>
      </p:sp>
      <p:sp>
        <p:nvSpPr>
          <p:cNvPr id="37" name="Text 6">
            <a:extLst>
              <a:ext uri="{FF2B5EF4-FFF2-40B4-BE49-F238E27FC236}">
                <a16:creationId xmlns:a16="http://schemas.microsoft.com/office/drawing/2014/main" id="{E0F01CE7-28B2-177F-43C7-D689253F0ECB}"/>
              </a:ext>
            </a:extLst>
          </p:cNvPr>
          <p:cNvSpPr/>
          <p:nvPr/>
        </p:nvSpPr>
        <p:spPr>
          <a:xfrm>
            <a:off x="8061960" y="2017220"/>
            <a:ext cx="650281" cy="546396"/>
          </a:xfrm>
          <a:prstGeom prst="rect">
            <a:avLst/>
          </a:prstGeom>
          <a:noFill/>
          <a:ln/>
        </p:spPr>
        <p:txBody>
          <a:bodyPr wrap="square" rtlCol="0" anchor="ctr"/>
          <a:lstStyle/>
          <a:p>
            <a:pPr marL="0" indent="0">
              <a:buNone/>
            </a:pPr>
            <a:r>
              <a:rPr lang="en-US" sz="3200">
                <a:solidFill>
                  <a:srgbClr val="0171C1"/>
                </a:solidFill>
                <a:latin typeface="Gellix" pitchFamily="2" charset="77"/>
                <a:ea typeface="Calibri" pitchFamily="34" charset="-122"/>
                <a:cs typeface="Gellix" pitchFamily="2" charset="77"/>
              </a:rPr>
              <a:t>03</a:t>
            </a:r>
            <a:endParaRPr lang="en-US" sz="3200">
              <a:solidFill>
                <a:srgbClr val="0171C1"/>
              </a:solidFill>
              <a:latin typeface="Gellix" pitchFamily="2" charset="77"/>
              <a:cs typeface="Gellix" pitchFamily="2" charset="77"/>
            </a:endParaRPr>
          </a:p>
        </p:txBody>
      </p:sp>
      <p:sp>
        <p:nvSpPr>
          <p:cNvPr id="38" name="Text 7">
            <a:extLst>
              <a:ext uri="{FF2B5EF4-FFF2-40B4-BE49-F238E27FC236}">
                <a16:creationId xmlns:a16="http://schemas.microsoft.com/office/drawing/2014/main" id="{79CE2CD7-A25E-2DB4-3EB3-B874A76A96ED}"/>
              </a:ext>
            </a:extLst>
          </p:cNvPr>
          <p:cNvSpPr/>
          <p:nvPr/>
        </p:nvSpPr>
        <p:spPr>
          <a:xfrm>
            <a:off x="8061960" y="2584148"/>
            <a:ext cx="3251407" cy="377510"/>
          </a:xfrm>
          <a:prstGeom prst="rect">
            <a:avLst/>
          </a:prstGeom>
          <a:noFill/>
          <a:ln/>
        </p:spPr>
        <p:txBody>
          <a:bodyPr wrap="square" rtlCol="0" anchor="ctr"/>
          <a:lstStyle/>
          <a:p>
            <a:pPr marL="0" indent="0">
              <a:buNone/>
            </a:pPr>
            <a:r>
              <a:rPr lang="en-US" sz="1600">
                <a:solidFill>
                  <a:srgbClr val="000045"/>
                </a:solidFill>
                <a:latin typeface="Gellix" pitchFamily="2" charset="77"/>
                <a:ea typeface="Calibri" pitchFamily="34" charset="-122"/>
                <a:cs typeface="Gellix" pitchFamily="2" charset="77"/>
              </a:rPr>
              <a:t>Agentifying the Enterprise</a:t>
            </a:r>
          </a:p>
        </p:txBody>
      </p:sp>
      <p:sp>
        <p:nvSpPr>
          <p:cNvPr id="39" name="Text 8">
            <a:extLst>
              <a:ext uri="{FF2B5EF4-FFF2-40B4-BE49-F238E27FC236}">
                <a16:creationId xmlns:a16="http://schemas.microsoft.com/office/drawing/2014/main" id="{7B2D1D39-0599-ECDB-55F0-A8726CB9C3FC}"/>
              </a:ext>
            </a:extLst>
          </p:cNvPr>
          <p:cNvSpPr/>
          <p:nvPr/>
        </p:nvSpPr>
        <p:spPr>
          <a:xfrm>
            <a:off x="8061960" y="2949908"/>
            <a:ext cx="3251407" cy="218559"/>
          </a:xfrm>
          <a:prstGeom prst="rect">
            <a:avLst/>
          </a:prstGeom>
          <a:noFill/>
          <a:ln/>
        </p:spPr>
        <p:txBody>
          <a:bodyPr wrap="square" rtlCol="0" anchor="ctr"/>
          <a:lstStyle/>
          <a:p>
            <a:pPr marL="0" indent="0">
              <a:buNone/>
            </a:pPr>
            <a:r>
              <a:rPr lang="en-US" sz="850" kern="0" spc="120">
                <a:solidFill>
                  <a:srgbClr val="0171C1"/>
                </a:solidFill>
                <a:latin typeface="Gellix" pitchFamily="2" charset="77"/>
                <a:ea typeface="Calibri" pitchFamily="34" charset="-122"/>
                <a:cs typeface="Gellix" pitchFamily="2" charset="77"/>
              </a:rPr>
              <a:t>VECTOR 03</a:t>
            </a:r>
            <a:endParaRPr lang="en-US" sz="850">
              <a:solidFill>
                <a:srgbClr val="0171C1"/>
              </a:solidFill>
              <a:latin typeface="Gellix" pitchFamily="2" charset="77"/>
              <a:cs typeface="Gellix" pitchFamily="2" charset="77"/>
            </a:endParaRPr>
          </a:p>
        </p:txBody>
      </p:sp>
      <p:sp>
        <p:nvSpPr>
          <p:cNvPr id="40" name="Text 9">
            <a:extLst>
              <a:ext uri="{FF2B5EF4-FFF2-40B4-BE49-F238E27FC236}">
                <a16:creationId xmlns:a16="http://schemas.microsoft.com/office/drawing/2014/main" id="{398D6B22-201B-9273-36AC-532792C1647E}"/>
              </a:ext>
            </a:extLst>
          </p:cNvPr>
          <p:cNvSpPr/>
          <p:nvPr/>
        </p:nvSpPr>
        <p:spPr>
          <a:xfrm>
            <a:off x="8045026" y="3105695"/>
            <a:ext cx="3251407" cy="920142"/>
          </a:xfrm>
          <a:prstGeom prst="rect">
            <a:avLst/>
          </a:prstGeom>
          <a:noFill/>
          <a:ln/>
        </p:spPr>
        <p:txBody>
          <a:bodyPr wrap="square" rtlCol="0" anchor="ctr"/>
          <a:lstStyle/>
          <a:p>
            <a:pPr marL="0" indent="0">
              <a:lnSpc>
                <a:spcPct val="130000"/>
              </a:lnSpc>
              <a:buNone/>
            </a:pPr>
            <a:r>
              <a:rPr lang="en-US" sz="1050">
                <a:solidFill>
                  <a:srgbClr val="000045"/>
                </a:solidFill>
                <a:latin typeface="Gellix" pitchFamily="2" charset="77"/>
                <a:ea typeface="Calibri" pitchFamily="34" charset="-122"/>
                <a:cs typeface="Gellix" pitchFamily="2" charset="77"/>
              </a:rPr>
              <a:t>End-to-end process agentification. New digital-labor-powered workflows. Services-as-software pricing. A fully hybrid human-agent workforce.</a:t>
            </a:r>
            <a:endParaRPr lang="en-US" sz="1050">
              <a:solidFill>
                <a:srgbClr val="000045"/>
              </a:solidFill>
              <a:latin typeface="Gellix" pitchFamily="2" charset="77"/>
              <a:cs typeface="Gellix" pitchFamily="2" charset="77"/>
            </a:endParaRPr>
          </a:p>
        </p:txBody>
      </p:sp>
      <p:sp>
        <p:nvSpPr>
          <p:cNvPr id="41" name="Shape 10">
            <a:extLst>
              <a:ext uri="{FF2B5EF4-FFF2-40B4-BE49-F238E27FC236}">
                <a16:creationId xmlns:a16="http://schemas.microsoft.com/office/drawing/2014/main" id="{EEF902B2-8A8A-072F-61FF-B8E1D129D574}"/>
              </a:ext>
            </a:extLst>
          </p:cNvPr>
          <p:cNvSpPr/>
          <p:nvPr/>
        </p:nvSpPr>
        <p:spPr>
          <a:xfrm>
            <a:off x="8034251" y="4267750"/>
            <a:ext cx="3251407" cy="0"/>
          </a:xfrm>
          <a:prstGeom prst="line">
            <a:avLst/>
          </a:prstGeom>
          <a:noFill/>
          <a:ln w="9525">
            <a:solidFill>
              <a:srgbClr val="BBBBBB"/>
            </a:solidFill>
            <a:prstDash val="solid"/>
          </a:ln>
        </p:spPr>
        <p:txBody>
          <a:bodyPr/>
          <a:lstStyle/>
          <a:p>
            <a:endParaRPr lang="en-US"/>
          </a:p>
        </p:txBody>
      </p:sp>
      <p:sp>
        <p:nvSpPr>
          <p:cNvPr id="45" name="Text 8">
            <a:extLst>
              <a:ext uri="{FF2B5EF4-FFF2-40B4-BE49-F238E27FC236}">
                <a16:creationId xmlns:a16="http://schemas.microsoft.com/office/drawing/2014/main" id="{5D704383-32D1-8DBF-8D0A-1CE78BBCC065}"/>
              </a:ext>
            </a:extLst>
          </p:cNvPr>
          <p:cNvSpPr/>
          <p:nvPr/>
        </p:nvSpPr>
        <p:spPr>
          <a:xfrm>
            <a:off x="8053780" y="4393750"/>
            <a:ext cx="3251407" cy="218559"/>
          </a:xfrm>
          <a:prstGeom prst="rect">
            <a:avLst/>
          </a:prstGeom>
          <a:noFill/>
          <a:ln/>
        </p:spPr>
        <p:txBody>
          <a:bodyPr wrap="square" rtlCol="0" anchor="ctr"/>
          <a:lstStyle/>
          <a:p>
            <a:pPr marL="0" indent="0">
              <a:buNone/>
            </a:pPr>
            <a:r>
              <a:rPr lang="en-US" sz="900">
                <a:solidFill>
                  <a:srgbClr val="0171C1"/>
                </a:solidFill>
                <a:latin typeface="Gellix" pitchFamily="2" charset="77"/>
                <a:cs typeface="Gellix" pitchFamily="2" charset="77"/>
              </a:rPr>
              <a:t>LARGE SCALE AGENTIFICATION, NEW VALUE SOURCES</a:t>
            </a:r>
          </a:p>
          <a:p>
            <a:r>
              <a:rPr lang="en-US" sz="900">
                <a:solidFill>
                  <a:srgbClr val="0171C1"/>
                </a:solidFill>
                <a:latin typeface="Gellix" pitchFamily="2" charset="77"/>
                <a:cs typeface="Gellix" pitchFamily="2" charset="77"/>
              </a:rPr>
              <a:t>EXAMPLE results from specific client work: </a:t>
            </a:r>
          </a:p>
        </p:txBody>
      </p:sp>
      <p:sp>
        <p:nvSpPr>
          <p:cNvPr id="47" name="Text 25">
            <a:extLst>
              <a:ext uri="{FF2B5EF4-FFF2-40B4-BE49-F238E27FC236}">
                <a16:creationId xmlns:a16="http://schemas.microsoft.com/office/drawing/2014/main" id="{2C82BE0A-00C9-70C9-56FB-F2CBF97F152A}"/>
              </a:ext>
            </a:extLst>
          </p:cNvPr>
          <p:cNvSpPr/>
          <p:nvPr/>
        </p:nvSpPr>
        <p:spPr>
          <a:xfrm>
            <a:off x="4443305" y="4748743"/>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400+ platform deployments</a:t>
            </a:r>
            <a:endParaRPr lang="en-US" sz="950">
              <a:latin typeface="Gellix" pitchFamily="2" charset="77"/>
              <a:cs typeface="Gellix" pitchFamily="2" charset="77"/>
            </a:endParaRPr>
          </a:p>
        </p:txBody>
      </p:sp>
      <p:sp>
        <p:nvSpPr>
          <p:cNvPr id="48" name="Text 26">
            <a:extLst>
              <a:ext uri="{FF2B5EF4-FFF2-40B4-BE49-F238E27FC236}">
                <a16:creationId xmlns:a16="http://schemas.microsoft.com/office/drawing/2014/main" id="{FCC97281-5ED6-F305-186D-22E3AF2B28EE}"/>
              </a:ext>
            </a:extLst>
          </p:cNvPr>
          <p:cNvSpPr/>
          <p:nvPr/>
        </p:nvSpPr>
        <p:spPr>
          <a:xfrm>
            <a:off x="4443305" y="5055033"/>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Context engineering at scale</a:t>
            </a:r>
            <a:endParaRPr lang="en-US" sz="950">
              <a:latin typeface="Gellix" pitchFamily="2" charset="77"/>
              <a:cs typeface="Gellix" pitchFamily="2" charset="77"/>
            </a:endParaRPr>
          </a:p>
        </p:txBody>
      </p:sp>
      <p:sp>
        <p:nvSpPr>
          <p:cNvPr id="49" name="Text 36">
            <a:extLst>
              <a:ext uri="{FF2B5EF4-FFF2-40B4-BE49-F238E27FC236}">
                <a16:creationId xmlns:a16="http://schemas.microsoft.com/office/drawing/2014/main" id="{3DC03F60-A606-DC92-58A9-A7364CB4E1E6}"/>
              </a:ext>
            </a:extLst>
          </p:cNvPr>
          <p:cNvSpPr/>
          <p:nvPr/>
        </p:nvSpPr>
        <p:spPr>
          <a:xfrm>
            <a:off x="8070088" y="4750138"/>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Near-zero call abandonment</a:t>
            </a:r>
            <a:endParaRPr lang="en-US" sz="950">
              <a:latin typeface="Gellix" pitchFamily="2" charset="77"/>
              <a:cs typeface="Gellix" pitchFamily="2" charset="77"/>
            </a:endParaRPr>
          </a:p>
        </p:txBody>
      </p:sp>
      <p:sp>
        <p:nvSpPr>
          <p:cNvPr id="50" name="Text 37">
            <a:extLst>
              <a:ext uri="{FF2B5EF4-FFF2-40B4-BE49-F238E27FC236}">
                <a16:creationId xmlns:a16="http://schemas.microsoft.com/office/drawing/2014/main" id="{8E7410CD-718F-4DE5-4ADE-AC22B83B3706}"/>
              </a:ext>
            </a:extLst>
          </p:cNvPr>
          <p:cNvSpPr/>
          <p:nvPr/>
        </p:nvSpPr>
        <p:spPr>
          <a:xfrm>
            <a:off x="8070088" y="5058324"/>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90s order response (from 5 days)</a:t>
            </a:r>
            <a:endParaRPr lang="en-US" sz="950">
              <a:latin typeface="Gellix" pitchFamily="2" charset="77"/>
              <a:cs typeface="Gellix" pitchFamily="2" charset="77"/>
            </a:endParaRPr>
          </a:p>
        </p:txBody>
      </p:sp>
      <p:sp>
        <p:nvSpPr>
          <p:cNvPr id="51" name="Text 38">
            <a:extLst>
              <a:ext uri="{FF2B5EF4-FFF2-40B4-BE49-F238E27FC236}">
                <a16:creationId xmlns:a16="http://schemas.microsoft.com/office/drawing/2014/main" id="{431FBBB3-C8A4-F52E-0C88-709BF4DE30F6}"/>
              </a:ext>
            </a:extLst>
          </p:cNvPr>
          <p:cNvSpPr/>
          <p:nvPr/>
        </p:nvSpPr>
        <p:spPr>
          <a:xfrm>
            <a:off x="8070088" y="5349577"/>
            <a:ext cx="2514600" cy="246888"/>
          </a:xfrm>
          <a:prstGeom prst="rect">
            <a:avLst/>
          </a:prstGeom>
          <a:noFill/>
          <a:ln/>
        </p:spPr>
        <p:txBody>
          <a:bodyPr wrap="square" rtlCol="0" anchor="ctr"/>
          <a:lstStyle/>
          <a:p>
            <a:pPr marL="0" indent="0">
              <a:buNone/>
            </a:pPr>
            <a:r>
              <a:rPr lang="en-US" sz="950">
                <a:solidFill>
                  <a:srgbClr val="222222"/>
                </a:solidFill>
                <a:latin typeface="Gellix" pitchFamily="2" charset="77"/>
                <a:ea typeface="Calibri" pitchFamily="34" charset="-122"/>
                <a:cs typeface="Gellix" pitchFamily="2" charset="77"/>
              </a:rPr>
              <a:t>• 1.6× AI investment returns</a:t>
            </a:r>
            <a:endParaRPr lang="en-US" sz="950">
              <a:latin typeface="Gellix" pitchFamily="2" charset="77"/>
              <a:cs typeface="Gellix" pitchFamily="2" charset="77"/>
            </a:endParaRPr>
          </a:p>
        </p:txBody>
      </p:sp>
      <p:sp>
        <p:nvSpPr>
          <p:cNvPr id="53" name="Text 15">
            <a:extLst>
              <a:ext uri="{FF2B5EF4-FFF2-40B4-BE49-F238E27FC236}">
                <a16:creationId xmlns:a16="http://schemas.microsoft.com/office/drawing/2014/main" id="{93446889-2A27-52FB-2223-B4BF1BFD457D}"/>
              </a:ext>
            </a:extLst>
          </p:cNvPr>
          <p:cNvSpPr/>
          <p:nvPr/>
        </p:nvSpPr>
        <p:spPr>
          <a:xfrm>
            <a:off x="3950208" y="2157984"/>
            <a:ext cx="566928" cy="365760"/>
          </a:xfrm>
          <a:prstGeom prst="rect">
            <a:avLst/>
          </a:prstGeom>
          <a:noFill/>
          <a:ln/>
        </p:spPr>
        <p:txBody>
          <a:bodyPr wrap="square" rtlCol="0" anchor="ctr"/>
          <a:lstStyle/>
          <a:p>
            <a:pPr algn="ctr" defTabSz="914400"/>
            <a:r>
              <a:rPr lang="en-US">
                <a:solidFill>
                  <a:srgbClr val="888888"/>
                </a:solidFill>
                <a:latin typeface="Calibri" pitchFamily="34" charset="0"/>
                <a:ea typeface="Calibri" pitchFamily="34" charset="-122"/>
                <a:cs typeface="Calibri" pitchFamily="34" charset="-120"/>
              </a:rPr>
              <a:t>→</a:t>
            </a:r>
            <a:endParaRPr lang="en-US">
              <a:solidFill>
                <a:prstClr val="black"/>
              </a:solidFill>
              <a:latin typeface="Calibri" panose="020F0502020204030204"/>
            </a:endParaRPr>
          </a:p>
        </p:txBody>
      </p:sp>
      <p:sp>
        <p:nvSpPr>
          <p:cNvPr id="54" name="Text 15">
            <a:extLst>
              <a:ext uri="{FF2B5EF4-FFF2-40B4-BE49-F238E27FC236}">
                <a16:creationId xmlns:a16="http://schemas.microsoft.com/office/drawing/2014/main" id="{2329D24B-FE6A-334F-C35A-D9549A5E7DCA}"/>
              </a:ext>
            </a:extLst>
          </p:cNvPr>
          <p:cNvSpPr/>
          <p:nvPr/>
        </p:nvSpPr>
        <p:spPr>
          <a:xfrm>
            <a:off x="7641336" y="2164080"/>
            <a:ext cx="566928" cy="365760"/>
          </a:xfrm>
          <a:prstGeom prst="rect">
            <a:avLst/>
          </a:prstGeom>
          <a:noFill/>
          <a:ln/>
        </p:spPr>
        <p:txBody>
          <a:bodyPr wrap="square" rtlCol="0" anchor="ctr"/>
          <a:lstStyle/>
          <a:p>
            <a:pPr algn="ctr" defTabSz="914400"/>
            <a:r>
              <a:rPr lang="en-US">
                <a:solidFill>
                  <a:srgbClr val="888888"/>
                </a:solidFill>
                <a:latin typeface="Calibri" pitchFamily="34" charset="0"/>
                <a:ea typeface="Calibri" pitchFamily="34" charset="-122"/>
                <a:cs typeface="Calibri" pitchFamily="34" charset="-120"/>
              </a:rPr>
              <a:t>→</a:t>
            </a:r>
            <a:endParaRPr lang="en-US">
              <a:solidFill>
                <a:prstClr val="black"/>
              </a:solidFill>
              <a:latin typeface="Calibri" panose="020F0502020204030204"/>
            </a:endParaRPr>
          </a:p>
        </p:txBody>
      </p:sp>
      <p:sp>
        <p:nvSpPr>
          <p:cNvPr id="55" name="Slide Number Placeholder 8">
            <a:extLst>
              <a:ext uri="{FF2B5EF4-FFF2-40B4-BE49-F238E27FC236}">
                <a16:creationId xmlns:a16="http://schemas.microsoft.com/office/drawing/2014/main" id="{3F6CD0FD-9B73-7A6D-4A50-4DADF48A1816}"/>
              </a:ext>
            </a:extLst>
          </p:cNvPr>
          <p:cNvSpPr txBox="1">
            <a:spLocks/>
          </p:cNvSpPr>
          <p:nvPr/>
        </p:nvSpPr>
        <p:spPr>
          <a:xfrm>
            <a:off x="428292" y="6438623"/>
            <a:ext cx="504395" cy="30521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4</a:t>
            </a:fld>
            <a:endParaRPr lang="en-US" sz="1100">
              <a:solidFill>
                <a:schemeClr val="tx1">
                  <a:lumMod val="50000"/>
                  <a:lumOff val="50000"/>
                </a:schemeClr>
              </a:solidFill>
              <a:latin typeface="Gellix Light" pitchFamily="2" charset="77"/>
              <a:cs typeface="Gellix Light" pitchFamily="2" charset="77"/>
            </a:endParaRPr>
          </a:p>
        </p:txBody>
      </p:sp>
      <p:pic>
        <p:nvPicPr>
          <p:cNvPr id="56" name="Picture 55" descr="A blue text on a black background&#10;&#10;Description automatically generated">
            <a:extLst>
              <a:ext uri="{FF2B5EF4-FFF2-40B4-BE49-F238E27FC236}">
                <a16:creationId xmlns:a16="http://schemas.microsoft.com/office/drawing/2014/main" id="{1F619990-A100-1D46-7805-FC0C5331D8CF}"/>
              </a:ext>
            </a:extLst>
          </p:cNvPr>
          <p:cNvPicPr>
            <a:picLocks noChangeAspect="1"/>
          </p:cNvPicPr>
          <p:nvPr/>
        </p:nvPicPr>
        <p:blipFill>
          <a:blip r:embed="rId2"/>
          <a:stretch>
            <a:fillRect/>
          </a:stretch>
        </p:blipFill>
        <p:spPr>
          <a:xfrm>
            <a:off x="10725682" y="6495222"/>
            <a:ext cx="974900" cy="174670"/>
          </a:xfrm>
          <a:prstGeom prst="rect">
            <a:avLst/>
          </a:prstGeom>
        </p:spPr>
      </p:pic>
      <p:sp>
        <p:nvSpPr>
          <p:cNvPr id="57" name="Text 5">
            <a:extLst>
              <a:ext uri="{FF2B5EF4-FFF2-40B4-BE49-F238E27FC236}">
                <a16:creationId xmlns:a16="http://schemas.microsoft.com/office/drawing/2014/main" id="{2B4588F1-4868-3F63-5CD5-E04B0F547D85}"/>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2" name="Title 1">
            <a:extLst>
              <a:ext uri="{FF2B5EF4-FFF2-40B4-BE49-F238E27FC236}">
                <a16:creationId xmlns:a16="http://schemas.microsoft.com/office/drawing/2014/main" id="{EE26A812-2183-33D2-5E61-FA2CC087851E}"/>
              </a:ext>
            </a:extLst>
          </p:cNvPr>
          <p:cNvSpPr>
            <a:spLocks noGrp="1"/>
          </p:cNvSpPr>
          <p:nvPr>
            <p:ph type="title"/>
          </p:nvPr>
        </p:nvSpPr>
        <p:spPr>
          <a:xfrm>
            <a:off x="457200" y="457200"/>
            <a:ext cx="11277600" cy="332399"/>
          </a:xfrm>
        </p:spPr>
        <p:txBody>
          <a:bodyPr/>
          <a:lstStyle/>
          <a:p>
            <a:r>
              <a:rPr lang="en-US">
                <a:solidFill>
                  <a:srgbClr val="000045"/>
                </a:solidFill>
                <a:latin typeface="Gellix" pitchFamily="2" charset="77"/>
                <a:cs typeface="Gellix" pitchFamily="2" charset="77"/>
              </a:rPr>
              <a:t>Three vectors of AI-Led transformation for enterprises</a:t>
            </a:r>
            <a:endParaRPr lang="en-US"/>
          </a:p>
        </p:txBody>
      </p:sp>
      <p:sp>
        <p:nvSpPr>
          <p:cNvPr id="3" name="TextBox 2">
            <a:extLst>
              <a:ext uri="{FF2B5EF4-FFF2-40B4-BE49-F238E27FC236}">
                <a16:creationId xmlns:a16="http://schemas.microsoft.com/office/drawing/2014/main" id="{8EF6E19A-E314-44D8-387C-AEB320D641E3}"/>
              </a:ext>
            </a:extLst>
          </p:cNvPr>
          <p:cNvSpPr txBox="1"/>
          <p:nvPr/>
        </p:nvSpPr>
        <p:spPr>
          <a:xfrm>
            <a:off x="1753849" y="1184223"/>
            <a:ext cx="0" cy="0"/>
          </a:xfrm>
          <a:prstGeom prst="rect">
            <a:avLst/>
          </a:prstGeom>
          <a:noFill/>
        </p:spPr>
        <p:txBody>
          <a:bodyPr wrap="none" lIns="0" tIns="0" rIns="0" bIns="0" rtlCol="0">
            <a:noAutofit/>
          </a:bodyPr>
          <a:lstStyle/>
          <a:p>
            <a:pPr algn="l">
              <a:lnSpc>
                <a:spcPct val="110000"/>
              </a:lnSpc>
              <a:spcBef>
                <a:spcPts val="600"/>
              </a:spcBef>
              <a:spcAft>
                <a:spcPts val="0"/>
              </a:spcAft>
            </a:pPr>
            <a:endParaRPr lang="en-US" err="1"/>
          </a:p>
        </p:txBody>
      </p:sp>
    </p:spTree>
    <p:extLst>
      <p:ext uri="{BB962C8B-B14F-4D97-AF65-F5344CB8AC3E}">
        <p14:creationId xmlns:p14="http://schemas.microsoft.com/office/powerpoint/2010/main" val="1488433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lide Number Placeholder 4">
            <a:extLst>
              <a:ext uri="{FF2B5EF4-FFF2-40B4-BE49-F238E27FC236}">
                <a16:creationId xmlns:a16="http://schemas.microsoft.com/office/drawing/2014/main" id="{1E3DA7D4-572C-3377-6B40-0D4696D5B6C1}"/>
              </a:ext>
            </a:extLst>
          </p:cNvPr>
          <p:cNvSpPr txBox="1">
            <a:spLocks/>
          </p:cNvSpPr>
          <p:nvPr/>
        </p:nvSpPr>
        <p:spPr>
          <a:xfrm>
            <a:off x="9056370" y="6374447"/>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1B95D35-DD53-0442-BAEB-773F9797755E}" type="slidenum">
              <a:rPr lang="en-US" sz="1000" smtClean="0">
                <a:solidFill>
                  <a:schemeClr val="bg1">
                    <a:lumMod val="65000"/>
                    <a:lumOff val="35000"/>
                  </a:schemeClr>
                </a:solidFill>
                <a:latin typeface="Gellix" pitchFamily="2" charset="77"/>
                <a:cs typeface="Gellix" pitchFamily="2" charset="77"/>
              </a:rPr>
              <a:pPr/>
              <a:t>5</a:t>
            </a:fld>
            <a:endParaRPr lang="en-US" sz="1000">
              <a:solidFill>
                <a:schemeClr val="bg1">
                  <a:lumMod val="65000"/>
                  <a:lumOff val="35000"/>
                </a:schemeClr>
              </a:solidFill>
              <a:latin typeface="Gellix" pitchFamily="2" charset="77"/>
              <a:cs typeface="Gellix" pitchFamily="2" charset="77"/>
            </a:endParaRPr>
          </a:p>
        </p:txBody>
      </p:sp>
      <p:sp>
        <p:nvSpPr>
          <p:cNvPr id="98" name="Text 5">
            <a:extLst>
              <a:ext uri="{FF2B5EF4-FFF2-40B4-BE49-F238E27FC236}">
                <a16:creationId xmlns:a16="http://schemas.microsoft.com/office/drawing/2014/main" id="{19CFDA69-C944-9FD5-E9E5-1B317B5F1E07}"/>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99" name="Slide Number Placeholder 8">
            <a:extLst>
              <a:ext uri="{FF2B5EF4-FFF2-40B4-BE49-F238E27FC236}">
                <a16:creationId xmlns:a16="http://schemas.microsoft.com/office/drawing/2014/main" id="{94DE8411-726F-4624-24F5-DDBA93AB3275}"/>
              </a:ext>
            </a:extLst>
          </p:cNvPr>
          <p:cNvSpPr txBox="1">
            <a:spLocks/>
          </p:cNvSpPr>
          <p:nvPr/>
        </p:nvSpPr>
        <p:spPr>
          <a:xfrm>
            <a:off x="428293" y="6424768"/>
            <a:ext cx="328448" cy="312464"/>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5</a:t>
            </a:fld>
            <a:endParaRPr lang="en-US" sz="1100">
              <a:solidFill>
                <a:schemeClr val="tx1">
                  <a:lumMod val="50000"/>
                  <a:lumOff val="50000"/>
                </a:schemeClr>
              </a:solidFill>
              <a:latin typeface="Gellix Light" pitchFamily="2" charset="77"/>
              <a:cs typeface="Gellix Light" pitchFamily="2" charset="77"/>
            </a:endParaRPr>
          </a:p>
        </p:txBody>
      </p:sp>
      <p:pic>
        <p:nvPicPr>
          <p:cNvPr id="100" name="Picture 99" descr="A blue text on a black background&#10;&#10;Description automatically generated">
            <a:extLst>
              <a:ext uri="{FF2B5EF4-FFF2-40B4-BE49-F238E27FC236}">
                <a16:creationId xmlns:a16="http://schemas.microsoft.com/office/drawing/2014/main" id="{2101AC17-B49B-C29D-621E-1B4931F9786C}"/>
              </a:ext>
            </a:extLst>
          </p:cNvPr>
          <p:cNvPicPr>
            <a:picLocks noChangeAspect="1"/>
          </p:cNvPicPr>
          <p:nvPr/>
        </p:nvPicPr>
        <p:blipFill>
          <a:blip r:embed="rId3"/>
          <a:stretch>
            <a:fillRect/>
          </a:stretch>
        </p:blipFill>
        <p:spPr>
          <a:xfrm>
            <a:off x="10725682" y="6495222"/>
            <a:ext cx="974900" cy="174670"/>
          </a:xfrm>
          <a:prstGeom prst="rect">
            <a:avLst/>
          </a:prstGeom>
        </p:spPr>
      </p:pic>
      <p:pic>
        <p:nvPicPr>
          <p:cNvPr id="101" name="Image" descr="Image">
            <a:extLst>
              <a:ext uri="{FF2B5EF4-FFF2-40B4-BE49-F238E27FC236}">
                <a16:creationId xmlns:a16="http://schemas.microsoft.com/office/drawing/2014/main" id="{FED18D82-D2A4-26D9-106A-6F0027215417}"/>
              </a:ext>
            </a:extLst>
          </p:cNvPr>
          <p:cNvPicPr>
            <a:picLocks noChangeAspect="1"/>
          </p:cNvPicPr>
          <p:nvPr/>
        </p:nvPicPr>
        <p:blipFill>
          <a:blip r:embed="rId4"/>
          <a:srcRect t="14071" r="40730" b="27077"/>
          <a:stretch>
            <a:fillRect/>
          </a:stretch>
        </p:blipFill>
        <p:spPr>
          <a:xfrm>
            <a:off x="8286089" y="2923831"/>
            <a:ext cx="2304331" cy="2174622"/>
          </a:xfrm>
          <a:prstGeom prst="rect">
            <a:avLst/>
          </a:prstGeom>
          <a:ln w="12700">
            <a:miter lim="400000"/>
          </a:ln>
        </p:spPr>
      </p:pic>
      <p:sp>
        <p:nvSpPr>
          <p:cNvPr id="103" name="Enabling Hyperproductivity">
            <a:extLst>
              <a:ext uri="{FF2B5EF4-FFF2-40B4-BE49-F238E27FC236}">
                <a16:creationId xmlns:a16="http://schemas.microsoft.com/office/drawing/2014/main" id="{45A375CB-BF95-2973-957E-9BD336B7DFCE}"/>
              </a:ext>
            </a:extLst>
          </p:cNvPr>
          <p:cNvSpPr txBox="1"/>
          <p:nvPr/>
        </p:nvSpPr>
        <p:spPr>
          <a:xfrm>
            <a:off x="8488027" y="2056365"/>
            <a:ext cx="2119836" cy="54629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15965" tIns="115965" rIns="115965" bIns="115965" anchor="ctr"/>
          <a:lstStyle/>
          <a:p>
            <a:pPr algn="ctr" defTabSz="930765" hangingPunct="0">
              <a:defRPr sz="2400">
                <a:latin typeface="Gellix SemiBold"/>
                <a:ea typeface="Gellix SemiBold"/>
                <a:cs typeface="Gellix SemiBold"/>
                <a:sym typeface="Gellix SemiBold"/>
              </a:defRPr>
            </a:pPr>
            <a:r>
              <a:rPr sz="1200" kern="0">
                <a:solidFill>
                  <a:srgbClr val="000045"/>
                </a:solidFill>
                <a:latin typeface="Gellix SemiBold"/>
                <a:sym typeface="Gellix SemiBold"/>
              </a:rPr>
              <a:t>AI </a:t>
            </a:r>
            <a:r>
              <a:rPr lang="en-US" sz="1200" kern="0">
                <a:solidFill>
                  <a:srgbClr val="000045"/>
                </a:solidFill>
                <a:latin typeface="Gellix SemiBold"/>
                <a:sym typeface="Gellix SemiBold"/>
              </a:rPr>
              <a:t>B</a:t>
            </a:r>
            <a:r>
              <a:rPr sz="1200" kern="0">
                <a:solidFill>
                  <a:srgbClr val="000045"/>
                </a:solidFill>
                <a:latin typeface="Gellix SemiBold"/>
                <a:sym typeface="Gellix SemiBold"/>
              </a:rPr>
              <a:t>uilder</a:t>
            </a:r>
          </a:p>
          <a:p>
            <a:pPr algn="ctr" defTabSz="930765" hangingPunct="0">
              <a:defRPr sz="1600">
                <a:latin typeface="+mj-lt"/>
                <a:ea typeface="+mj-ea"/>
                <a:cs typeface="+mj-cs"/>
                <a:sym typeface="Gellix Light"/>
              </a:defRPr>
            </a:pPr>
            <a:r>
              <a:rPr sz="800" kern="0">
                <a:solidFill>
                  <a:srgbClr val="000045"/>
                </a:solidFill>
                <a:latin typeface="Gellix Light"/>
                <a:sym typeface="Gellix Light"/>
              </a:rPr>
              <a:t>AI-powered business value</a:t>
            </a:r>
          </a:p>
        </p:txBody>
      </p:sp>
      <p:sp>
        <p:nvSpPr>
          <p:cNvPr id="104" name="Non-linear model">
            <a:extLst>
              <a:ext uri="{FF2B5EF4-FFF2-40B4-BE49-F238E27FC236}">
                <a16:creationId xmlns:a16="http://schemas.microsoft.com/office/drawing/2014/main" id="{0A103701-FA34-E23D-8CCE-D20F3C14CE08}"/>
              </a:ext>
            </a:extLst>
          </p:cNvPr>
          <p:cNvSpPr txBox="1"/>
          <p:nvPr/>
        </p:nvSpPr>
        <p:spPr>
          <a:xfrm>
            <a:off x="7354030" y="5435405"/>
            <a:ext cx="939128" cy="181097"/>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algn="ctr" defTabSz="1861530">
              <a:lnSpc>
                <a:spcPct val="100000"/>
              </a:lnSpc>
              <a:spcBef>
                <a:spcPts val="0"/>
              </a:spcBef>
              <a:defRPr sz="1600">
                <a:latin typeface="Gellix SemiBold"/>
                <a:ea typeface="Gellix SemiBold"/>
                <a:cs typeface="Gellix SemiBold"/>
                <a:sym typeface="Gellix SemiBold"/>
              </a:defRPr>
            </a:lvl1pPr>
          </a:lstStyle>
          <a:p>
            <a:pPr defTabSz="930765" hangingPunct="0"/>
            <a:r>
              <a:rPr sz="800" kern="0">
                <a:solidFill>
                  <a:srgbClr val="000045"/>
                </a:solidFill>
              </a:rPr>
              <a:t>Non-linear model</a:t>
            </a:r>
          </a:p>
        </p:txBody>
      </p:sp>
      <p:sp>
        <p:nvSpPr>
          <p:cNvPr id="105" name="Line">
            <a:extLst>
              <a:ext uri="{FF2B5EF4-FFF2-40B4-BE49-F238E27FC236}">
                <a16:creationId xmlns:a16="http://schemas.microsoft.com/office/drawing/2014/main" id="{2571758C-22B7-AD03-93F7-52A2ED382CA4}"/>
              </a:ext>
            </a:extLst>
          </p:cNvPr>
          <p:cNvSpPr/>
          <p:nvPr/>
        </p:nvSpPr>
        <p:spPr>
          <a:xfrm>
            <a:off x="7559268" y="1832282"/>
            <a:ext cx="203179" cy="75459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0321"/>
                </a:lnTo>
                <a:lnTo>
                  <a:pt x="1208" y="21600"/>
                </a:lnTo>
              </a:path>
            </a:pathLst>
          </a:custGeom>
          <a:ln w="38100">
            <a:solidFill>
              <a:schemeClr val="accent5">
                <a:satOff val="-27714"/>
                <a:lumOff val="29411"/>
              </a:schemeClr>
            </a:solidFill>
            <a:miter lim="400000"/>
          </a:ln>
        </p:spPr>
        <p:txBody>
          <a:bodyPr lIns="28656" tIns="28656" rIns="28656" bIns="28656" anchor="ctr"/>
          <a:lstStyle/>
          <a:p>
            <a:pPr algn="ctr" defTabSz="552402" hangingPunct="0">
              <a:spcBef>
                <a:spcPts val="3850"/>
              </a:spcBef>
              <a:defRPr sz="14200"/>
            </a:pPr>
            <a:endParaRPr sz="7100" kern="0">
              <a:solidFill>
                <a:srgbClr val="FFFFFF"/>
              </a:solidFill>
              <a:latin typeface="Gellix Regular"/>
              <a:sym typeface="Gellix Regular"/>
            </a:endParaRPr>
          </a:p>
        </p:txBody>
      </p:sp>
      <p:sp>
        <p:nvSpPr>
          <p:cNvPr id="106" name="Software…">
            <a:extLst>
              <a:ext uri="{FF2B5EF4-FFF2-40B4-BE49-F238E27FC236}">
                <a16:creationId xmlns:a16="http://schemas.microsoft.com/office/drawing/2014/main" id="{1484B396-FAA9-E96B-65A3-790B25CB2AFC}"/>
              </a:ext>
            </a:extLst>
          </p:cNvPr>
          <p:cNvSpPr txBox="1"/>
          <p:nvPr/>
        </p:nvSpPr>
        <p:spPr>
          <a:xfrm>
            <a:off x="7193998" y="4241033"/>
            <a:ext cx="939128" cy="32971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p>
            <a:pPr algn="ct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Software</a:t>
            </a:r>
          </a:p>
          <a:p>
            <a:pPr algn="ct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companies</a:t>
            </a:r>
          </a:p>
        </p:txBody>
      </p:sp>
      <p:sp>
        <p:nvSpPr>
          <p:cNvPr id="107" name="System integrators">
            <a:extLst>
              <a:ext uri="{FF2B5EF4-FFF2-40B4-BE49-F238E27FC236}">
                <a16:creationId xmlns:a16="http://schemas.microsoft.com/office/drawing/2014/main" id="{BDB08FDB-AB65-2A09-46F5-B3558748CDD6}"/>
              </a:ext>
            </a:extLst>
          </p:cNvPr>
          <p:cNvSpPr txBox="1"/>
          <p:nvPr/>
        </p:nvSpPr>
        <p:spPr>
          <a:xfrm>
            <a:off x="7361728" y="3421498"/>
            <a:ext cx="600846" cy="311020"/>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algn="ctr" defTabSz="1861530">
              <a:lnSpc>
                <a:spcPct val="100000"/>
              </a:lnSpc>
              <a:spcBef>
                <a:spcPts val="0"/>
              </a:spcBef>
              <a:defRPr sz="1500">
                <a:latin typeface="Gellix SemiBold"/>
                <a:ea typeface="Gellix SemiBold"/>
                <a:cs typeface="Gellix SemiBold"/>
                <a:sym typeface="Gellix SemiBold"/>
              </a:defRPr>
            </a:lvl1pPr>
          </a:lstStyle>
          <a:p>
            <a:pPr defTabSz="930765" hangingPunct="0"/>
            <a:r>
              <a:rPr sz="900" kern="0">
                <a:solidFill>
                  <a:srgbClr val="000045"/>
                </a:solidFill>
              </a:rPr>
              <a:t>System integrators</a:t>
            </a:r>
          </a:p>
        </p:txBody>
      </p:sp>
      <p:sp>
        <p:nvSpPr>
          <p:cNvPr id="108" name="Business operations">
            <a:extLst>
              <a:ext uri="{FF2B5EF4-FFF2-40B4-BE49-F238E27FC236}">
                <a16:creationId xmlns:a16="http://schemas.microsoft.com/office/drawing/2014/main" id="{30921B92-8083-4133-65DA-1C889C0653A1}"/>
              </a:ext>
            </a:extLst>
          </p:cNvPr>
          <p:cNvSpPr txBox="1"/>
          <p:nvPr/>
        </p:nvSpPr>
        <p:spPr>
          <a:xfrm>
            <a:off x="10834362" y="3205204"/>
            <a:ext cx="772004" cy="311020"/>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defTabSz="1861530">
              <a:lnSpc>
                <a:spcPct val="100000"/>
              </a:lnSpc>
              <a:spcBef>
                <a:spcPts val="0"/>
              </a:spcBef>
              <a:defRPr sz="1500">
                <a:latin typeface="Gellix SemiBold"/>
                <a:ea typeface="Gellix SemiBold"/>
                <a:cs typeface="Gellix SemiBold"/>
                <a:sym typeface="Gellix SemiBold"/>
              </a:defRPr>
            </a:lvl1pPr>
          </a:lstStyle>
          <a:p>
            <a:pPr defTabSz="930765" hangingPunct="0"/>
            <a:r>
              <a:rPr sz="900" kern="0">
                <a:solidFill>
                  <a:srgbClr val="000045"/>
                </a:solidFill>
              </a:rPr>
              <a:t>Business operations</a:t>
            </a:r>
          </a:p>
        </p:txBody>
      </p:sp>
      <p:sp>
        <p:nvSpPr>
          <p:cNvPr id="109" name="Agent…">
            <a:extLst>
              <a:ext uri="{FF2B5EF4-FFF2-40B4-BE49-F238E27FC236}">
                <a16:creationId xmlns:a16="http://schemas.microsoft.com/office/drawing/2014/main" id="{43678EF7-DE20-DE6D-0440-FB0074B4FF1D}"/>
              </a:ext>
            </a:extLst>
          </p:cNvPr>
          <p:cNvSpPr txBox="1"/>
          <p:nvPr/>
        </p:nvSpPr>
        <p:spPr>
          <a:xfrm>
            <a:off x="10834362" y="3661999"/>
            <a:ext cx="772004" cy="290998"/>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p>
            <a:pP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Agent</a:t>
            </a:r>
          </a:p>
          <a:p>
            <a:pP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orchestration</a:t>
            </a:r>
          </a:p>
        </p:txBody>
      </p:sp>
      <p:sp>
        <p:nvSpPr>
          <p:cNvPr id="110" name="Context…">
            <a:extLst>
              <a:ext uri="{FF2B5EF4-FFF2-40B4-BE49-F238E27FC236}">
                <a16:creationId xmlns:a16="http://schemas.microsoft.com/office/drawing/2014/main" id="{64171CBB-23C9-4489-FBEC-DFF598D7F615}"/>
              </a:ext>
            </a:extLst>
          </p:cNvPr>
          <p:cNvSpPr txBox="1"/>
          <p:nvPr/>
        </p:nvSpPr>
        <p:spPr>
          <a:xfrm>
            <a:off x="10834362" y="4098154"/>
            <a:ext cx="772004" cy="28641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p>
            <a:pP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Context</a:t>
            </a:r>
          </a:p>
          <a:p>
            <a:pP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applications</a:t>
            </a:r>
          </a:p>
        </p:txBody>
      </p:sp>
      <p:sp>
        <p:nvSpPr>
          <p:cNvPr id="111" name="AI infrastructure">
            <a:extLst>
              <a:ext uri="{FF2B5EF4-FFF2-40B4-BE49-F238E27FC236}">
                <a16:creationId xmlns:a16="http://schemas.microsoft.com/office/drawing/2014/main" id="{88BF10C5-C3A7-FB30-A12C-1C964999134D}"/>
              </a:ext>
            </a:extLst>
          </p:cNvPr>
          <p:cNvSpPr txBox="1"/>
          <p:nvPr/>
        </p:nvSpPr>
        <p:spPr>
          <a:xfrm>
            <a:off x="10834362" y="4542076"/>
            <a:ext cx="772004" cy="181097"/>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defTabSz="1861530">
              <a:lnSpc>
                <a:spcPct val="100000"/>
              </a:lnSpc>
              <a:spcBef>
                <a:spcPts val="0"/>
              </a:spcBef>
              <a:defRPr sz="1500">
                <a:latin typeface="Gellix SemiBold"/>
                <a:ea typeface="Gellix SemiBold"/>
                <a:cs typeface="Gellix SemiBold"/>
                <a:sym typeface="Gellix SemiBold"/>
              </a:defRPr>
            </a:lvl1pPr>
          </a:lstStyle>
          <a:p>
            <a:pPr defTabSz="930765" hangingPunct="0"/>
            <a:r>
              <a:rPr sz="900" kern="0">
                <a:solidFill>
                  <a:srgbClr val="000045"/>
                </a:solidFill>
              </a:rPr>
              <a:t>AI infrastructure</a:t>
            </a:r>
          </a:p>
        </p:txBody>
      </p:sp>
      <p:sp>
        <p:nvSpPr>
          <p:cNvPr id="112" name="Rectangle">
            <a:extLst>
              <a:ext uri="{FF2B5EF4-FFF2-40B4-BE49-F238E27FC236}">
                <a16:creationId xmlns:a16="http://schemas.microsoft.com/office/drawing/2014/main" id="{D49F8B5D-441E-4A36-1703-BE45B6E488A9}"/>
              </a:ext>
            </a:extLst>
          </p:cNvPr>
          <p:cNvSpPr/>
          <p:nvPr/>
        </p:nvSpPr>
        <p:spPr>
          <a:xfrm flipH="1">
            <a:off x="8408033" y="5518470"/>
            <a:ext cx="2593170" cy="26804"/>
          </a:xfrm>
          <a:prstGeom prst="rect">
            <a:avLst/>
          </a:prstGeom>
          <a:gradFill>
            <a:gsLst>
              <a:gs pos="0">
                <a:srgbClr val="7FBDCF"/>
              </a:gs>
              <a:gs pos="100000">
                <a:srgbClr val="9AE0E3"/>
              </a:gs>
            </a:gsLst>
            <a:lin ang="9970298"/>
          </a:gradFill>
          <a:ln w="3175">
            <a:miter lim="400000"/>
          </a:ln>
        </p:spPr>
        <p:txBody>
          <a:bodyPr lIns="28656" tIns="28656" rIns="28656" bIns="28656" anchor="ct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pic>
        <p:nvPicPr>
          <p:cNvPr id="113" name="Image" descr="Image">
            <a:extLst>
              <a:ext uri="{FF2B5EF4-FFF2-40B4-BE49-F238E27FC236}">
                <a16:creationId xmlns:a16="http://schemas.microsoft.com/office/drawing/2014/main" id="{6E44A442-3A25-6A91-1E70-1A4A99D09232}"/>
              </a:ext>
            </a:extLst>
          </p:cNvPr>
          <p:cNvPicPr>
            <a:picLocks noChangeAspect="1"/>
          </p:cNvPicPr>
          <p:nvPr/>
        </p:nvPicPr>
        <p:blipFill>
          <a:blip r:embed="rId5"/>
          <a:stretch>
            <a:fillRect/>
          </a:stretch>
        </p:blipFill>
        <p:spPr>
          <a:xfrm>
            <a:off x="9802199" y="4686874"/>
            <a:ext cx="569777" cy="178466"/>
          </a:xfrm>
          <a:prstGeom prst="rect">
            <a:avLst/>
          </a:prstGeom>
          <a:ln w="12700">
            <a:miter lim="400000"/>
          </a:ln>
        </p:spPr>
      </p:pic>
      <p:pic>
        <p:nvPicPr>
          <p:cNvPr id="114" name="Image" descr="Image">
            <a:extLst>
              <a:ext uri="{FF2B5EF4-FFF2-40B4-BE49-F238E27FC236}">
                <a16:creationId xmlns:a16="http://schemas.microsoft.com/office/drawing/2014/main" id="{4D353726-F853-2EB5-1E1A-347595FB19CF}"/>
              </a:ext>
            </a:extLst>
          </p:cNvPr>
          <p:cNvPicPr>
            <a:picLocks noChangeAspect="1"/>
          </p:cNvPicPr>
          <p:nvPr/>
        </p:nvPicPr>
        <p:blipFill>
          <a:blip r:embed="rId6"/>
          <a:stretch>
            <a:fillRect/>
          </a:stretch>
        </p:blipFill>
        <p:spPr>
          <a:xfrm>
            <a:off x="2467598" y="1785933"/>
            <a:ext cx="945524" cy="286411"/>
          </a:xfrm>
          <a:prstGeom prst="rect">
            <a:avLst/>
          </a:prstGeom>
          <a:ln w="12700">
            <a:miter lim="400000"/>
          </a:ln>
        </p:spPr>
      </p:pic>
      <p:sp>
        <p:nvSpPr>
          <p:cNvPr id="115" name="Enabling Hyperproductivity">
            <a:extLst>
              <a:ext uri="{FF2B5EF4-FFF2-40B4-BE49-F238E27FC236}">
                <a16:creationId xmlns:a16="http://schemas.microsoft.com/office/drawing/2014/main" id="{E1C3F4CA-44FC-8D56-5937-DA87E0405DC4}"/>
              </a:ext>
            </a:extLst>
          </p:cNvPr>
          <p:cNvSpPr txBox="1"/>
          <p:nvPr/>
        </p:nvSpPr>
        <p:spPr>
          <a:xfrm>
            <a:off x="1900737" y="2071114"/>
            <a:ext cx="1430314" cy="54629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15965" tIns="115965" rIns="115965" bIns="115965" anchor="ctr"/>
          <a:lstStyle/>
          <a:p>
            <a:pPr algn="ctr" defTabSz="930765" hangingPunct="0">
              <a:defRPr sz="2400">
                <a:latin typeface="Gellix SemiBold"/>
                <a:ea typeface="Gellix SemiBold"/>
                <a:cs typeface="Gellix SemiBold"/>
                <a:sym typeface="Gellix SemiBold"/>
              </a:defRPr>
            </a:pPr>
            <a:r>
              <a:rPr sz="1200" kern="0">
                <a:solidFill>
                  <a:srgbClr val="000045"/>
                </a:solidFill>
                <a:latin typeface="Gellix SemiBold"/>
                <a:sym typeface="Gellix SemiBold"/>
              </a:rPr>
              <a:t>System builder</a:t>
            </a:r>
          </a:p>
          <a:p>
            <a:pPr algn="ctr" defTabSz="930765" hangingPunct="0">
              <a:defRPr sz="1600">
                <a:latin typeface="+mj-lt"/>
                <a:ea typeface="+mj-ea"/>
                <a:cs typeface="+mj-cs"/>
                <a:sym typeface="Gellix Light"/>
              </a:defRPr>
            </a:pPr>
            <a:r>
              <a:rPr sz="800" kern="0">
                <a:solidFill>
                  <a:srgbClr val="000045"/>
                </a:solidFill>
                <a:latin typeface="Gellix Light"/>
                <a:sym typeface="Gellix Light"/>
              </a:rPr>
              <a:t>Technology focus</a:t>
            </a:r>
          </a:p>
        </p:txBody>
      </p:sp>
      <p:sp>
        <p:nvSpPr>
          <p:cNvPr id="116" name="IT and business operations">
            <a:extLst>
              <a:ext uri="{FF2B5EF4-FFF2-40B4-BE49-F238E27FC236}">
                <a16:creationId xmlns:a16="http://schemas.microsoft.com/office/drawing/2014/main" id="{23D5ABD5-1E3F-30F2-F64C-451C80064B3E}"/>
              </a:ext>
            </a:extLst>
          </p:cNvPr>
          <p:cNvSpPr txBox="1"/>
          <p:nvPr/>
        </p:nvSpPr>
        <p:spPr>
          <a:xfrm>
            <a:off x="489430" y="3205204"/>
            <a:ext cx="772004" cy="25814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algn="r" defTabSz="1861530">
              <a:lnSpc>
                <a:spcPct val="100000"/>
              </a:lnSpc>
              <a:spcBef>
                <a:spcPts val="0"/>
              </a:spcBef>
              <a:defRPr sz="1500">
                <a:latin typeface="Gellix SemiBold"/>
                <a:ea typeface="Gellix SemiBold"/>
                <a:cs typeface="Gellix SemiBold"/>
                <a:sym typeface="Gellix SemiBold"/>
              </a:defRPr>
            </a:lvl1pPr>
          </a:lstStyle>
          <a:p>
            <a:pPr defTabSz="930765" hangingPunct="0"/>
            <a:r>
              <a:rPr sz="900" kern="0">
                <a:solidFill>
                  <a:srgbClr val="000045"/>
                </a:solidFill>
              </a:rPr>
              <a:t>IT and business operations</a:t>
            </a:r>
          </a:p>
        </p:txBody>
      </p:sp>
      <p:sp>
        <p:nvSpPr>
          <p:cNvPr id="117" name="Application management">
            <a:extLst>
              <a:ext uri="{FF2B5EF4-FFF2-40B4-BE49-F238E27FC236}">
                <a16:creationId xmlns:a16="http://schemas.microsoft.com/office/drawing/2014/main" id="{F8B447D1-133C-2CF7-CD1C-68E7740E2305}"/>
              </a:ext>
            </a:extLst>
          </p:cNvPr>
          <p:cNvSpPr txBox="1"/>
          <p:nvPr/>
        </p:nvSpPr>
        <p:spPr>
          <a:xfrm>
            <a:off x="489430" y="3690145"/>
            <a:ext cx="772004" cy="290999"/>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algn="r" defTabSz="1861530">
              <a:lnSpc>
                <a:spcPct val="100000"/>
              </a:lnSpc>
              <a:spcBef>
                <a:spcPts val="0"/>
              </a:spcBef>
              <a:defRPr sz="1500">
                <a:latin typeface="Gellix SemiBold"/>
                <a:ea typeface="Gellix SemiBold"/>
                <a:cs typeface="Gellix SemiBold"/>
                <a:sym typeface="Gellix SemiBold"/>
              </a:defRPr>
            </a:lvl1pPr>
          </a:lstStyle>
          <a:p>
            <a:pPr defTabSz="930765" hangingPunct="0"/>
            <a:r>
              <a:rPr sz="900" kern="0">
                <a:solidFill>
                  <a:srgbClr val="000045"/>
                </a:solidFill>
              </a:rPr>
              <a:t>Application management</a:t>
            </a:r>
          </a:p>
        </p:txBody>
      </p:sp>
      <p:sp>
        <p:nvSpPr>
          <p:cNvPr id="118" name="Applications  and middleware">
            <a:extLst>
              <a:ext uri="{FF2B5EF4-FFF2-40B4-BE49-F238E27FC236}">
                <a16:creationId xmlns:a16="http://schemas.microsoft.com/office/drawing/2014/main" id="{53B3BEE2-41C2-8F54-43CE-0326B3AF5100}"/>
              </a:ext>
            </a:extLst>
          </p:cNvPr>
          <p:cNvSpPr txBox="1"/>
          <p:nvPr/>
        </p:nvSpPr>
        <p:spPr>
          <a:xfrm>
            <a:off x="489430" y="4124007"/>
            <a:ext cx="772004" cy="28641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p>
            <a:pPr algn="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Applications </a:t>
            </a:r>
            <a:br>
              <a:rPr sz="900" kern="0">
                <a:solidFill>
                  <a:srgbClr val="000045"/>
                </a:solidFill>
                <a:latin typeface="Gellix SemiBold"/>
                <a:sym typeface="Gellix SemiBold"/>
              </a:rPr>
            </a:br>
            <a:r>
              <a:rPr sz="900" kern="0">
                <a:solidFill>
                  <a:srgbClr val="000045"/>
                </a:solidFill>
                <a:latin typeface="Gellix SemiBold"/>
                <a:sym typeface="Gellix SemiBold"/>
              </a:rPr>
              <a:t>and middleware</a:t>
            </a:r>
          </a:p>
        </p:txBody>
      </p:sp>
      <p:sp>
        <p:nvSpPr>
          <p:cNvPr id="119" name="Infrastructure  and hardware">
            <a:extLst>
              <a:ext uri="{FF2B5EF4-FFF2-40B4-BE49-F238E27FC236}">
                <a16:creationId xmlns:a16="http://schemas.microsoft.com/office/drawing/2014/main" id="{CF500616-CC62-9FF7-5001-076245977F0F}"/>
              </a:ext>
            </a:extLst>
          </p:cNvPr>
          <p:cNvSpPr txBox="1"/>
          <p:nvPr/>
        </p:nvSpPr>
        <p:spPr>
          <a:xfrm>
            <a:off x="435752" y="4515272"/>
            <a:ext cx="772004" cy="329711"/>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p>
            <a:pPr algn="r" defTabSz="930765" hangingPunct="0">
              <a:defRPr sz="1500">
                <a:latin typeface="Gellix SemiBold"/>
                <a:ea typeface="Gellix SemiBold"/>
                <a:cs typeface="Gellix SemiBold"/>
                <a:sym typeface="Gellix SemiBold"/>
              </a:defRPr>
            </a:pPr>
            <a:r>
              <a:rPr sz="900" kern="0">
                <a:solidFill>
                  <a:srgbClr val="000045"/>
                </a:solidFill>
                <a:latin typeface="Gellix SemiBold"/>
                <a:sym typeface="Gellix SemiBold"/>
              </a:rPr>
              <a:t>Infrastructure </a:t>
            </a:r>
            <a:br>
              <a:rPr sz="900" kern="0">
                <a:solidFill>
                  <a:srgbClr val="000045"/>
                </a:solidFill>
                <a:latin typeface="Gellix SemiBold"/>
                <a:sym typeface="Gellix SemiBold"/>
              </a:rPr>
            </a:br>
            <a:r>
              <a:rPr sz="900" kern="0">
                <a:solidFill>
                  <a:srgbClr val="000045"/>
                </a:solidFill>
                <a:latin typeface="Gellix SemiBold"/>
                <a:sym typeface="Gellix SemiBold"/>
              </a:rPr>
              <a:t>and hardware</a:t>
            </a:r>
          </a:p>
        </p:txBody>
      </p:sp>
      <p:sp>
        <p:nvSpPr>
          <p:cNvPr id="120" name="ROI">
            <a:extLst>
              <a:ext uri="{FF2B5EF4-FFF2-40B4-BE49-F238E27FC236}">
                <a16:creationId xmlns:a16="http://schemas.microsoft.com/office/drawing/2014/main" id="{9B07B783-EC3E-7580-3AFC-DD05CEC85A4D}"/>
              </a:ext>
            </a:extLst>
          </p:cNvPr>
          <p:cNvSpPr txBox="1"/>
          <p:nvPr/>
        </p:nvSpPr>
        <p:spPr>
          <a:xfrm>
            <a:off x="743386" y="5435405"/>
            <a:ext cx="345991" cy="181097"/>
          </a:xfrm>
          <a:prstGeom prst="rect">
            <a:avLst/>
          </a:prstGeom>
          <a:ln w="3175">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28656" tIns="28656" rIns="28656" bIns="28656" anchor="ctr"/>
          <a:lstStyle>
            <a:lvl1pPr defTabSz="1861530">
              <a:lnSpc>
                <a:spcPct val="100000"/>
              </a:lnSpc>
              <a:spcBef>
                <a:spcPts val="0"/>
              </a:spcBef>
              <a:defRPr sz="1600">
                <a:latin typeface="Gellix SemiBold"/>
                <a:ea typeface="Gellix SemiBold"/>
                <a:cs typeface="Gellix SemiBold"/>
                <a:sym typeface="Gellix SemiBold"/>
              </a:defRPr>
            </a:lvl1pPr>
          </a:lstStyle>
          <a:p>
            <a:pPr defTabSz="930765" hangingPunct="0"/>
            <a:r>
              <a:rPr sz="800" kern="0">
                <a:solidFill>
                  <a:srgbClr val="000045"/>
                </a:solidFill>
              </a:rPr>
              <a:t>ROI</a:t>
            </a:r>
          </a:p>
        </p:txBody>
      </p:sp>
      <p:sp>
        <p:nvSpPr>
          <p:cNvPr id="121" name="Rectangle">
            <a:extLst>
              <a:ext uri="{FF2B5EF4-FFF2-40B4-BE49-F238E27FC236}">
                <a16:creationId xmlns:a16="http://schemas.microsoft.com/office/drawing/2014/main" id="{9ACD78C0-DE4F-0147-A73E-948B6934303C}"/>
              </a:ext>
            </a:extLst>
          </p:cNvPr>
          <p:cNvSpPr/>
          <p:nvPr/>
        </p:nvSpPr>
        <p:spPr>
          <a:xfrm flipH="1">
            <a:off x="1179437" y="5518470"/>
            <a:ext cx="2526624" cy="26805"/>
          </a:xfrm>
          <a:prstGeom prst="rect">
            <a:avLst/>
          </a:prstGeom>
          <a:gradFill>
            <a:gsLst>
              <a:gs pos="0">
                <a:srgbClr val="355E98"/>
              </a:gs>
              <a:gs pos="100000">
                <a:srgbClr val="4F80AB"/>
              </a:gs>
            </a:gsLst>
            <a:lin ang="9970298"/>
          </a:gradFill>
          <a:ln w="3175">
            <a:miter lim="400000"/>
          </a:ln>
        </p:spPr>
        <p:txBody>
          <a:bodyPr lIns="28656" tIns="28656" rIns="28656" bIns="28656" anchor="ct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grpSp>
        <p:nvGrpSpPr>
          <p:cNvPr id="122" name="Group">
            <a:extLst>
              <a:ext uri="{FF2B5EF4-FFF2-40B4-BE49-F238E27FC236}">
                <a16:creationId xmlns:a16="http://schemas.microsoft.com/office/drawing/2014/main" id="{2DACAAC9-A736-4AB0-0416-02A2D495E950}"/>
              </a:ext>
            </a:extLst>
          </p:cNvPr>
          <p:cNvGrpSpPr/>
          <p:nvPr/>
        </p:nvGrpSpPr>
        <p:grpSpPr>
          <a:xfrm>
            <a:off x="1475498" y="4367837"/>
            <a:ext cx="2366548" cy="666165"/>
            <a:chOff x="0" y="0"/>
            <a:chExt cx="4733094" cy="1332328"/>
          </a:xfrm>
        </p:grpSpPr>
        <p:sp>
          <p:nvSpPr>
            <p:cNvPr id="123" name="Shape">
              <a:extLst>
                <a:ext uri="{FF2B5EF4-FFF2-40B4-BE49-F238E27FC236}">
                  <a16:creationId xmlns:a16="http://schemas.microsoft.com/office/drawing/2014/main" id="{DA129263-5C36-3763-5900-40FBDC41D004}"/>
                </a:ext>
              </a:extLst>
            </p:cNvPr>
            <p:cNvSpPr/>
            <p:nvPr/>
          </p:nvSpPr>
          <p:spPr>
            <a:xfrm>
              <a:off x="1200" y="302118"/>
              <a:ext cx="2369658" cy="1030211"/>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8550"/>
                  </a:lnTo>
                  <a:lnTo>
                    <a:pt x="21600" y="21600"/>
                  </a:lnTo>
                  <a:lnTo>
                    <a:pt x="0" y="12417"/>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24" name="Shape">
              <a:extLst>
                <a:ext uri="{FF2B5EF4-FFF2-40B4-BE49-F238E27FC236}">
                  <a16:creationId xmlns:a16="http://schemas.microsoft.com/office/drawing/2014/main" id="{60F0AB64-1568-B2CC-C024-6DD72CAB655B}"/>
                </a:ext>
              </a:extLst>
            </p:cNvPr>
            <p:cNvSpPr/>
            <p:nvPr/>
          </p:nvSpPr>
          <p:spPr>
            <a:xfrm flipH="1">
              <a:off x="2363437" y="302118"/>
              <a:ext cx="2369658" cy="1028837"/>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8577"/>
                  </a:lnTo>
                  <a:lnTo>
                    <a:pt x="21600" y="21600"/>
                  </a:lnTo>
                  <a:lnTo>
                    <a:pt x="0" y="12264"/>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25" name="Shape">
              <a:extLst>
                <a:ext uri="{FF2B5EF4-FFF2-40B4-BE49-F238E27FC236}">
                  <a16:creationId xmlns:a16="http://schemas.microsoft.com/office/drawing/2014/main" id="{E9AAC4BD-3DB2-C185-7F03-ADD4E3837131}"/>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pic>
          <p:nvPicPr>
            <p:cNvPr id="126" name="Image" descr="Image">
              <a:extLst>
                <a:ext uri="{FF2B5EF4-FFF2-40B4-BE49-F238E27FC236}">
                  <a16:creationId xmlns:a16="http://schemas.microsoft.com/office/drawing/2014/main" id="{35B1EADA-DE9F-D5D3-CEDB-E78932B64653}"/>
                </a:ext>
              </a:extLst>
            </p:cNvPr>
            <p:cNvPicPr>
              <a:picLocks noChangeAspect="1"/>
            </p:cNvPicPr>
            <p:nvPr/>
          </p:nvPicPr>
          <p:blipFill>
            <a:blip r:embed="rId7"/>
            <a:stretch>
              <a:fillRect/>
            </a:stretch>
          </p:blipFill>
          <p:spPr>
            <a:xfrm>
              <a:off x="270455" y="580491"/>
              <a:ext cx="1777226" cy="473464"/>
            </a:xfrm>
            <a:prstGeom prst="rect">
              <a:avLst/>
            </a:prstGeom>
            <a:ln w="12700" cap="flat">
              <a:noFill/>
              <a:miter lim="400000"/>
            </a:ln>
            <a:effectLst/>
          </p:spPr>
        </p:pic>
        <p:pic>
          <p:nvPicPr>
            <p:cNvPr id="127" name="Image" descr="Image">
              <a:extLst>
                <a:ext uri="{FF2B5EF4-FFF2-40B4-BE49-F238E27FC236}">
                  <a16:creationId xmlns:a16="http://schemas.microsoft.com/office/drawing/2014/main" id="{07E037AA-E262-786F-B933-3BA4C026916A}"/>
                </a:ext>
              </a:extLst>
            </p:cNvPr>
            <p:cNvPicPr>
              <a:picLocks noChangeAspect="1"/>
            </p:cNvPicPr>
            <p:nvPr/>
          </p:nvPicPr>
          <p:blipFill>
            <a:blip r:embed="rId8"/>
            <a:srcRect/>
            <a:stretch>
              <a:fillRect/>
            </a:stretch>
          </p:blipFill>
          <p:spPr>
            <a:xfrm>
              <a:off x="2589402" y="541792"/>
              <a:ext cx="1971536" cy="524461"/>
            </a:xfrm>
            <a:prstGeom prst="rect">
              <a:avLst/>
            </a:prstGeom>
            <a:ln w="12700" cap="flat">
              <a:noFill/>
              <a:miter lim="400000"/>
            </a:ln>
            <a:effectLst/>
          </p:spPr>
        </p:pic>
      </p:grpSp>
      <p:grpSp>
        <p:nvGrpSpPr>
          <p:cNvPr id="128" name="Group">
            <a:extLst>
              <a:ext uri="{FF2B5EF4-FFF2-40B4-BE49-F238E27FC236}">
                <a16:creationId xmlns:a16="http://schemas.microsoft.com/office/drawing/2014/main" id="{1B1E9BAB-2351-D196-B409-65039A3F4A94}"/>
              </a:ext>
            </a:extLst>
          </p:cNvPr>
          <p:cNvGrpSpPr/>
          <p:nvPr/>
        </p:nvGrpSpPr>
        <p:grpSpPr>
          <a:xfrm>
            <a:off x="1475498" y="4037830"/>
            <a:ext cx="2366548" cy="496068"/>
            <a:chOff x="0" y="0"/>
            <a:chExt cx="4733094" cy="992135"/>
          </a:xfrm>
        </p:grpSpPr>
        <p:sp>
          <p:nvSpPr>
            <p:cNvPr id="129" name="Shape">
              <a:extLst>
                <a:ext uri="{FF2B5EF4-FFF2-40B4-BE49-F238E27FC236}">
                  <a16:creationId xmlns:a16="http://schemas.microsoft.com/office/drawing/2014/main" id="{2E58A31E-57BE-5C4D-9502-242E6D6C4418}"/>
                </a:ext>
              </a:extLst>
            </p:cNvPr>
            <p:cNvSpPr/>
            <p:nvPr/>
          </p:nvSpPr>
          <p:spPr>
            <a:xfrm>
              <a:off x="1200"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30" name="Shape">
              <a:extLst>
                <a:ext uri="{FF2B5EF4-FFF2-40B4-BE49-F238E27FC236}">
                  <a16:creationId xmlns:a16="http://schemas.microsoft.com/office/drawing/2014/main" id="{BD9117E2-86D0-8055-D371-4E2FEDB10B5D}"/>
                </a:ext>
              </a:extLst>
            </p:cNvPr>
            <p:cNvSpPr/>
            <p:nvPr/>
          </p:nvSpPr>
          <p:spPr>
            <a:xfrm flipH="1">
              <a:off x="2363437"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31" name="Shape">
              <a:extLst>
                <a:ext uri="{FF2B5EF4-FFF2-40B4-BE49-F238E27FC236}">
                  <a16:creationId xmlns:a16="http://schemas.microsoft.com/office/drawing/2014/main" id="{3FE34ECF-888C-A941-C3E8-466EA04FC2EF}"/>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grpSp>
        <p:nvGrpSpPr>
          <p:cNvPr id="132" name="Group">
            <a:extLst>
              <a:ext uri="{FF2B5EF4-FFF2-40B4-BE49-F238E27FC236}">
                <a16:creationId xmlns:a16="http://schemas.microsoft.com/office/drawing/2014/main" id="{DBC96408-C6DB-D41D-491E-56637A4A1143}"/>
              </a:ext>
            </a:extLst>
          </p:cNvPr>
          <p:cNvGrpSpPr/>
          <p:nvPr/>
        </p:nvGrpSpPr>
        <p:grpSpPr>
          <a:xfrm>
            <a:off x="1475498" y="3502562"/>
            <a:ext cx="2366548" cy="666165"/>
            <a:chOff x="0" y="0"/>
            <a:chExt cx="4733094" cy="1332328"/>
          </a:xfrm>
        </p:grpSpPr>
        <p:grpSp>
          <p:nvGrpSpPr>
            <p:cNvPr id="133" name="Group">
              <a:extLst>
                <a:ext uri="{FF2B5EF4-FFF2-40B4-BE49-F238E27FC236}">
                  <a16:creationId xmlns:a16="http://schemas.microsoft.com/office/drawing/2014/main" id="{D61D0EDE-EFEF-3AC9-F1EF-5D74694BF6C2}"/>
                </a:ext>
              </a:extLst>
            </p:cNvPr>
            <p:cNvGrpSpPr/>
            <p:nvPr/>
          </p:nvGrpSpPr>
          <p:grpSpPr>
            <a:xfrm>
              <a:off x="0" y="-1"/>
              <a:ext cx="4733095" cy="1332330"/>
              <a:chOff x="0" y="0"/>
              <a:chExt cx="4733094" cy="1332328"/>
            </a:xfrm>
          </p:grpSpPr>
          <p:sp>
            <p:nvSpPr>
              <p:cNvPr id="135" name="Shape">
                <a:extLst>
                  <a:ext uri="{FF2B5EF4-FFF2-40B4-BE49-F238E27FC236}">
                    <a16:creationId xmlns:a16="http://schemas.microsoft.com/office/drawing/2014/main" id="{8B1F260C-FA1A-2784-27F9-9E655FF15869}"/>
                  </a:ext>
                </a:extLst>
              </p:cNvPr>
              <p:cNvSpPr/>
              <p:nvPr/>
            </p:nvSpPr>
            <p:spPr>
              <a:xfrm>
                <a:off x="1200" y="302118"/>
                <a:ext cx="2369658" cy="1030211"/>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8550"/>
                    </a:lnTo>
                    <a:lnTo>
                      <a:pt x="21600" y="21600"/>
                    </a:lnTo>
                    <a:lnTo>
                      <a:pt x="0" y="12417"/>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36" name="Shape">
                <a:extLst>
                  <a:ext uri="{FF2B5EF4-FFF2-40B4-BE49-F238E27FC236}">
                    <a16:creationId xmlns:a16="http://schemas.microsoft.com/office/drawing/2014/main" id="{2263CA94-1790-D880-6050-FD21021A693A}"/>
                  </a:ext>
                </a:extLst>
              </p:cNvPr>
              <p:cNvSpPr/>
              <p:nvPr/>
            </p:nvSpPr>
            <p:spPr>
              <a:xfrm flipH="1">
                <a:off x="2363437" y="302118"/>
                <a:ext cx="2369658" cy="1028837"/>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8577"/>
                    </a:lnTo>
                    <a:lnTo>
                      <a:pt x="21600" y="21600"/>
                    </a:lnTo>
                    <a:lnTo>
                      <a:pt x="0" y="12264"/>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37" name="Shape">
                <a:extLst>
                  <a:ext uri="{FF2B5EF4-FFF2-40B4-BE49-F238E27FC236}">
                    <a16:creationId xmlns:a16="http://schemas.microsoft.com/office/drawing/2014/main" id="{BF8811CC-C408-89C0-2FFD-5FFA824CF32C}"/>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pic>
          <p:nvPicPr>
            <p:cNvPr id="134" name="Image" descr="Image">
              <a:extLst>
                <a:ext uri="{FF2B5EF4-FFF2-40B4-BE49-F238E27FC236}">
                  <a16:creationId xmlns:a16="http://schemas.microsoft.com/office/drawing/2014/main" id="{AF6AE69B-A4FF-DB1F-DB30-015EDEF87A61}"/>
                </a:ext>
              </a:extLst>
            </p:cNvPr>
            <p:cNvPicPr>
              <a:picLocks noChangeAspect="1"/>
            </p:cNvPicPr>
            <p:nvPr/>
          </p:nvPicPr>
          <p:blipFill>
            <a:blip r:embed="rId9"/>
            <a:srcRect/>
            <a:stretch>
              <a:fillRect/>
            </a:stretch>
          </p:blipFill>
          <p:spPr>
            <a:xfrm>
              <a:off x="237140" y="567284"/>
              <a:ext cx="1842359" cy="485441"/>
            </a:xfrm>
            <a:prstGeom prst="rect">
              <a:avLst/>
            </a:prstGeom>
            <a:ln w="12700" cap="flat">
              <a:noFill/>
              <a:miter lim="400000"/>
            </a:ln>
            <a:effectLst/>
          </p:spPr>
        </p:pic>
      </p:grpSp>
      <p:grpSp>
        <p:nvGrpSpPr>
          <p:cNvPr id="138" name="Group">
            <a:extLst>
              <a:ext uri="{FF2B5EF4-FFF2-40B4-BE49-F238E27FC236}">
                <a16:creationId xmlns:a16="http://schemas.microsoft.com/office/drawing/2014/main" id="{2D8E6A8A-FDC7-2FA9-3AEC-AB9DEE68BFDA}"/>
              </a:ext>
            </a:extLst>
          </p:cNvPr>
          <p:cNvGrpSpPr/>
          <p:nvPr/>
        </p:nvGrpSpPr>
        <p:grpSpPr>
          <a:xfrm>
            <a:off x="1475498" y="3112679"/>
            <a:ext cx="2366548" cy="496069"/>
            <a:chOff x="0" y="0"/>
            <a:chExt cx="4733094" cy="992135"/>
          </a:xfrm>
        </p:grpSpPr>
        <p:sp>
          <p:nvSpPr>
            <p:cNvPr id="139" name="Shape">
              <a:extLst>
                <a:ext uri="{FF2B5EF4-FFF2-40B4-BE49-F238E27FC236}">
                  <a16:creationId xmlns:a16="http://schemas.microsoft.com/office/drawing/2014/main" id="{D3BFE46E-C044-3E02-E808-BA2134EF3664}"/>
                </a:ext>
              </a:extLst>
            </p:cNvPr>
            <p:cNvSpPr/>
            <p:nvPr/>
          </p:nvSpPr>
          <p:spPr>
            <a:xfrm>
              <a:off x="1200"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0" name="Shape">
              <a:extLst>
                <a:ext uri="{FF2B5EF4-FFF2-40B4-BE49-F238E27FC236}">
                  <a16:creationId xmlns:a16="http://schemas.microsoft.com/office/drawing/2014/main" id="{744A684A-4E27-9A63-035A-80C20FD3F527}"/>
                </a:ext>
              </a:extLst>
            </p:cNvPr>
            <p:cNvSpPr/>
            <p:nvPr/>
          </p:nvSpPr>
          <p:spPr>
            <a:xfrm flipH="1">
              <a:off x="2363437"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1" name="Shape">
              <a:extLst>
                <a:ext uri="{FF2B5EF4-FFF2-40B4-BE49-F238E27FC236}">
                  <a16:creationId xmlns:a16="http://schemas.microsoft.com/office/drawing/2014/main" id="{B7F89A85-7C71-2F6C-E669-50EBEDB99DB7}"/>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grpSp>
        <p:nvGrpSpPr>
          <p:cNvPr id="143" name="Group">
            <a:extLst>
              <a:ext uri="{FF2B5EF4-FFF2-40B4-BE49-F238E27FC236}">
                <a16:creationId xmlns:a16="http://schemas.microsoft.com/office/drawing/2014/main" id="{D0186CDF-A679-FCFB-3197-3C6A475BF107}"/>
              </a:ext>
            </a:extLst>
          </p:cNvPr>
          <p:cNvGrpSpPr/>
          <p:nvPr/>
        </p:nvGrpSpPr>
        <p:grpSpPr>
          <a:xfrm>
            <a:off x="4678790" y="3651692"/>
            <a:ext cx="2366551" cy="496069"/>
            <a:chOff x="0" y="0"/>
            <a:chExt cx="4733095" cy="992136"/>
          </a:xfrm>
        </p:grpSpPr>
        <p:sp>
          <p:nvSpPr>
            <p:cNvPr id="169" name="Shape">
              <a:extLst>
                <a:ext uri="{FF2B5EF4-FFF2-40B4-BE49-F238E27FC236}">
                  <a16:creationId xmlns:a16="http://schemas.microsoft.com/office/drawing/2014/main" id="{E92BDA8C-34FF-2713-EF5A-D3A1082DB92B}"/>
                </a:ext>
              </a:extLst>
            </p:cNvPr>
            <p:cNvSpPr/>
            <p:nvPr/>
          </p:nvSpPr>
          <p:spPr>
            <a:xfrm>
              <a:off x="1200"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70" name="Shape">
              <a:extLst>
                <a:ext uri="{FF2B5EF4-FFF2-40B4-BE49-F238E27FC236}">
                  <a16:creationId xmlns:a16="http://schemas.microsoft.com/office/drawing/2014/main" id="{13876513-361E-AE2D-BCD6-4F4FBA021A13}"/>
                </a:ext>
              </a:extLst>
            </p:cNvPr>
            <p:cNvSpPr/>
            <p:nvPr/>
          </p:nvSpPr>
          <p:spPr>
            <a:xfrm flipH="1">
              <a:off x="2363437"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71" name="Shape">
              <a:extLst>
                <a:ext uri="{FF2B5EF4-FFF2-40B4-BE49-F238E27FC236}">
                  <a16:creationId xmlns:a16="http://schemas.microsoft.com/office/drawing/2014/main" id="{F549D76B-EDDF-C076-1BDE-0E7965500812}"/>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sp>
        <p:nvSpPr>
          <p:cNvPr id="144" name="Shape">
            <a:extLst>
              <a:ext uri="{FF2B5EF4-FFF2-40B4-BE49-F238E27FC236}">
                <a16:creationId xmlns:a16="http://schemas.microsoft.com/office/drawing/2014/main" id="{D0767801-A628-6C77-FF69-3ADDAF66A4C4}"/>
              </a:ext>
            </a:extLst>
          </p:cNvPr>
          <p:cNvSpPr/>
          <p:nvPr/>
        </p:nvSpPr>
        <p:spPr>
          <a:xfrm>
            <a:off x="4688467" y="4518898"/>
            <a:ext cx="1184830" cy="515106"/>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8550"/>
                </a:lnTo>
                <a:lnTo>
                  <a:pt x="21600" y="21600"/>
                </a:lnTo>
                <a:lnTo>
                  <a:pt x="0" y="12417"/>
                </a:lnTo>
                <a:lnTo>
                  <a:pt x="15" y="0"/>
                </a:lnTo>
                <a:close/>
              </a:path>
            </a:pathLst>
          </a:custGeom>
          <a:gradFill flip="none" rotWithShape="1">
            <a:gsLst>
              <a:gs pos="0">
                <a:srgbClr val="B6DDF2">
                  <a:alpha val="44734"/>
                </a:srgbClr>
              </a:gs>
              <a:gs pos="100000">
                <a:srgbClr val="162478">
                  <a:alpha val="44734"/>
                </a:srgbClr>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5" name="Shape">
            <a:extLst>
              <a:ext uri="{FF2B5EF4-FFF2-40B4-BE49-F238E27FC236}">
                <a16:creationId xmlns:a16="http://schemas.microsoft.com/office/drawing/2014/main" id="{49CE93EC-1ABD-16E1-77A7-2E9DDDEDB152}"/>
              </a:ext>
            </a:extLst>
          </p:cNvPr>
          <p:cNvSpPr/>
          <p:nvPr/>
        </p:nvSpPr>
        <p:spPr>
          <a:xfrm flipH="1">
            <a:off x="5869586" y="4518898"/>
            <a:ext cx="1184830" cy="514419"/>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8577"/>
                </a:lnTo>
                <a:lnTo>
                  <a:pt x="21600" y="21600"/>
                </a:lnTo>
                <a:lnTo>
                  <a:pt x="0" y="12264"/>
                </a:lnTo>
                <a:lnTo>
                  <a:pt x="15" y="0"/>
                </a:lnTo>
                <a:close/>
              </a:path>
            </a:pathLst>
          </a:custGeom>
          <a:solidFill>
            <a:srgbClr val="B6E1F2">
              <a:alpha val="44734"/>
            </a:srgb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6" name="Shape">
            <a:extLst>
              <a:ext uri="{FF2B5EF4-FFF2-40B4-BE49-F238E27FC236}">
                <a16:creationId xmlns:a16="http://schemas.microsoft.com/office/drawing/2014/main" id="{FAD7CD0C-33CD-C9E2-C6C9-D9E9753F4977}"/>
              </a:ext>
            </a:extLst>
          </p:cNvPr>
          <p:cNvSpPr/>
          <p:nvPr/>
        </p:nvSpPr>
        <p:spPr>
          <a:xfrm>
            <a:off x="4687866" y="4367839"/>
            <a:ext cx="2366524" cy="356093"/>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rgbClr val="BFEDFF">
              <a:alpha val="44734"/>
            </a:srgb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sp>
        <p:nvSpPr>
          <p:cNvPr id="147" name="Shape">
            <a:extLst>
              <a:ext uri="{FF2B5EF4-FFF2-40B4-BE49-F238E27FC236}">
                <a16:creationId xmlns:a16="http://schemas.microsoft.com/office/drawing/2014/main" id="{671FD2A0-D4D9-D1D5-D1DF-6C21787C55E5}"/>
              </a:ext>
            </a:extLst>
          </p:cNvPr>
          <p:cNvSpPr/>
          <p:nvPr/>
        </p:nvSpPr>
        <p:spPr>
          <a:xfrm>
            <a:off x="4679390" y="4153506"/>
            <a:ext cx="1184830" cy="345009"/>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B6DDF2">
                  <a:alpha val="44734"/>
                </a:srgbClr>
              </a:gs>
              <a:gs pos="100000">
                <a:srgbClr val="162478">
                  <a:alpha val="44734"/>
                </a:srgbClr>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8" name="Shape">
            <a:extLst>
              <a:ext uri="{FF2B5EF4-FFF2-40B4-BE49-F238E27FC236}">
                <a16:creationId xmlns:a16="http://schemas.microsoft.com/office/drawing/2014/main" id="{440FEB62-E73B-8267-C149-B3418075384E}"/>
              </a:ext>
            </a:extLst>
          </p:cNvPr>
          <p:cNvSpPr/>
          <p:nvPr/>
        </p:nvSpPr>
        <p:spPr>
          <a:xfrm flipH="1">
            <a:off x="5860510" y="4153506"/>
            <a:ext cx="1184830" cy="345009"/>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rgbClr val="B6E1F2">
              <a:alpha val="44734"/>
            </a:srgb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49" name="Shape">
            <a:extLst>
              <a:ext uri="{FF2B5EF4-FFF2-40B4-BE49-F238E27FC236}">
                <a16:creationId xmlns:a16="http://schemas.microsoft.com/office/drawing/2014/main" id="{036E7AE3-B52F-58CE-3F68-DED02CBD7AA6}"/>
              </a:ext>
            </a:extLst>
          </p:cNvPr>
          <p:cNvSpPr/>
          <p:nvPr/>
        </p:nvSpPr>
        <p:spPr>
          <a:xfrm>
            <a:off x="4678790" y="4002446"/>
            <a:ext cx="2366524" cy="356093"/>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alpha val="44734"/>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sp>
        <p:nvSpPr>
          <p:cNvPr id="150" name="Shape">
            <a:extLst>
              <a:ext uri="{FF2B5EF4-FFF2-40B4-BE49-F238E27FC236}">
                <a16:creationId xmlns:a16="http://schemas.microsoft.com/office/drawing/2014/main" id="{D7D21654-DA88-0E42-B3C3-845573BF0099}"/>
              </a:ext>
            </a:extLst>
          </p:cNvPr>
          <p:cNvSpPr/>
          <p:nvPr/>
        </p:nvSpPr>
        <p:spPr>
          <a:xfrm>
            <a:off x="4679390" y="3809452"/>
            <a:ext cx="1184830" cy="345009"/>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B6DDF2">
                  <a:alpha val="44734"/>
                </a:srgbClr>
              </a:gs>
              <a:gs pos="100000">
                <a:srgbClr val="162478">
                  <a:alpha val="44734"/>
                </a:srgbClr>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51" name="Shape">
            <a:extLst>
              <a:ext uri="{FF2B5EF4-FFF2-40B4-BE49-F238E27FC236}">
                <a16:creationId xmlns:a16="http://schemas.microsoft.com/office/drawing/2014/main" id="{DD73769E-5CA6-B75C-1B0F-C3DCB41ECDF6}"/>
              </a:ext>
            </a:extLst>
          </p:cNvPr>
          <p:cNvSpPr/>
          <p:nvPr/>
        </p:nvSpPr>
        <p:spPr>
          <a:xfrm flipH="1">
            <a:off x="5860510" y="3809452"/>
            <a:ext cx="1184830" cy="345009"/>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rgbClr val="B6E1F2">
              <a:alpha val="44734"/>
            </a:srgb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52" name="Shape">
            <a:extLst>
              <a:ext uri="{FF2B5EF4-FFF2-40B4-BE49-F238E27FC236}">
                <a16:creationId xmlns:a16="http://schemas.microsoft.com/office/drawing/2014/main" id="{734EE7FD-4EFE-099A-EC1B-CD35602A9BFD}"/>
              </a:ext>
            </a:extLst>
          </p:cNvPr>
          <p:cNvSpPr/>
          <p:nvPr/>
        </p:nvSpPr>
        <p:spPr>
          <a:xfrm>
            <a:off x="4678790" y="3658392"/>
            <a:ext cx="2366524" cy="356093"/>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pic>
        <p:nvPicPr>
          <p:cNvPr id="153" name="Image" descr="Image">
            <a:extLst>
              <a:ext uri="{FF2B5EF4-FFF2-40B4-BE49-F238E27FC236}">
                <a16:creationId xmlns:a16="http://schemas.microsoft.com/office/drawing/2014/main" id="{ADAD6570-D4FD-D484-8971-0BB5BA53DF6A}"/>
              </a:ext>
            </a:extLst>
          </p:cNvPr>
          <p:cNvPicPr>
            <a:picLocks noChangeAspect="1"/>
          </p:cNvPicPr>
          <p:nvPr/>
        </p:nvPicPr>
        <p:blipFill>
          <a:blip r:embed="rId10"/>
          <a:stretch>
            <a:fillRect/>
          </a:stretch>
        </p:blipFill>
        <p:spPr>
          <a:xfrm>
            <a:off x="5529313" y="1870433"/>
            <a:ext cx="766418" cy="164390"/>
          </a:xfrm>
          <a:prstGeom prst="rect">
            <a:avLst/>
          </a:prstGeom>
          <a:ln w="12700" cap="flat">
            <a:noFill/>
            <a:miter lim="400000"/>
          </a:ln>
          <a:effectLst/>
        </p:spPr>
      </p:pic>
      <p:sp>
        <p:nvSpPr>
          <p:cNvPr id="154" name="Enabling Hyperproductivity">
            <a:extLst>
              <a:ext uri="{FF2B5EF4-FFF2-40B4-BE49-F238E27FC236}">
                <a16:creationId xmlns:a16="http://schemas.microsoft.com/office/drawing/2014/main" id="{93607204-CE9E-C0D1-86BD-6E5F3A0A58F4}"/>
              </a:ext>
            </a:extLst>
          </p:cNvPr>
          <p:cNvSpPr txBox="1"/>
          <p:nvPr/>
        </p:nvSpPr>
        <p:spPr>
          <a:xfrm>
            <a:off x="4852604" y="2056366"/>
            <a:ext cx="2119837" cy="546291"/>
          </a:xfrm>
          <a:prstGeom prst="rect">
            <a:avLst/>
          </a:prstGeom>
          <a:noFill/>
          <a:ln w="3175"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115965" tIns="115965" rIns="115965" bIns="115965" numCol="1" anchor="ctr">
            <a:noAutofit/>
          </a:bodyPr>
          <a:lstStyle/>
          <a:p>
            <a:pPr algn="ctr" defTabSz="930765" hangingPunct="0">
              <a:defRPr sz="2400">
                <a:latin typeface="Gellix SemiBold"/>
                <a:ea typeface="Gellix SemiBold"/>
                <a:cs typeface="Gellix SemiBold"/>
                <a:sym typeface="Gellix SemiBold"/>
              </a:defRPr>
            </a:pPr>
            <a:r>
              <a:rPr sz="1200" kern="0">
                <a:solidFill>
                  <a:srgbClr val="000045"/>
                </a:solidFill>
                <a:latin typeface="Gellix SemiBold"/>
                <a:sym typeface="Gellix SemiBold"/>
              </a:rPr>
              <a:t>System integrator</a:t>
            </a:r>
          </a:p>
          <a:p>
            <a:pPr algn="ctr" defTabSz="930765" hangingPunct="0">
              <a:defRPr sz="1600">
                <a:latin typeface="+mj-lt"/>
                <a:ea typeface="+mj-ea"/>
                <a:cs typeface="+mj-cs"/>
                <a:sym typeface="Gellix Light"/>
              </a:defRPr>
            </a:pPr>
            <a:r>
              <a:rPr sz="800" kern="0">
                <a:solidFill>
                  <a:srgbClr val="000045"/>
                </a:solidFill>
                <a:latin typeface="Gellix Light"/>
                <a:sym typeface="Gellix Light"/>
              </a:rPr>
              <a:t>Tech-enabled business outcome</a:t>
            </a:r>
          </a:p>
        </p:txBody>
      </p:sp>
      <p:sp>
        <p:nvSpPr>
          <p:cNvPr id="155" name="Line">
            <a:extLst>
              <a:ext uri="{FF2B5EF4-FFF2-40B4-BE49-F238E27FC236}">
                <a16:creationId xmlns:a16="http://schemas.microsoft.com/office/drawing/2014/main" id="{F3ED9556-73A4-3D46-1FCB-55B34FB1E194}"/>
              </a:ext>
            </a:extLst>
          </p:cNvPr>
          <p:cNvSpPr/>
          <p:nvPr/>
        </p:nvSpPr>
        <p:spPr>
          <a:xfrm>
            <a:off x="4072391" y="1832282"/>
            <a:ext cx="203179" cy="75459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10321"/>
                </a:lnTo>
                <a:lnTo>
                  <a:pt x="1208" y="21600"/>
                </a:lnTo>
              </a:path>
            </a:pathLst>
          </a:custGeom>
          <a:noFill/>
          <a:ln w="38100" cap="flat">
            <a:solidFill>
              <a:schemeClr val="accent5">
                <a:satOff val="-27714"/>
                <a:lumOff val="29411"/>
              </a:schemeClr>
            </a:solidFill>
            <a:prstDash val="solid"/>
            <a:miter lim="400000"/>
          </a:ln>
          <a:effectLst/>
        </p:spPr>
        <p:txBody>
          <a:bodyPr wrap="square" lIns="28656" tIns="28656" rIns="28656" bIns="28656" numCol="1" anchor="ctr">
            <a:noAutofit/>
          </a:bodyPr>
          <a:lstStyle/>
          <a:p>
            <a:pPr algn="ctr" defTabSz="552402" hangingPunct="0">
              <a:spcBef>
                <a:spcPts val="3850"/>
              </a:spcBef>
              <a:defRPr sz="14200"/>
            </a:pPr>
            <a:endParaRPr sz="7100" kern="0">
              <a:solidFill>
                <a:srgbClr val="FFFFFF"/>
              </a:solidFill>
              <a:latin typeface="Gellix Regular"/>
              <a:sym typeface="Gellix Regular"/>
            </a:endParaRPr>
          </a:p>
        </p:txBody>
      </p:sp>
      <p:sp>
        <p:nvSpPr>
          <p:cNvPr id="156" name="Linear model">
            <a:extLst>
              <a:ext uri="{FF2B5EF4-FFF2-40B4-BE49-F238E27FC236}">
                <a16:creationId xmlns:a16="http://schemas.microsoft.com/office/drawing/2014/main" id="{D0C286B4-1815-C000-ED17-08994F88313A}"/>
              </a:ext>
            </a:extLst>
          </p:cNvPr>
          <p:cNvSpPr txBox="1"/>
          <p:nvPr/>
        </p:nvSpPr>
        <p:spPr>
          <a:xfrm>
            <a:off x="3686392" y="5435406"/>
            <a:ext cx="772005" cy="181097"/>
          </a:xfrm>
          <a:prstGeom prst="rect">
            <a:avLst/>
          </a:prstGeom>
          <a:noFill/>
          <a:ln w="3175"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8656" tIns="28656" rIns="28656" bIns="28656" numCol="1" anchor="ctr">
            <a:noAutofit/>
          </a:bodyPr>
          <a:lstStyle>
            <a:lvl1pPr algn="ctr" defTabSz="1861530">
              <a:lnSpc>
                <a:spcPct val="100000"/>
              </a:lnSpc>
              <a:spcBef>
                <a:spcPts val="0"/>
              </a:spcBef>
              <a:defRPr sz="1600">
                <a:latin typeface="Gellix SemiBold"/>
                <a:ea typeface="Gellix SemiBold"/>
                <a:cs typeface="Gellix SemiBold"/>
                <a:sym typeface="Gellix SemiBold"/>
              </a:defRPr>
            </a:lvl1pPr>
          </a:lstStyle>
          <a:p>
            <a:pPr defTabSz="930765" hangingPunct="0"/>
            <a:r>
              <a:rPr sz="800" kern="0">
                <a:solidFill>
                  <a:srgbClr val="000045"/>
                </a:solidFill>
              </a:rPr>
              <a:t>Linear model</a:t>
            </a:r>
          </a:p>
        </p:txBody>
      </p:sp>
      <p:pic>
        <p:nvPicPr>
          <p:cNvPr id="157" name="Image" descr="Image">
            <a:extLst>
              <a:ext uri="{FF2B5EF4-FFF2-40B4-BE49-F238E27FC236}">
                <a16:creationId xmlns:a16="http://schemas.microsoft.com/office/drawing/2014/main" id="{95B267D1-4C90-2AB1-BCBC-6DB2A2A63F38}"/>
              </a:ext>
            </a:extLst>
          </p:cNvPr>
          <p:cNvPicPr>
            <a:picLocks noChangeAspect="1"/>
          </p:cNvPicPr>
          <p:nvPr/>
        </p:nvPicPr>
        <p:blipFill>
          <a:blip r:embed="rId8"/>
          <a:srcRect/>
          <a:stretch>
            <a:fillRect/>
          </a:stretch>
        </p:blipFill>
        <p:spPr>
          <a:xfrm>
            <a:off x="5987599" y="4641428"/>
            <a:ext cx="985768" cy="262230"/>
          </a:xfrm>
          <a:prstGeom prst="rect">
            <a:avLst/>
          </a:prstGeom>
          <a:ln w="12700" cap="flat">
            <a:noFill/>
            <a:miter lim="400000"/>
          </a:ln>
          <a:effectLst/>
        </p:spPr>
      </p:pic>
      <p:sp>
        <p:nvSpPr>
          <p:cNvPr id="158" name="Rectangle">
            <a:extLst>
              <a:ext uri="{FF2B5EF4-FFF2-40B4-BE49-F238E27FC236}">
                <a16:creationId xmlns:a16="http://schemas.microsoft.com/office/drawing/2014/main" id="{F5C32682-A9AE-CB18-BD49-18EDDDC2A92E}"/>
              </a:ext>
            </a:extLst>
          </p:cNvPr>
          <p:cNvSpPr/>
          <p:nvPr/>
        </p:nvSpPr>
        <p:spPr>
          <a:xfrm flipH="1">
            <a:off x="4540915" y="5518471"/>
            <a:ext cx="2637261" cy="26805"/>
          </a:xfrm>
          <a:prstGeom prst="rect">
            <a:avLst/>
          </a:prstGeom>
          <a:gradFill flip="none" rotWithShape="1">
            <a:gsLst>
              <a:gs pos="0">
                <a:srgbClr val="5B8EB4"/>
              </a:gs>
              <a:gs pos="100000">
                <a:srgbClr val="76B1C8"/>
              </a:gs>
            </a:gsLst>
            <a:lin ang="9970298" scaled="0"/>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grpSp>
        <p:nvGrpSpPr>
          <p:cNvPr id="159" name="Group">
            <a:extLst>
              <a:ext uri="{FF2B5EF4-FFF2-40B4-BE49-F238E27FC236}">
                <a16:creationId xmlns:a16="http://schemas.microsoft.com/office/drawing/2014/main" id="{5FE66931-1410-6C64-E3F5-A430AA511E8F}"/>
              </a:ext>
            </a:extLst>
          </p:cNvPr>
          <p:cNvGrpSpPr/>
          <p:nvPr/>
        </p:nvGrpSpPr>
        <p:grpSpPr>
          <a:xfrm>
            <a:off x="4678790" y="3533002"/>
            <a:ext cx="2366551" cy="496069"/>
            <a:chOff x="0" y="0"/>
            <a:chExt cx="4733095" cy="992136"/>
          </a:xfrm>
        </p:grpSpPr>
        <p:sp>
          <p:nvSpPr>
            <p:cNvPr id="166" name="Shape">
              <a:extLst>
                <a:ext uri="{FF2B5EF4-FFF2-40B4-BE49-F238E27FC236}">
                  <a16:creationId xmlns:a16="http://schemas.microsoft.com/office/drawing/2014/main" id="{D8B20019-C002-738C-F07C-0164EC37B375}"/>
                </a:ext>
              </a:extLst>
            </p:cNvPr>
            <p:cNvSpPr/>
            <p:nvPr/>
          </p:nvSpPr>
          <p:spPr>
            <a:xfrm>
              <a:off x="1200"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67" name="Shape">
              <a:extLst>
                <a:ext uri="{FF2B5EF4-FFF2-40B4-BE49-F238E27FC236}">
                  <a16:creationId xmlns:a16="http://schemas.microsoft.com/office/drawing/2014/main" id="{4CE3B847-230D-3B7D-22C4-9612182D43C1}"/>
                </a:ext>
              </a:extLst>
            </p:cNvPr>
            <p:cNvSpPr/>
            <p:nvPr/>
          </p:nvSpPr>
          <p:spPr>
            <a:xfrm flipH="1">
              <a:off x="2363437"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68" name="Shape">
              <a:extLst>
                <a:ext uri="{FF2B5EF4-FFF2-40B4-BE49-F238E27FC236}">
                  <a16:creationId xmlns:a16="http://schemas.microsoft.com/office/drawing/2014/main" id="{ECDC1A86-398A-E8DD-091E-F220E95F0998}"/>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grpSp>
        <p:nvGrpSpPr>
          <p:cNvPr id="160" name="Group">
            <a:extLst>
              <a:ext uri="{FF2B5EF4-FFF2-40B4-BE49-F238E27FC236}">
                <a16:creationId xmlns:a16="http://schemas.microsoft.com/office/drawing/2014/main" id="{13DE8798-31F2-E76A-D0D5-5475AC6AC6C9}"/>
              </a:ext>
            </a:extLst>
          </p:cNvPr>
          <p:cNvGrpSpPr/>
          <p:nvPr/>
        </p:nvGrpSpPr>
        <p:grpSpPr>
          <a:xfrm>
            <a:off x="4678790" y="3112680"/>
            <a:ext cx="2366551" cy="496069"/>
            <a:chOff x="0" y="0"/>
            <a:chExt cx="4733095" cy="992136"/>
          </a:xfrm>
        </p:grpSpPr>
        <p:sp>
          <p:nvSpPr>
            <p:cNvPr id="163" name="Shape">
              <a:extLst>
                <a:ext uri="{FF2B5EF4-FFF2-40B4-BE49-F238E27FC236}">
                  <a16:creationId xmlns:a16="http://schemas.microsoft.com/office/drawing/2014/main" id="{46AB905A-AFA3-1369-5196-0236A465E167}"/>
                </a:ext>
              </a:extLst>
            </p:cNvPr>
            <p:cNvSpPr/>
            <p:nvPr/>
          </p:nvSpPr>
          <p:spPr>
            <a:xfrm>
              <a:off x="1200"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43" y="12766"/>
                  </a:lnTo>
                  <a:lnTo>
                    <a:pt x="21600" y="21600"/>
                  </a:lnTo>
                  <a:lnTo>
                    <a:pt x="0" y="7680"/>
                  </a:lnTo>
                  <a:lnTo>
                    <a:pt x="15" y="0"/>
                  </a:lnTo>
                  <a:close/>
                </a:path>
              </a:pathLst>
            </a:custGeom>
            <a:gradFill flip="none" rotWithShape="1">
              <a:gsLst>
                <a:gs pos="0">
                  <a:srgbClr val="69B4DB"/>
                </a:gs>
                <a:gs pos="100000">
                  <a:srgbClr val="162478"/>
                </a:gs>
              </a:gsLst>
              <a:path path="shape">
                <a:fillToRect l="-1543" t="1287" r="101543" b="98712"/>
              </a:path>
            </a:gra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64" name="Shape">
              <a:extLst>
                <a:ext uri="{FF2B5EF4-FFF2-40B4-BE49-F238E27FC236}">
                  <a16:creationId xmlns:a16="http://schemas.microsoft.com/office/drawing/2014/main" id="{AF77439B-4333-401A-18A4-55B4266A8060}"/>
                </a:ext>
              </a:extLst>
            </p:cNvPr>
            <p:cNvSpPr/>
            <p:nvPr/>
          </p:nvSpPr>
          <p:spPr>
            <a:xfrm flipH="1">
              <a:off x="2363437" y="302118"/>
              <a:ext cx="2369658" cy="690018"/>
            </a:xfrm>
            <a:custGeom>
              <a:avLst/>
              <a:gdLst/>
              <a:ahLst/>
              <a:cxnLst>
                <a:cxn ang="0">
                  <a:pos x="wd2" y="hd2"/>
                </a:cxn>
                <a:cxn ang="5400000">
                  <a:pos x="wd2" y="hd2"/>
                </a:cxn>
                <a:cxn ang="10800000">
                  <a:pos x="wd2" y="hd2"/>
                </a:cxn>
                <a:cxn ang="16200000">
                  <a:pos x="wd2" y="hd2"/>
                </a:cxn>
              </a:cxnLst>
              <a:rect l="0" t="0" r="r" b="b"/>
              <a:pathLst>
                <a:path w="21600" h="21600" extrusionOk="0">
                  <a:moveTo>
                    <a:pt x="15" y="0"/>
                  </a:moveTo>
                  <a:lnTo>
                    <a:pt x="21595" y="12789"/>
                  </a:lnTo>
                  <a:lnTo>
                    <a:pt x="21600" y="21600"/>
                  </a:lnTo>
                  <a:lnTo>
                    <a:pt x="0" y="7680"/>
                  </a:lnTo>
                  <a:lnTo>
                    <a:pt x="15" y="0"/>
                  </a:lnTo>
                  <a:close/>
                </a:path>
              </a:pathLst>
            </a:custGeom>
            <a:solidFill>
              <a:schemeClr val="accent4">
                <a:satOff val="-16629"/>
                <a:lumOff val="13823"/>
              </a:schemeClr>
            </a:solidFill>
            <a:ln w="3175" cap="flat">
              <a:noFill/>
              <a:miter lim="400000"/>
            </a:ln>
            <a:effectLst/>
          </p:spPr>
          <p:txBody>
            <a:bodyPr wrap="square" lIns="28656" tIns="28656" rIns="28656" bIns="28656" numCol="1" anchor="ctr">
              <a:noAutofit/>
            </a:bodyPr>
            <a:lstStyle/>
            <a:p>
              <a:pPr defTabSz="2091296" hangingPunct="0">
                <a:lnSpc>
                  <a:spcPct val="90000"/>
                </a:lnSpc>
                <a:spcBef>
                  <a:spcPts val="3750"/>
                </a:spcBef>
                <a:defRPr sz="7600">
                  <a:solidFill>
                    <a:srgbClr val="000048"/>
                  </a:solidFill>
                  <a:latin typeface="Helvetica Neue"/>
                  <a:ea typeface="Helvetica Neue"/>
                  <a:cs typeface="Helvetica Neue"/>
                  <a:sym typeface="Helvetica Neue"/>
                </a:defRPr>
              </a:pPr>
              <a:endParaRPr sz="3800" kern="0">
                <a:solidFill>
                  <a:srgbClr val="000048"/>
                </a:solidFill>
                <a:latin typeface="Helvetica Neue"/>
                <a:ea typeface="Helvetica Neue"/>
                <a:cs typeface="Helvetica Neue"/>
                <a:sym typeface="Helvetica Neue"/>
              </a:endParaRPr>
            </a:p>
          </p:txBody>
        </p:sp>
        <p:sp>
          <p:nvSpPr>
            <p:cNvPr id="165" name="Shape">
              <a:extLst>
                <a:ext uri="{FF2B5EF4-FFF2-40B4-BE49-F238E27FC236}">
                  <a16:creationId xmlns:a16="http://schemas.microsoft.com/office/drawing/2014/main" id="{FAEADCBA-2BF5-3824-C4C0-F092295F0E72}"/>
                </a:ext>
              </a:extLst>
            </p:cNvPr>
            <p:cNvSpPr/>
            <p:nvPr/>
          </p:nvSpPr>
          <p:spPr>
            <a:xfrm>
              <a:off x="0" y="0"/>
              <a:ext cx="4733042" cy="712185"/>
            </a:xfrm>
            <a:custGeom>
              <a:avLst/>
              <a:gdLst/>
              <a:ahLst/>
              <a:cxnLst>
                <a:cxn ang="0">
                  <a:pos x="wd2" y="hd2"/>
                </a:cxn>
                <a:cxn ang="5400000">
                  <a:pos x="wd2" y="hd2"/>
                </a:cxn>
                <a:cxn ang="10800000">
                  <a:pos x="wd2" y="hd2"/>
                </a:cxn>
                <a:cxn ang="16200000">
                  <a:pos x="wd2" y="hd2"/>
                </a:cxn>
              </a:cxnLst>
              <a:rect l="0" t="0" r="r" b="b"/>
              <a:pathLst>
                <a:path w="21600" h="21600" extrusionOk="0">
                  <a:moveTo>
                    <a:pt x="10793" y="0"/>
                  </a:moveTo>
                  <a:lnTo>
                    <a:pt x="0" y="9155"/>
                  </a:lnTo>
                  <a:lnTo>
                    <a:pt x="10781" y="21600"/>
                  </a:lnTo>
                  <a:lnTo>
                    <a:pt x="21600" y="9230"/>
                  </a:lnTo>
                  <a:lnTo>
                    <a:pt x="10793" y="0"/>
                  </a:lnTo>
                  <a:close/>
                </a:path>
              </a:pathLst>
            </a:custGeom>
            <a:solidFill>
              <a:schemeClr val="accent4">
                <a:satOff val="-16629"/>
                <a:lumOff val="27647"/>
              </a:schemeClr>
            </a:solidFill>
            <a:ln w="12700" cap="flat">
              <a:noFill/>
              <a:miter lim="400000"/>
            </a:ln>
            <a:effectLst/>
          </p:spPr>
          <p:txBody>
            <a:bodyPr wrap="square" lIns="46433" tIns="46433" rIns="46433" bIns="46433" numCol="1" anchor="t">
              <a:noAutofit/>
            </a:bodyPr>
            <a:lstStyle/>
            <a:p>
              <a:pPr algn="ctr" defTabSz="1900312" hangingPunct="0">
                <a:defRPr sz="13800">
                  <a:latin typeface="Arial"/>
                  <a:ea typeface="Arial"/>
                  <a:cs typeface="Arial"/>
                  <a:sym typeface="Arial"/>
                </a:defRPr>
              </a:pPr>
              <a:endParaRPr sz="6900" kern="0">
                <a:solidFill>
                  <a:srgbClr val="FFFFFF"/>
                </a:solidFill>
                <a:latin typeface="Arial"/>
                <a:cs typeface="Arial"/>
                <a:sym typeface="Arial"/>
              </a:endParaRPr>
            </a:p>
          </p:txBody>
        </p:sp>
      </p:grpSp>
      <p:pic>
        <p:nvPicPr>
          <p:cNvPr id="161" name="Image" descr="Image">
            <a:extLst>
              <a:ext uri="{FF2B5EF4-FFF2-40B4-BE49-F238E27FC236}">
                <a16:creationId xmlns:a16="http://schemas.microsoft.com/office/drawing/2014/main" id="{B5B11FF7-6FC3-D664-7956-033CD1125380}"/>
              </a:ext>
            </a:extLst>
          </p:cNvPr>
          <p:cNvPicPr>
            <a:picLocks noChangeAspect="1"/>
          </p:cNvPicPr>
          <p:nvPr/>
        </p:nvPicPr>
        <p:blipFill>
          <a:blip r:embed="rId7"/>
          <a:stretch>
            <a:fillRect/>
          </a:stretch>
        </p:blipFill>
        <p:spPr>
          <a:xfrm>
            <a:off x="4827499" y="4668215"/>
            <a:ext cx="888613" cy="236733"/>
          </a:xfrm>
          <a:prstGeom prst="rect">
            <a:avLst/>
          </a:prstGeom>
          <a:ln w="12700" cap="flat">
            <a:noFill/>
            <a:miter lim="400000"/>
          </a:ln>
          <a:effectLst/>
        </p:spPr>
      </p:pic>
      <p:pic>
        <p:nvPicPr>
          <p:cNvPr id="162" name="Image" descr="Image">
            <a:extLst>
              <a:ext uri="{FF2B5EF4-FFF2-40B4-BE49-F238E27FC236}">
                <a16:creationId xmlns:a16="http://schemas.microsoft.com/office/drawing/2014/main" id="{C75A5648-E6EC-44CE-C81D-9D1FAA2BE7DD}"/>
              </a:ext>
            </a:extLst>
          </p:cNvPr>
          <p:cNvPicPr>
            <a:picLocks noChangeAspect="1"/>
          </p:cNvPicPr>
          <p:nvPr/>
        </p:nvPicPr>
        <p:blipFill>
          <a:blip r:embed="rId9"/>
          <a:srcRect/>
          <a:stretch>
            <a:fillRect/>
          </a:stretch>
        </p:blipFill>
        <p:spPr>
          <a:xfrm>
            <a:off x="4795991" y="3846514"/>
            <a:ext cx="921180" cy="242720"/>
          </a:xfrm>
          <a:prstGeom prst="rect">
            <a:avLst/>
          </a:prstGeom>
          <a:ln w="12700" cap="flat">
            <a:noFill/>
            <a:miter lim="400000"/>
          </a:ln>
          <a:effectLst/>
        </p:spPr>
      </p:pic>
      <p:pic>
        <p:nvPicPr>
          <p:cNvPr id="172" name="Picture 171" descr="A blue text on a black background&#10;&#10;Description automatically generated">
            <a:extLst>
              <a:ext uri="{FF2B5EF4-FFF2-40B4-BE49-F238E27FC236}">
                <a16:creationId xmlns:a16="http://schemas.microsoft.com/office/drawing/2014/main" id="{1353407A-E592-FE83-A8C1-9F8B5568493B}"/>
              </a:ext>
            </a:extLst>
          </p:cNvPr>
          <p:cNvPicPr>
            <a:picLocks noChangeAspect="1"/>
          </p:cNvPicPr>
          <p:nvPr/>
        </p:nvPicPr>
        <p:blipFill>
          <a:blip r:embed="rId3"/>
          <a:stretch>
            <a:fillRect/>
          </a:stretch>
        </p:blipFill>
        <p:spPr>
          <a:xfrm>
            <a:off x="9067800" y="1878416"/>
            <a:ext cx="974900" cy="174670"/>
          </a:xfrm>
          <a:prstGeom prst="rect">
            <a:avLst/>
          </a:prstGeom>
        </p:spPr>
      </p:pic>
      <p:sp>
        <p:nvSpPr>
          <p:cNvPr id="2" name="Title 1">
            <a:extLst>
              <a:ext uri="{FF2B5EF4-FFF2-40B4-BE49-F238E27FC236}">
                <a16:creationId xmlns:a16="http://schemas.microsoft.com/office/drawing/2014/main" id="{86801EA2-4750-09D7-6580-EF984393B8FB}"/>
              </a:ext>
            </a:extLst>
          </p:cNvPr>
          <p:cNvSpPr>
            <a:spLocks noGrp="1"/>
          </p:cNvSpPr>
          <p:nvPr>
            <p:ph type="title"/>
          </p:nvPr>
        </p:nvSpPr>
        <p:spPr>
          <a:xfrm>
            <a:off x="457200" y="457200"/>
            <a:ext cx="11277600" cy="332399"/>
          </a:xfrm>
        </p:spPr>
        <p:txBody>
          <a:bodyPr/>
          <a:lstStyle/>
          <a:p>
            <a:r>
              <a:rPr lang="en-US">
                <a:solidFill>
                  <a:srgbClr val="000045"/>
                </a:solidFill>
                <a:latin typeface="Gellix" pitchFamily="2" charset="77"/>
                <a:cs typeface="Gellix" pitchFamily="2" charset="77"/>
              </a:rPr>
              <a:t>We defined the ‘AI Builder’ category</a:t>
            </a:r>
            <a:endParaRPr lang="en-US"/>
          </a:p>
        </p:txBody>
      </p:sp>
    </p:spTree>
    <p:extLst>
      <p:ext uri="{BB962C8B-B14F-4D97-AF65-F5344CB8AC3E}">
        <p14:creationId xmlns:p14="http://schemas.microsoft.com/office/powerpoint/2010/main" val="1178427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DE03A-DB70-48E1-BA45-54C610C296FD}"/>
            </a:ext>
          </a:extLst>
        </p:cNvPr>
        <p:cNvGrpSpPr/>
        <p:nvPr/>
      </p:nvGrpSpPr>
      <p:grpSpPr>
        <a:xfrm>
          <a:off x="0" y="0"/>
          <a:ext cx="0" cy="0"/>
          <a:chOff x="0" y="0"/>
          <a:chExt cx="0" cy="0"/>
        </a:xfrm>
      </p:grpSpPr>
      <p:sp>
        <p:nvSpPr>
          <p:cNvPr id="4" name="Text 5">
            <a:extLst>
              <a:ext uri="{FF2B5EF4-FFF2-40B4-BE49-F238E27FC236}">
                <a16:creationId xmlns:a16="http://schemas.microsoft.com/office/drawing/2014/main" id="{C93FFBF0-F0BF-EF27-1336-A6D431E070C8}"/>
              </a:ext>
            </a:extLst>
          </p:cNvPr>
          <p:cNvSpPr/>
          <p:nvPr/>
        </p:nvSpPr>
        <p:spPr>
          <a:xfrm>
            <a:off x="705867" y="2794889"/>
            <a:ext cx="1856052" cy="655377"/>
          </a:xfrm>
          <a:prstGeom prst="rect">
            <a:avLst/>
          </a:prstGeom>
          <a:noFill/>
          <a:ln/>
        </p:spPr>
        <p:txBody>
          <a:bodyPr wrap="square" rtlCol="0" anchor="ctr"/>
          <a:lstStyle/>
          <a:p>
            <a:pPr marL="0" indent="0">
              <a:buNone/>
            </a:pPr>
            <a:r>
              <a:rPr lang="en-US" sz="1200" b="1">
                <a:solidFill>
                  <a:srgbClr val="000045"/>
                </a:solidFill>
                <a:latin typeface="Gellix" pitchFamily="2" charset="77"/>
                <a:ea typeface="Calibri" pitchFamily="34" charset="-122"/>
                <a:cs typeface="Gellix" pitchFamily="2" charset="77"/>
              </a:rPr>
              <a:t>BASIS Framework</a:t>
            </a:r>
            <a:endParaRPr lang="en-US" sz="1200">
              <a:solidFill>
                <a:srgbClr val="000045"/>
              </a:solidFill>
              <a:latin typeface="Gellix" pitchFamily="2" charset="77"/>
              <a:cs typeface="Gellix" pitchFamily="2" charset="77"/>
            </a:endParaRPr>
          </a:p>
        </p:txBody>
      </p:sp>
      <p:sp>
        <p:nvSpPr>
          <p:cNvPr id="5" name="Text 6">
            <a:extLst>
              <a:ext uri="{FF2B5EF4-FFF2-40B4-BE49-F238E27FC236}">
                <a16:creationId xmlns:a16="http://schemas.microsoft.com/office/drawing/2014/main" id="{FF6F2161-1F6B-0E65-88AD-BCA0DA4AEE5B}"/>
              </a:ext>
            </a:extLst>
          </p:cNvPr>
          <p:cNvSpPr/>
          <p:nvPr/>
        </p:nvSpPr>
        <p:spPr>
          <a:xfrm>
            <a:off x="691353" y="3586353"/>
            <a:ext cx="1856052" cy="983068"/>
          </a:xfrm>
          <a:prstGeom prst="rect">
            <a:avLst/>
          </a:prstGeom>
          <a:noFill/>
          <a:ln/>
        </p:spPr>
        <p:txBody>
          <a:bodyPr wrap="square" rtlCol="0" anchor="ctr"/>
          <a:lstStyle/>
          <a:p>
            <a:pPr marL="0" indent="0">
              <a:buNone/>
            </a:pPr>
            <a:r>
              <a:rPr lang="en-US" sz="1000">
                <a:latin typeface="Gellix" pitchFamily="2" charset="77"/>
                <a:ea typeface="Calibri" pitchFamily="34" charset="-122"/>
                <a:cs typeface="Gellix" pitchFamily="2" charset="77"/>
              </a:rPr>
              <a:t>Business-Led Autonomous Systems Integration Services — strategy, operating model, and change management for enterprise AI adoption.</a:t>
            </a:r>
            <a:endParaRPr lang="en-US" sz="1000">
              <a:latin typeface="Gellix" pitchFamily="2" charset="77"/>
              <a:cs typeface="Gellix" pitchFamily="2" charset="77"/>
            </a:endParaRPr>
          </a:p>
        </p:txBody>
      </p:sp>
      <p:sp>
        <p:nvSpPr>
          <p:cNvPr id="79" name="Text 5">
            <a:extLst>
              <a:ext uri="{FF2B5EF4-FFF2-40B4-BE49-F238E27FC236}">
                <a16:creationId xmlns:a16="http://schemas.microsoft.com/office/drawing/2014/main" id="{3556C2CC-98FF-B785-7867-F54BD3DE8679}"/>
              </a:ext>
            </a:extLst>
          </p:cNvPr>
          <p:cNvSpPr/>
          <p:nvPr/>
        </p:nvSpPr>
        <p:spPr>
          <a:xfrm>
            <a:off x="2885843" y="2789487"/>
            <a:ext cx="1856052" cy="655377"/>
          </a:xfrm>
          <a:prstGeom prst="rect">
            <a:avLst/>
          </a:prstGeom>
          <a:noFill/>
          <a:ln/>
        </p:spPr>
        <p:txBody>
          <a:bodyPr wrap="square" rtlCol="0" anchor="ctr"/>
          <a:lstStyle/>
          <a:p>
            <a:pPr marL="0" indent="0">
              <a:buNone/>
            </a:pPr>
            <a:r>
              <a:rPr lang="en-US" sz="1200" b="1">
                <a:solidFill>
                  <a:srgbClr val="000045"/>
                </a:solidFill>
                <a:latin typeface="Gellix" pitchFamily="2" charset="77"/>
                <a:ea typeface="Calibri" pitchFamily="34" charset="-122"/>
                <a:cs typeface="Gellix" pitchFamily="2" charset="77"/>
              </a:rPr>
              <a:t>Context Engineering</a:t>
            </a:r>
          </a:p>
        </p:txBody>
      </p:sp>
      <p:sp>
        <p:nvSpPr>
          <p:cNvPr id="80" name="Text 6">
            <a:extLst>
              <a:ext uri="{FF2B5EF4-FFF2-40B4-BE49-F238E27FC236}">
                <a16:creationId xmlns:a16="http://schemas.microsoft.com/office/drawing/2014/main" id="{322E646A-1EF3-E0C5-A775-0456E53F178E}"/>
              </a:ext>
            </a:extLst>
          </p:cNvPr>
          <p:cNvSpPr/>
          <p:nvPr/>
        </p:nvSpPr>
        <p:spPr>
          <a:xfrm>
            <a:off x="2871329" y="3580951"/>
            <a:ext cx="1856052" cy="983068"/>
          </a:xfrm>
          <a:prstGeom prst="rect">
            <a:avLst/>
          </a:prstGeom>
          <a:noFill/>
          <a:ln/>
        </p:spPr>
        <p:txBody>
          <a:bodyPr wrap="square" rtlCol="0" anchor="ctr"/>
          <a:lstStyle/>
          <a:p>
            <a:pPr marL="0" indent="0">
              <a:buNone/>
            </a:pPr>
            <a:r>
              <a:rPr lang="en-US" sz="1000">
                <a:latin typeface="Gellix" pitchFamily="2" charset="77"/>
                <a:ea typeface="Calibri" pitchFamily="34" charset="-122"/>
                <a:cs typeface="Gellix" pitchFamily="2" charset="77"/>
              </a:rPr>
              <a:t>Encoding enterprise workflows, domain knowledge, and tribal wisdom into AI systems. The connective tissue between models and outcomes.</a:t>
            </a:r>
          </a:p>
        </p:txBody>
      </p:sp>
      <p:sp>
        <p:nvSpPr>
          <p:cNvPr id="84" name="Text 5">
            <a:extLst>
              <a:ext uri="{FF2B5EF4-FFF2-40B4-BE49-F238E27FC236}">
                <a16:creationId xmlns:a16="http://schemas.microsoft.com/office/drawing/2014/main" id="{23231C50-C552-A49F-F9B5-9424D8D5A58A}"/>
              </a:ext>
            </a:extLst>
          </p:cNvPr>
          <p:cNvSpPr/>
          <p:nvPr/>
        </p:nvSpPr>
        <p:spPr>
          <a:xfrm>
            <a:off x="5033091" y="2831858"/>
            <a:ext cx="1856052" cy="655377"/>
          </a:xfrm>
          <a:prstGeom prst="rect">
            <a:avLst/>
          </a:prstGeom>
          <a:noFill/>
          <a:ln/>
        </p:spPr>
        <p:txBody>
          <a:bodyPr wrap="square" rtlCol="0" anchor="ctr"/>
          <a:lstStyle/>
          <a:p>
            <a:pPr marL="0" indent="0">
              <a:buNone/>
            </a:pPr>
            <a:r>
              <a:rPr lang="en-US" sz="1200" b="1">
                <a:solidFill>
                  <a:srgbClr val="000045"/>
                </a:solidFill>
                <a:latin typeface="Gellix" pitchFamily="2" charset="77"/>
                <a:ea typeface="Calibri" pitchFamily="34" charset="-122"/>
                <a:cs typeface="Gellix" pitchFamily="2" charset="77"/>
              </a:rPr>
              <a:t>Platforms &amp; Products</a:t>
            </a:r>
          </a:p>
        </p:txBody>
      </p:sp>
      <p:sp>
        <p:nvSpPr>
          <p:cNvPr id="85" name="Text 6">
            <a:extLst>
              <a:ext uri="{FF2B5EF4-FFF2-40B4-BE49-F238E27FC236}">
                <a16:creationId xmlns:a16="http://schemas.microsoft.com/office/drawing/2014/main" id="{AB9EF98F-BEDE-7F2A-AC5B-D013687032DC}"/>
              </a:ext>
            </a:extLst>
          </p:cNvPr>
          <p:cNvSpPr/>
          <p:nvPr/>
        </p:nvSpPr>
        <p:spPr>
          <a:xfrm>
            <a:off x="5032225" y="3580951"/>
            <a:ext cx="1856052" cy="983068"/>
          </a:xfrm>
          <a:prstGeom prst="rect">
            <a:avLst/>
          </a:prstGeom>
          <a:noFill/>
          <a:ln/>
        </p:spPr>
        <p:txBody>
          <a:bodyPr wrap="square" rtlCol="0" anchor="ctr"/>
          <a:lstStyle/>
          <a:p>
            <a:pPr marL="0" indent="0">
              <a:buNone/>
            </a:pPr>
            <a:r>
              <a:rPr lang="en-US" sz="1000">
                <a:latin typeface="Gellix" pitchFamily="2" charset="77"/>
                <a:ea typeface="Calibri" pitchFamily="34" charset="-122"/>
                <a:cs typeface="Gellix" pitchFamily="2" charset="77"/>
              </a:rPr>
              <a:t>Neuro® AI platforms, SLM Factory, Cognizant Flowsource™, Cognizant Ignition™ — modular, scalable, context-first.</a:t>
            </a:r>
          </a:p>
        </p:txBody>
      </p:sp>
      <p:sp>
        <p:nvSpPr>
          <p:cNvPr id="89" name="Text 5">
            <a:extLst>
              <a:ext uri="{FF2B5EF4-FFF2-40B4-BE49-F238E27FC236}">
                <a16:creationId xmlns:a16="http://schemas.microsoft.com/office/drawing/2014/main" id="{1CCE1F38-82AF-1E72-8C22-FE1080276FAF}"/>
              </a:ext>
            </a:extLst>
          </p:cNvPr>
          <p:cNvSpPr/>
          <p:nvPr/>
        </p:nvSpPr>
        <p:spPr>
          <a:xfrm>
            <a:off x="7201947" y="2803135"/>
            <a:ext cx="1856052" cy="655377"/>
          </a:xfrm>
          <a:prstGeom prst="rect">
            <a:avLst/>
          </a:prstGeom>
          <a:noFill/>
          <a:ln/>
        </p:spPr>
        <p:txBody>
          <a:bodyPr wrap="square" rtlCol="0" anchor="ctr"/>
          <a:lstStyle/>
          <a:p>
            <a:pPr marL="0" indent="0">
              <a:buNone/>
            </a:pPr>
            <a:r>
              <a:rPr lang="en-US" sz="1200" b="1">
                <a:solidFill>
                  <a:srgbClr val="000045"/>
                </a:solidFill>
                <a:latin typeface="Gellix" pitchFamily="2" charset="77"/>
                <a:cs typeface="Gellix" pitchFamily="2" charset="77"/>
              </a:rPr>
              <a:t>AI Lab Innovation</a:t>
            </a:r>
          </a:p>
        </p:txBody>
      </p:sp>
      <p:sp>
        <p:nvSpPr>
          <p:cNvPr id="90" name="Text 6">
            <a:extLst>
              <a:ext uri="{FF2B5EF4-FFF2-40B4-BE49-F238E27FC236}">
                <a16:creationId xmlns:a16="http://schemas.microsoft.com/office/drawing/2014/main" id="{7451A15F-536B-54FB-48B6-A0E12C43E0E5}"/>
              </a:ext>
            </a:extLst>
          </p:cNvPr>
          <p:cNvSpPr/>
          <p:nvPr/>
        </p:nvSpPr>
        <p:spPr>
          <a:xfrm>
            <a:off x="7187433" y="3594599"/>
            <a:ext cx="1856052" cy="983068"/>
          </a:xfrm>
          <a:prstGeom prst="rect">
            <a:avLst/>
          </a:prstGeom>
          <a:noFill/>
          <a:ln/>
        </p:spPr>
        <p:txBody>
          <a:bodyPr wrap="square" rtlCol="0" anchor="ctr"/>
          <a:lstStyle/>
          <a:p>
            <a:pPr marL="0" indent="0">
              <a:buNone/>
            </a:pPr>
            <a:r>
              <a:rPr lang="en-US" sz="1000">
                <a:latin typeface="Gellix" pitchFamily="2" charset="77"/>
                <a:ea typeface="Calibri" pitchFamily="34" charset="-122"/>
                <a:cs typeface="Gellix" pitchFamily="2" charset="77"/>
              </a:rPr>
              <a:t>65+ patents, 90+ peer-reviewed publications, 8 global research labs. Continuous innovation pipeline feeding directly into client solutions.</a:t>
            </a:r>
          </a:p>
        </p:txBody>
      </p:sp>
      <p:sp>
        <p:nvSpPr>
          <p:cNvPr id="92" name="Shape 3">
            <a:extLst>
              <a:ext uri="{FF2B5EF4-FFF2-40B4-BE49-F238E27FC236}">
                <a16:creationId xmlns:a16="http://schemas.microsoft.com/office/drawing/2014/main" id="{EB834D46-76EA-3ACC-F923-CDF2EE76F74F}"/>
              </a:ext>
            </a:extLst>
          </p:cNvPr>
          <p:cNvSpPr/>
          <p:nvPr/>
        </p:nvSpPr>
        <p:spPr>
          <a:xfrm>
            <a:off x="9253114" y="3594599"/>
            <a:ext cx="2064293" cy="1207608"/>
          </a:xfrm>
          <a:prstGeom prst="rect">
            <a:avLst/>
          </a:prstGeom>
          <a:noFill/>
          <a:ln w="6350">
            <a:noFill/>
            <a:prstDash val="solid"/>
          </a:ln>
        </p:spPr>
        <p:txBody>
          <a:bodyPr/>
          <a:lstStyle/>
          <a:p>
            <a:pPr lvl="0"/>
            <a:r>
              <a:rPr lang="en-US" sz="1000">
                <a:latin typeface="Gellix" pitchFamily="2" charset="77"/>
              </a:rPr>
              <a:t>A broad and diverse ecosystem of partners ranging from established hyperscalers and infrastructure providers to startups that bring outsized value.</a:t>
            </a:r>
          </a:p>
        </p:txBody>
      </p:sp>
      <p:sp>
        <p:nvSpPr>
          <p:cNvPr id="94" name="Text 5">
            <a:extLst>
              <a:ext uri="{FF2B5EF4-FFF2-40B4-BE49-F238E27FC236}">
                <a16:creationId xmlns:a16="http://schemas.microsoft.com/office/drawing/2014/main" id="{037CFBD8-7D94-61E0-8695-8C84D95BBA73}"/>
              </a:ext>
            </a:extLst>
          </p:cNvPr>
          <p:cNvSpPr/>
          <p:nvPr/>
        </p:nvSpPr>
        <p:spPr>
          <a:xfrm>
            <a:off x="9362843" y="2824743"/>
            <a:ext cx="1856052" cy="655377"/>
          </a:xfrm>
          <a:prstGeom prst="rect">
            <a:avLst/>
          </a:prstGeom>
          <a:noFill/>
          <a:ln/>
        </p:spPr>
        <p:txBody>
          <a:bodyPr wrap="square" rtlCol="0" anchor="ctr"/>
          <a:lstStyle/>
          <a:p>
            <a:pPr marL="0" indent="0">
              <a:buNone/>
            </a:pPr>
            <a:r>
              <a:rPr lang="en-US" sz="1200" b="1">
                <a:solidFill>
                  <a:srgbClr val="000045"/>
                </a:solidFill>
                <a:latin typeface="Gellix" pitchFamily="2" charset="77"/>
                <a:cs typeface="Gellix" pitchFamily="2" charset="77"/>
              </a:rPr>
              <a:t>Partner Ecosystem</a:t>
            </a:r>
          </a:p>
        </p:txBody>
      </p:sp>
      <p:sp>
        <p:nvSpPr>
          <p:cNvPr id="100" name="Slide Number Placeholder 4">
            <a:extLst>
              <a:ext uri="{FF2B5EF4-FFF2-40B4-BE49-F238E27FC236}">
                <a16:creationId xmlns:a16="http://schemas.microsoft.com/office/drawing/2014/main" id="{6FC1A73D-7A67-CA02-A9E7-A615F6464332}"/>
              </a:ext>
            </a:extLst>
          </p:cNvPr>
          <p:cNvSpPr txBox="1">
            <a:spLocks/>
          </p:cNvSpPr>
          <p:nvPr/>
        </p:nvSpPr>
        <p:spPr>
          <a:xfrm>
            <a:off x="9056370" y="6374447"/>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1B95D35-DD53-0442-BAEB-773F9797755E}" type="slidenum">
              <a:rPr lang="en-US" sz="1000" smtClean="0">
                <a:solidFill>
                  <a:schemeClr val="bg1">
                    <a:lumMod val="65000"/>
                    <a:lumOff val="35000"/>
                  </a:schemeClr>
                </a:solidFill>
                <a:latin typeface="Gellix" pitchFamily="2" charset="77"/>
                <a:cs typeface="Gellix" pitchFamily="2" charset="77"/>
              </a:rPr>
              <a:pPr/>
              <a:t>6</a:t>
            </a:fld>
            <a:endParaRPr lang="en-US" sz="1000">
              <a:solidFill>
                <a:schemeClr val="bg1">
                  <a:lumMod val="65000"/>
                  <a:lumOff val="35000"/>
                </a:schemeClr>
              </a:solidFill>
              <a:latin typeface="Gellix" pitchFamily="2" charset="77"/>
              <a:cs typeface="Gellix" pitchFamily="2" charset="77"/>
            </a:endParaRPr>
          </a:p>
        </p:txBody>
      </p:sp>
      <p:sp>
        <p:nvSpPr>
          <p:cNvPr id="101" name="Text 5">
            <a:extLst>
              <a:ext uri="{FF2B5EF4-FFF2-40B4-BE49-F238E27FC236}">
                <a16:creationId xmlns:a16="http://schemas.microsoft.com/office/drawing/2014/main" id="{344547FE-73F9-B1EB-46B8-0EFC18CBD784}"/>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102" name="Slide Number Placeholder 8">
            <a:extLst>
              <a:ext uri="{FF2B5EF4-FFF2-40B4-BE49-F238E27FC236}">
                <a16:creationId xmlns:a16="http://schemas.microsoft.com/office/drawing/2014/main" id="{1B506FC1-B16E-73E6-3581-1B60A0570C09}"/>
              </a:ext>
            </a:extLst>
          </p:cNvPr>
          <p:cNvSpPr txBox="1">
            <a:spLocks/>
          </p:cNvSpPr>
          <p:nvPr/>
        </p:nvSpPr>
        <p:spPr>
          <a:xfrm>
            <a:off x="428293" y="6424768"/>
            <a:ext cx="328448" cy="312464"/>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6</a:t>
            </a:fld>
            <a:endParaRPr lang="en-US" sz="1100">
              <a:solidFill>
                <a:schemeClr val="tx1">
                  <a:lumMod val="50000"/>
                  <a:lumOff val="50000"/>
                </a:schemeClr>
              </a:solidFill>
              <a:latin typeface="Gellix Light" pitchFamily="2" charset="77"/>
              <a:cs typeface="Gellix Light" pitchFamily="2" charset="77"/>
            </a:endParaRPr>
          </a:p>
        </p:txBody>
      </p:sp>
      <p:pic>
        <p:nvPicPr>
          <p:cNvPr id="103" name="Picture 102" descr="A blue text on a black background&#10;&#10;Description automatically generated">
            <a:extLst>
              <a:ext uri="{FF2B5EF4-FFF2-40B4-BE49-F238E27FC236}">
                <a16:creationId xmlns:a16="http://schemas.microsoft.com/office/drawing/2014/main" id="{C8FCA037-F8BC-677A-ADF8-23DD72C6DB70}"/>
              </a:ext>
            </a:extLst>
          </p:cNvPr>
          <p:cNvPicPr>
            <a:picLocks noChangeAspect="1"/>
          </p:cNvPicPr>
          <p:nvPr/>
        </p:nvPicPr>
        <p:blipFill>
          <a:blip r:embed="rId3"/>
          <a:stretch>
            <a:fillRect/>
          </a:stretch>
        </p:blipFill>
        <p:spPr>
          <a:xfrm>
            <a:off x="10725682" y="6495222"/>
            <a:ext cx="974900" cy="174670"/>
          </a:xfrm>
          <a:prstGeom prst="rect">
            <a:avLst/>
          </a:prstGeom>
        </p:spPr>
      </p:pic>
      <p:grpSp>
        <p:nvGrpSpPr>
          <p:cNvPr id="104" name="Group 129">
            <a:extLst>
              <a:ext uri="{FF2B5EF4-FFF2-40B4-BE49-F238E27FC236}">
                <a16:creationId xmlns:a16="http://schemas.microsoft.com/office/drawing/2014/main" id="{9A249E9A-3C03-A2AA-6C1E-9E8F821D3231}"/>
              </a:ext>
            </a:extLst>
          </p:cNvPr>
          <p:cNvGrpSpPr/>
          <p:nvPr/>
        </p:nvGrpSpPr>
        <p:grpSpPr>
          <a:xfrm>
            <a:off x="914257" y="2000830"/>
            <a:ext cx="753059" cy="753058"/>
            <a:chOff x="0" y="0"/>
            <a:chExt cx="1506115" cy="1506115"/>
          </a:xfrm>
        </p:grpSpPr>
        <p:sp>
          <p:nvSpPr>
            <p:cNvPr id="105" name="Oval 508">
              <a:extLst>
                <a:ext uri="{FF2B5EF4-FFF2-40B4-BE49-F238E27FC236}">
                  <a16:creationId xmlns:a16="http://schemas.microsoft.com/office/drawing/2014/main" id="{5A7F4B28-856D-0711-D40C-E152E7FEC554}"/>
                </a:ext>
              </a:extLst>
            </p:cNvPr>
            <p:cNvSpPr/>
            <p:nvPr/>
          </p:nvSpPr>
          <p:spPr>
            <a:xfrm>
              <a:off x="-1" y="-1"/>
              <a:ext cx="1506117" cy="1506117"/>
            </a:xfrm>
            <a:prstGeom prst="ellipse">
              <a:avLst/>
            </a:prstGeom>
            <a:noFill/>
            <a:ln w="25400" cap="flat">
              <a:solidFill>
                <a:srgbClr val="000045"/>
              </a:solidFill>
              <a:prstDash val="solid"/>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grpSp>
          <p:nvGrpSpPr>
            <p:cNvPr id="106" name="Group 128">
              <a:extLst>
                <a:ext uri="{FF2B5EF4-FFF2-40B4-BE49-F238E27FC236}">
                  <a16:creationId xmlns:a16="http://schemas.microsoft.com/office/drawing/2014/main" id="{B082E700-43AA-1D8E-7E76-0B9A800C3814}"/>
                </a:ext>
              </a:extLst>
            </p:cNvPr>
            <p:cNvGrpSpPr/>
            <p:nvPr/>
          </p:nvGrpSpPr>
          <p:grpSpPr>
            <a:xfrm>
              <a:off x="29917" y="9977"/>
              <a:ext cx="1446281" cy="1486164"/>
              <a:chOff x="0" y="0"/>
              <a:chExt cx="1446279" cy="1486163"/>
            </a:xfrm>
          </p:grpSpPr>
          <p:sp>
            <p:nvSpPr>
              <p:cNvPr id="107" name="Straight Connector 509">
                <a:extLst>
                  <a:ext uri="{FF2B5EF4-FFF2-40B4-BE49-F238E27FC236}">
                    <a16:creationId xmlns:a16="http://schemas.microsoft.com/office/drawing/2014/main" id="{C7080F04-FAF3-00E3-77B5-6817269BD1EE}"/>
                  </a:ext>
                </a:extLst>
              </p:cNvPr>
              <p:cNvSpPr/>
              <p:nvPr/>
            </p:nvSpPr>
            <p:spPr>
              <a:xfrm>
                <a:off x="5257" y="504499"/>
                <a:ext cx="1435762" cy="1"/>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08" name="Straight Connector 510">
                <a:extLst>
                  <a:ext uri="{FF2B5EF4-FFF2-40B4-BE49-F238E27FC236}">
                    <a16:creationId xmlns:a16="http://schemas.microsoft.com/office/drawing/2014/main" id="{ABD7D0A6-6DD7-478D-1F07-C459165288FE}"/>
                  </a:ext>
                </a:extLst>
              </p:cNvPr>
              <p:cNvSpPr/>
              <p:nvPr/>
            </p:nvSpPr>
            <p:spPr>
              <a:xfrm>
                <a:off x="-1" y="981665"/>
                <a:ext cx="1446281" cy="1"/>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09" name="Straight Connector 127">
                <a:extLst>
                  <a:ext uri="{FF2B5EF4-FFF2-40B4-BE49-F238E27FC236}">
                    <a16:creationId xmlns:a16="http://schemas.microsoft.com/office/drawing/2014/main" id="{E73A696B-C8D4-4E9E-AA4F-934EA34CAE08}"/>
                  </a:ext>
                </a:extLst>
              </p:cNvPr>
              <p:cNvSpPr/>
              <p:nvPr/>
            </p:nvSpPr>
            <p:spPr>
              <a:xfrm flipH="1">
                <a:off x="732187" y="0"/>
                <a:ext cx="1" cy="1486164"/>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grpSp>
      </p:grpSp>
      <p:grpSp>
        <p:nvGrpSpPr>
          <p:cNvPr id="115" name="Group 244">
            <a:extLst>
              <a:ext uri="{FF2B5EF4-FFF2-40B4-BE49-F238E27FC236}">
                <a16:creationId xmlns:a16="http://schemas.microsoft.com/office/drawing/2014/main" id="{0E3F9A7E-09DF-3794-7ED8-6C90BCB0240B}"/>
              </a:ext>
            </a:extLst>
          </p:cNvPr>
          <p:cNvGrpSpPr/>
          <p:nvPr/>
        </p:nvGrpSpPr>
        <p:grpSpPr>
          <a:xfrm>
            <a:off x="2963173" y="2000226"/>
            <a:ext cx="1139330" cy="827873"/>
            <a:chOff x="-1" y="-1"/>
            <a:chExt cx="2278658" cy="1655744"/>
          </a:xfrm>
        </p:grpSpPr>
        <p:sp>
          <p:nvSpPr>
            <p:cNvPr id="116" name="Straight Connector 224">
              <a:extLst>
                <a:ext uri="{FF2B5EF4-FFF2-40B4-BE49-F238E27FC236}">
                  <a16:creationId xmlns:a16="http://schemas.microsoft.com/office/drawing/2014/main" id="{7C9A1BA7-23AE-A026-537D-A3F509F57061}"/>
                </a:ext>
              </a:extLst>
            </p:cNvPr>
            <p:cNvSpPr/>
            <p:nvPr/>
          </p:nvSpPr>
          <p:spPr>
            <a:xfrm flipH="1">
              <a:off x="445257" y="16431"/>
              <a:ext cx="694023" cy="467475"/>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17" name="Straight Connector 225">
              <a:extLst>
                <a:ext uri="{FF2B5EF4-FFF2-40B4-BE49-F238E27FC236}">
                  <a16:creationId xmlns:a16="http://schemas.microsoft.com/office/drawing/2014/main" id="{3C894CF2-EADB-41D9-161A-64D33F5730D1}"/>
                </a:ext>
              </a:extLst>
            </p:cNvPr>
            <p:cNvSpPr/>
            <p:nvPr/>
          </p:nvSpPr>
          <p:spPr>
            <a:xfrm flipV="1">
              <a:off x="1139278" y="1058988"/>
              <a:ext cx="673788" cy="500980"/>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18" name="Straight Connector 226">
              <a:extLst>
                <a:ext uri="{FF2B5EF4-FFF2-40B4-BE49-F238E27FC236}">
                  <a16:creationId xmlns:a16="http://schemas.microsoft.com/office/drawing/2014/main" id="{5DDA765E-4440-7F03-A33F-9F852AD5615B}"/>
                </a:ext>
              </a:extLst>
            </p:cNvPr>
            <p:cNvSpPr/>
            <p:nvPr/>
          </p:nvSpPr>
          <p:spPr>
            <a:xfrm flipH="1">
              <a:off x="1097618" y="112206"/>
              <a:ext cx="1990" cy="396752"/>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19" name="Straight Connector 227">
              <a:extLst>
                <a:ext uri="{FF2B5EF4-FFF2-40B4-BE49-F238E27FC236}">
                  <a16:creationId xmlns:a16="http://schemas.microsoft.com/office/drawing/2014/main" id="{A3ACEC72-B26D-16A1-A47D-70BF0B298287}"/>
                </a:ext>
              </a:extLst>
            </p:cNvPr>
            <p:cNvSpPr/>
            <p:nvPr/>
          </p:nvSpPr>
          <p:spPr>
            <a:xfrm>
              <a:off x="1097616" y="1198997"/>
              <a:ext cx="1990" cy="344539"/>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0" name="Straight Connector 228">
              <a:extLst>
                <a:ext uri="{FF2B5EF4-FFF2-40B4-BE49-F238E27FC236}">
                  <a16:creationId xmlns:a16="http://schemas.microsoft.com/office/drawing/2014/main" id="{D6844831-5DB6-E0F2-97BE-BBA35488972F}"/>
                </a:ext>
              </a:extLst>
            </p:cNvPr>
            <p:cNvSpPr/>
            <p:nvPr/>
          </p:nvSpPr>
          <p:spPr>
            <a:xfrm flipH="1">
              <a:off x="1158262" y="333236"/>
              <a:ext cx="1008188" cy="236365"/>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1" name="Straight Connector 229">
              <a:extLst>
                <a:ext uri="{FF2B5EF4-FFF2-40B4-BE49-F238E27FC236}">
                  <a16:creationId xmlns:a16="http://schemas.microsoft.com/office/drawing/2014/main" id="{AECEBD84-5F08-3106-D2A7-9BCCE5F2D9CA}"/>
                </a:ext>
              </a:extLst>
            </p:cNvPr>
            <p:cNvSpPr/>
            <p:nvPr/>
          </p:nvSpPr>
          <p:spPr>
            <a:xfrm flipH="1" flipV="1">
              <a:off x="445257" y="563253"/>
              <a:ext cx="609482" cy="532222"/>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2" name="Straight Connector 231">
              <a:extLst>
                <a:ext uri="{FF2B5EF4-FFF2-40B4-BE49-F238E27FC236}">
                  <a16:creationId xmlns:a16="http://schemas.microsoft.com/office/drawing/2014/main" id="{490CDF6A-CC34-89D0-4601-5AE2937F70FE}"/>
                </a:ext>
              </a:extLst>
            </p:cNvPr>
            <p:cNvSpPr/>
            <p:nvPr/>
          </p:nvSpPr>
          <p:spPr>
            <a:xfrm flipV="1">
              <a:off x="1140499" y="372907"/>
              <a:ext cx="1042383" cy="722568"/>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3" name="Straight Connector 232">
              <a:extLst>
                <a:ext uri="{FF2B5EF4-FFF2-40B4-BE49-F238E27FC236}">
                  <a16:creationId xmlns:a16="http://schemas.microsoft.com/office/drawing/2014/main" id="{E87AC261-7FBE-24B9-5547-568C2A6FEF39}"/>
                </a:ext>
              </a:extLst>
            </p:cNvPr>
            <p:cNvSpPr/>
            <p:nvPr/>
          </p:nvSpPr>
          <p:spPr>
            <a:xfrm flipV="1">
              <a:off x="112207" y="1181238"/>
              <a:ext cx="942530" cy="114334"/>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4" name="Straight Connector 233">
              <a:extLst>
                <a:ext uri="{FF2B5EF4-FFF2-40B4-BE49-F238E27FC236}">
                  <a16:creationId xmlns:a16="http://schemas.microsoft.com/office/drawing/2014/main" id="{1028FB58-C2B9-C5C0-243E-EBB7A3E87920}"/>
                </a:ext>
              </a:extLst>
            </p:cNvPr>
            <p:cNvSpPr/>
            <p:nvPr/>
          </p:nvSpPr>
          <p:spPr>
            <a:xfrm flipV="1">
              <a:off x="95774" y="612484"/>
              <a:ext cx="958962" cy="643418"/>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5" name="Straight Connector 234">
              <a:extLst>
                <a:ext uri="{FF2B5EF4-FFF2-40B4-BE49-F238E27FC236}">
                  <a16:creationId xmlns:a16="http://schemas.microsoft.com/office/drawing/2014/main" id="{F0E1F5BE-A568-F3AB-4A32-4B454399B10E}"/>
                </a:ext>
              </a:extLst>
            </p:cNvPr>
            <p:cNvSpPr/>
            <p:nvPr/>
          </p:nvSpPr>
          <p:spPr>
            <a:xfrm flipH="1" flipV="1">
              <a:off x="1140501" y="612484"/>
              <a:ext cx="672565" cy="367161"/>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sp>
          <p:nvSpPr>
            <p:cNvPr id="126" name="Oval 235">
              <a:extLst>
                <a:ext uri="{FF2B5EF4-FFF2-40B4-BE49-F238E27FC236}">
                  <a16:creationId xmlns:a16="http://schemas.microsoft.com/office/drawing/2014/main" id="{CB2EBAA8-F9CF-523B-6F89-3696C3281706}"/>
                </a:ext>
              </a:extLst>
            </p:cNvPr>
            <p:cNvSpPr/>
            <p:nvPr/>
          </p:nvSpPr>
          <p:spPr>
            <a:xfrm>
              <a:off x="1043502" y="-2"/>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27" name="Oval 236">
              <a:extLst>
                <a:ext uri="{FF2B5EF4-FFF2-40B4-BE49-F238E27FC236}">
                  <a16:creationId xmlns:a16="http://schemas.microsoft.com/office/drawing/2014/main" id="{CEEB303C-5822-544D-9EB3-324E23A90AF9}"/>
                </a:ext>
              </a:extLst>
            </p:cNvPr>
            <p:cNvSpPr/>
            <p:nvPr/>
          </p:nvSpPr>
          <p:spPr>
            <a:xfrm>
              <a:off x="1036973" y="508957"/>
              <a:ext cx="121291" cy="121290"/>
            </a:xfrm>
            <a:prstGeom prst="ellipse">
              <a:avLst/>
            </a:prstGeom>
            <a:noFill/>
            <a:ln w="12700" cap="flat">
              <a:solidFill>
                <a:srgbClr val="000045"/>
              </a:solidFill>
              <a:prstDash val="solid"/>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28" name="Oval 237">
              <a:extLst>
                <a:ext uri="{FF2B5EF4-FFF2-40B4-BE49-F238E27FC236}">
                  <a16:creationId xmlns:a16="http://schemas.microsoft.com/office/drawing/2014/main" id="{4E5E5A70-711C-C45F-3149-F97B6DA96A02}"/>
                </a:ext>
              </a:extLst>
            </p:cNvPr>
            <p:cNvSpPr/>
            <p:nvPr/>
          </p:nvSpPr>
          <p:spPr>
            <a:xfrm>
              <a:off x="1036973" y="1077709"/>
              <a:ext cx="121291" cy="121291"/>
            </a:xfrm>
            <a:prstGeom prst="ellipse">
              <a:avLst/>
            </a:prstGeom>
            <a:noFill/>
            <a:ln w="12700" cap="flat">
              <a:solidFill>
                <a:srgbClr val="000045"/>
              </a:solidFill>
              <a:prstDash val="solid"/>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29" name="Oval 238">
              <a:extLst>
                <a:ext uri="{FF2B5EF4-FFF2-40B4-BE49-F238E27FC236}">
                  <a16:creationId xmlns:a16="http://schemas.microsoft.com/office/drawing/2014/main" id="{E108F3C1-C890-1937-ED57-1E9E66238E19}"/>
                </a:ext>
              </a:extLst>
            </p:cNvPr>
            <p:cNvSpPr/>
            <p:nvPr/>
          </p:nvSpPr>
          <p:spPr>
            <a:xfrm>
              <a:off x="1796631" y="963212"/>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30" name="Oval 239">
              <a:extLst>
                <a:ext uri="{FF2B5EF4-FFF2-40B4-BE49-F238E27FC236}">
                  <a16:creationId xmlns:a16="http://schemas.microsoft.com/office/drawing/2014/main" id="{D39C78B2-F40E-B932-25EA-1E02AD57A326}"/>
                </a:ext>
              </a:extLst>
            </p:cNvPr>
            <p:cNvSpPr/>
            <p:nvPr/>
          </p:nvSpPr>
          <p:spPr>
            <a:xfrm>
              <a:off x="2166448" y="277131"/>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31" name="Oval 240">
              <a:extLst>
                <a:ext uri="{FF2B5EF4-FFF2-40B4-BE49-F238E27FC236}">
                  <a16:creationId xmlns:a16="http://schemas.microsoft.com/office/drawing/2014/main" id="{AFD51841-B09C-D4C0-69D9-F7F6477003BE}"/>
                </a:ext>
              </a:extLst>
            </p:cNvPr>
            <p:cNvSpPr/>
            <p:nvPr/>
          </p:nvSpPr>
          <p:spPr>
            <a:xfrm>
              <a:off x="349479" y="467474"/>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32" name="Oval 241">
              <a:extLst>
                <a:ext uri="{FF2B5EF4-FFF2-40B4-BE49-F238E27FC236}">
                  <a16:creationId xmlns:a16="http://schemas.microsoft.com/office/drawing/2014/main" id="{23FD21EE-2A66-03EC-D54F-666E64A2FA46}"/>
                </a:ext>
              </a:extLst>
            </p:cNvPr>
            <p:cNvSpPr/>
            <p:nvPr/>
          </p:nvSpPr>
          <p:spPr>
            <a:xfrm>
              <a:off x="-2" y="1239466"/>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33" name="Oval 242">
              <a:extLst>
                <a:ext uri="{FF2B5EF4-FFF2-40B4-BE49-F238E27FC236}">
                  <a16:creationId xmlns:a16="http://schemas.microsoft.com/office/drawing/2014/main" id="{AB684C05-F30B-47E1-A7DC-A34090C9051E}"/>
                </a:ext>
              </a:extLst>
            </p:cNvPr>
            <p:cNvSpPr/>
            <p:nvPr/>
          </p:nvSpPr>
          <p:spPr>
            <a:xfrm>
              <a:off x="1043502" y="1543534"/>
              <a:ext cx="112210" cy="112210"/>
            </a:xfrm>
            <a:prstGeom prst="ellipse">
              <a:avLst/>
            </a:prstGeom>
            <a:solidFill>
              <a:srgbClr val="FFFFFF"/>
            </a:solidFill>
            <a:ln w="3175" cap="flat">
              <a:solidFill>
                <a:srgbClr val="000045"/>
              </a:solidFill>
              <a:miter lim="400000"/>
            </a:ln>
            <a:effectLst/>
          </p:spPr>
          <p:txBody>
            <a:bodyPr wrap="square" lIns="14107" tIns="14107" rIns="14107" bIns="14107" numCol="1" anchor="ctr">
              <a:noAutofit/>
            </a:bodyPr>
            <a:lstStyle/>
            <a:p>
              <a:pPr algn="ctr" defTabSz="933425" hangingPunct="0">
                <a:defRPr sz="1800">
                  <a:latin typeface="Arial"/>
                  <a:ea typeface="Arial"/>
                  <a:cs typeface="Arial"/>
                  <a:sym typeface="Arial"/>
                </a:defRPr>
              </a:pPr>
              <a:endParaRPr sz="900" kern="0">
                <a:solidFill>
                  <a:srgbClr val="FFFFFF"/>
                </a:solidFill>
                <a:latin typeface="Arial"/>
                <a:cs typeface="Arial"/>
                <a:sym typeface="Arial"/>
              </a:endParaRPr>
            </a:p>
          </p:txBody>
        </p:sp>
        <p:sp>
          <p:nvSpPr>
            <p:cNvPr id="134" name="Straight Connector 243">
              <a:extLst>
                <a:ext uri="{FF2B5EF4-FFF2-40B4-BE49-F238E27FC236}">
                  <a16:creationId xmlns:a16="http://schemas.microsoft.com/office/drawing/2014/main" id="{6BE8005C-291C-F719-8A19-CD58E5C76A7F}"/>
                </a:ext>
              </a:extLst>
            </p:cNvPr>
            <p:cNvSpPr/>
            <p:nvPr/>
          </p:nvSpPr>
          <p:spPr>
            <a:xfrm>
              <a:off x="1100226" y="630244"/>
              <a:ext cx="1" cy="447465"/>
            </a:xfrm>
            <a:prstGeom prst="line">
              <a:avLst/>
            </a:prstGeom>
            <a:noFill/>
            <a:ln w="25400" cap="flat">
              <a:solidFill>
                <a:srgbClr val="000045"/>
              </a:solidFill>
              <a:prstDash val="solid"/>
              <a:miter lim="400000"/>
            </a:ln>
            <a:effectLst/>
          </p:spPr>
          <p:txBody>
            <a:bodyPr wrap="square" lIns="22859" tIns="22859" rIns="22859" bIns="22859" numCol="1" anchor="t">
              <a:noAutofit/>
            </a:bodyPr>
            <a:lstStyle/>
            <a:p>
              <a:pPr defTabSz="1027263" hangingPunct="0">
                <a:lnSpc>
                  <a:spcPct val="90000"/>
                </a:lnSpc>
                <a:spcBef>
                  <a:spcPts val="1850"/>
                </a:spcBef>
                <a:defRPr sz="3800">
                  <a:solidFill>
                    <a:srgbClr val="000048"/>
                  </a:solidFill>
                  <a:latin typeface="Helvetica Neue"/>
                  <a:ea typeface="Helvetica Neue"/>
                  <a:cs typeface="Helvetica Neue"/>
                  <a:sym typeface="Helvetica Neue"/>
                </a:defRPr>
              </a:pPr>
              <a:endParaRPr sz="1900" kern="0">
                <a:solidFill>
                  <a:srgbClr val="000048"/>
                </a:solidFill>
                <a:latin typeface="Helvetica Neue"/>
                <a:ea typeface="Helvetica Neue"/>
                <a:cs typeface="Helvetica Neue"/>
                <a:sym typeface="Helvetica Neue"/>
              </a:endParaRPr>
            </a:p>
          </p:txBody>
        </p:sp>
      </p:grpSp>
      <p:grpSp>
        <p:nvGrpSpPr>
          <p:cNvPr id="155" name="Group 132">
            <a:extLst>
              <a:ext uri="{FF2B5EF4-FFF2-40B4-BE49-F238E27FC236}">
                <a16:creationId xmlns:a16="http://schemas.microsoft.com/office/drawing/2014/main" id="{629E43D4-B179-FE49-56FE-D4AFE41D3405}"/>
              </a:ext>
            </a:extLst>
          </p:cNvPr>
          <p:cNvGrpSpPr/>
          <p:nvPr/>
        </p:nvGrpSpPr>
        <p:grpSpPr>
          <a:xfrm>
            <a:off x="5312731" y="2152710"/>
            <a:ext cx="761949" cy="582945"/>
            <a:chOff x="0" y="-1"/>
            <a:chExt cx="1523895" cy="1165889"/>
          </a:xfrm>
        </p:grpSpPr>
        <p:sp>
          <p:nvSpPr>
            <p:cNvPr id="156" name="TextBox 59">
              <a:extLst>
                <a:ext uri="{FF2B5EF4-FFF2-40B4-BE49-F238E27FC236}">
                  <a16:creationId xmlns:a16="http://schemas.microsoft.com/office/drawing/2014/main" id="{776D9ACB-9818-29A8-9417-D2F9EDA8C223}"/>
                </a:ext>
              </a:extLst>
            </p:cNvPr>
            <p:cNvSpPr/>
            <p:nvPr/>
          </p:nvSpPr>
          <p:spPr>
            <a:xfrm>
              <a:off x="543009" y="-2"/>
              <a:ext cx="437878" cy="309382"/>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solidFill>
                    <a:srgbClr val="000048"/>
                  </a:solidFill>
                  <a:latin typeface="Arial"/>
                  <a:ea typeface="Arial"/>
                  <a:cs typeface="Arial"/>
                  <a:sym typeface="Arial"/>
                </a:defRPr>
              </a:pPr>
              <a:endParaRPr sz="900" kern="0">
                <a:solidFill>
                  <a:srgbClr val="000048"/>
                </a:solidFill>
                <a:latin typeface="Arial"/>
                <a:cs typeface="Arial"/>
                <a:sym typeface="Arial"/>
              </a:endParaRPr>
            </a:p>
          </p:txBody>
        </p:sp>
        <p:sp>
          <p:nvSpPr>
            <p:cNvPr id="157" name="TextBox 60">
              <a:extLst>
                <a:ext uri="{FF2B5EF4-FFF2-40B4-BE49-F238E27FC236}">
                  <a16:creationId xmlns:a16="http://schemas.microsoft.com/office/drawing/2014/main" id="{EE623DD1-88C5-CADE-FB4B-46687661EEBC}"/>
                </a:ext>
              </a:extLst>
            </p:cNvPr>
            <p:cNvSpPr/>
            <p:nvPr/>
          </p:nvSpPr>
          <p:spPr>
            <a:xfrm>
              <a:off x="1086018" y="-2"/>
              <a:ext cx="437878" cy="309382"/>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solidFill>
                    <a:srgbClr val="000048"/>
                  </a:solidFill>
                  <a:latin typeface="Arial"/>
                  <a:ea typeface="Arial"/>
                  <a:cs typeface="Arial"/>
                  <a:sym typeface="Arial"/>
                </a:defRPr>
              </a:pPr>
              <a:endParaRPr sz="900" kern="0">
                <a:solidFill>
                  <a:srgbClr val="000048"/>
                </a:solidFill>
                <a:latin typeface="Arial"/>
                <a:cs typeface="Arial"/>
                <a:sym typeface="Arial"/>
              </a:endParaRPr>
            </a:p>
          </p:txBody>
        </p:sp>
        <p:sp>
          <p:nvSpPr>
            <p:cNvPr id="158" name="TextBox 61">
              <a:extLst>
                <a:ext uri="{FF2B5EF4-FFF2-40B4-BE49-F238E27FC236}">
                  <a16:creationId xmlns:a16="http://schemas.microsoft.com/office/drawing/2014/main" id="{66F63F80-E093-61DE-6DA8-B0DEA32DD9E2}"/>
                </a:ext>
              </a:extLst>
            </p:cNvPr>
            <p:cNvSpPr/>
            <p:nvPr/>
          </p:nvSpPr>
          <p:spPr>
            <a:xfrm>
              <a:off x="-1" y="439911"/>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latin typeface="Arial"/>
                  <a:ea typeface="Arial"/>
                  <a:cs typeface="Arial"/>
                  <a:sym typeface="Arial"/>
                </a:defRPr>
              </a:pPr>
              <a:endParaRPr sz="900" kern="0">
                <a:solidFill>
                  <a:srgbClr val="FFFFFF"/>
                </a:solidFill>
                <a:latin typeface="Arial"/>
                <a:cs typeface="Arial"/>
                <a:sym typeface="Arial"/>
              </a:endParaRPr>
            </a:p>
          </p:txBody>
        </p:sp>
        <p:sp>
          <p:nvSpPr>
            <p:cNvPr id="159" name="TextBox 62">
              <a:extLst>
                <a:ext uri="{FF2B5EF4-FFF2-40B4-BE49-F238E27FC236}">
                  <a16:creationId xmlns:a16="http://schemas.microsoft.com/office/drawing/2014/main" id="{AEE0315E-7FE9-1C56-5DDB-52D3B15DCEC5}"/>
                </a:ext>
              </a:extLst>
            </p:cNvPr>
            <p:cNvSpPr/>
            <p:nvPr/>
          </p:nvSpPr>
          <p:spPr>
            <a:xfrm>
              <a:off x="-1" y="-2"/>
              <a:ext cx="437878" cy="309382"/>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b="1">
                  <a:latin typeface="Arial"/>
                  <a:ea typeface="Arial"/>
                  <a:cs typeface="Arial"/>
                  <a:sym typeface="Arial"/>
                </a:defRPr>
              </a:pPr>
              <a:endParaRPr sz="900" b="1" kern="0">
                <a:solidFill>
                  <a:srgbClr val="FFFFFF"/>
                </a:solidFill>
                <a:latin typeface="Arial"/>
                <a:cs typeface="Arial"/>
                <a:sym typeface="Arial"/>
              </a:endParaRPr>
            </a:p>
          </p:txBody>
        </p:sp>
        <p:sp>
          <p:nvSpPr>
            <p:cNvPr id="160" name="TextBox 447">
              <a:extLst>
                <a:ext uri="{FF2B5EF4-FFF2-40B4-BE49-F238E27FC236}">
                  <a16:creationId xmlns:a16="http://schemas.microsoft.com/office/drawing/2014/main" id="{E7711DAD-4594-2FC3-37C9-AB9D05D6C29D}"/>
                </a:ext>
              </a:extLst>
            </p:cNvPr>
            <p:cNvSpPr/>
            <p:nvPr/>
          </p:nvSpPr>
          <p:spPr>
            <a:xfrm>
              <a:off x="-1" y="856508"/>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b="1">
                  <a:latin typeface="Arial"/>
                  <a:ea typeface="Arial"/>
                  <a:cs typeface="Arial"/>
                  <a:sym typeface="Arial"/>
                </a:defRPr>
              </a:pPr>
              <a:endParaRPr sz="900" b="1" kern="0">
                <a:solidFill>
                  <a:srgbClr val="FFFFFF"/>
                </a:solidFill>
                <a:latin typeface="Arial"/>
                <a:cs typeface="Arial"/>
                <a:sym typeface="Arial"/>
              </a:endParaRPr>
            </a:p>
          </p:txBody>
        </p:sp>
        <p:sp>
          <p:nvSpPr>
            <p:cNvPr id="161" name="TextBox 448">
              <a:extLst>
                <a:ext uri="{FF2B5EF4-FFF2-40B4-BE49-F238E27FC236}">
                  <a16:creationId xmlns:a16="http://schemas.microsoft.com/office/drawing/2014/main" id="{2AF37973-8209-8F5A-2890-56AA19E0263C}"/>
                </a:ext>
              </a:extLst>
            </p:cNvPr>
            <p:cNvSpPr/>
            <p:nvPr/>
          </p:nvSpPr>
          <p:spPr>
            <a:xfrm>
              <a:off x="1086018" y="856508"/>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latin typeface="Arial"/>
                  <a:ea typeface="Arial"/>
                  <a:cs typeface="Arial"/>
                  <a:sym typeface="Arial"/>
                </a:defRPr>
              </a:pPr>
              <a:endParaRPr sz="900" kern="0">
                <a:solidFill>
                  <a:srgbClr val="FFFFFF"/>
                </a:solidFill>
                <a:latin typeface="Arial"/>
                <a:cs typeface="Arial"/>
                <a:sym typeface="Arial"/>
              </a:endParaRPr>
            </a:p>
          </p:txBody>
        </p:sp>
        <p:sp>
          <p:nvSpPr>
            <p:cNvPr id="162" name="TextBox 449">
              <a:extLst>
                <a:ext uri="{FF2B5EF4-FFF2-40B4-BE49-F238E27FC236}">
                  <a16:creationId xmlns:a16="http://schemas.microsoft.com/office/drawing/2014/main" id="{FAEA1969-D7E0-945B-7C82-AD7758B4D05C}"/>
                </a:ext>
              </a:extLst>
            </p:cNvPr>
            <p:cNvSpPr/>
            <p:nvPr/>
          </p:nvSpPr>
          <p:spPr>
            <a:xfrm>
              <a:off x="543009" y="856508"/>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latin typeface="Arial"/>
                  <a:ea typeface="Arial"/>
                  <a:cs typeface="Arial"/>
                  <a:sym typeface="Arial"/>
                </a:defRPr>
              </a:pPr>
              <a:endParaRPr sz="900" kern="0">
                <a:solidFill>
                  <a:srgbClr val="FFFFFF"/>
                </a:solidFill>
                <a:latin typeface="Arial"/>
                <a:cs typeface="Arial"/>
                <a:sym typeface="Arial"/>
              </a:endParaRPr>
            </a:p>
          </p:txBody>
        </p:sp>
        <p:sp>
          <p:nvSpPr>
            <p:cNvPr id="163" name="TextBox 450">
              <a:extLst>
                <a:ext uri="{FF2B5EF4-FFF2-40B4-BE49-F238E27FC236}">
                  <a16:creationId xmlns:a16="http://schemas.microsoft.com/office/drawing/2014/main" id="{C8F27ADC-A720-D17B-15B3-36BB77499EC7}"/>
                </a:ext>
              </a:extLst>
            </p:cNvPr>
            <p:cNvSpPr/>
            <p:nvPr/>
          </p:nvSpPr>
          <p:spPr>
            <a:xfrm>
              <a:off x="1086018" y="439911"/>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latin typeface="Arial"/>
                  <a:ea typeface="Arial"/>
                  <a:cs typeface="Arial"/>
                  <a:sym typeface="Arial"/>
                </a:defRPr>
              </a:pPr>
              <a:endParaRPr sz="900" kern="0">
                <a:solidFill>
                  <a:srgbClr val="FFFFFF"/>
                </a:solidFill>
                <a:latin typeface="Arial"/>
                <a:cs typeface="Arial"/>
                <a:sym typeface="Arial"/>
              </a:endParaRPr>
            </a:p>
          </p:txBody>
        </p:sp>
        <p:sp>
          <p:nvSpPr>
            <p:cNvPr id="164" name="TextBox 451">
              <a:extLst>
                <a:ext uri="{FF2B5EF4-FFF2-40B4-BE49-F238E27FC236}">
                  <a16:creationId xmlns:a16="http://schemas.microsoft.com/office/drawing/2014/main" id="{6FA034A6-05D4-1F82-FF6B-302B852763AE}"/>
                </a:ext>
              </a:extLst>
            </p:cNvPr>
            <p:cNvSpPr/>
            <p:nvPr/>
          </p:nvSpPr>
          <p:spPr>
            <a:xfrm>
              <a:off x="543009" y="439911"/>
              <a:ext cx="437878" cy="309380"/>
            </a:xfrm>
            <a:prstGeom prst="rect">
              <a:avLst/>
            </a:prstGeom>
            <a:noFill/>
            <a:ln w="25400" cap="flat">
              <a:solidFill>
                <a:srgbClr val="000045"/>
              </a:solidFill>
              <a:prstDash val="solid"/>
              <a:round/>
            </a:ln>
            <a:effectLst/>
          </p:spPr>
          <p:txBody>
            <a:bodyPr wrap="square" lIns="14107" tIns="14107" rIns="14107" bIns="14107" numCol="1" anchor="t">
              <a:noAutofit/>
            </a:bodyPr>
            <a:lstStyle/>
            <a:p>
              <a:pPr defTabSz="803055" hangingPunct="0">
                <a:spcBef>
                  <a:spcPts val="2050"/>
                </a:spcBef>
                <a:defRPr sz="1800">
                  <a:solidFill>
                    <a:srgbClr val="000048"/>
                  </a:solidFill>
                  <a:latin typeface="Arial"/>
                  <a:ea typeface="Arial"/>
                  <a:cs typeface="Arial"/>
                  <a:sym typeface="Arial"/>
                </a:defRPr>
              </a:pPr>
              <a:endParaRPr sz="900" kern="0">
                <a:solidFill>
                  <a:srgbClr val="000048"/>
                </a:solidFill>
                <a:latin typeface="Arial"/>
                <a:cs typeface="Arial"/>
                <a:sym typeface="Arial"/>
              </a:endParaRPr>
            </a:p>
          </p:txBody>
        </p:sp>
      </p:grpSp>
      <p:pic>
        <p:nvPicPr>
          <p:cNvPr id="167" name="Picture 166" descr="A blue light with a brain and lines&#10;&#10;Description automatically generated">
            <a:extLst>
              <a:ext uri="{FF2B5EF4-FFF2-40B4-BE49-F238E27FC236}">
                <a16:creationId xmlns:a16="http://schemas.microsoft.com/office/drawing/2014/main" id="{A0711781-C6F2-EF34-641B-41493083AA47}"/>
              </a:ext>
            </a:extLst>
          </p:cNvPr>
          <p:cNvPicPr>
            <a:picLocks noChangeAspect="1"/>
          </p:cNvPicPr>
          <p:nvPr/>
        </p:nvPicPr>
        <p:blipFill>
          <a:blip r:embed="rId4"/>
          <a:stretch>
            <a:fillRect/>
          </a:stretch>
        </p:blipFill>
        <p:spPr>
          <a:xfrm>
            <a:off x="7403573" y="2094384"/>
            <a:ext cx="723900" cy="711200"/>
          </a:xfrm>
          <a:prstGeom prst="rect">
            <a:avLst/>
          </a:prstGeom>
        </p:spPr>
      </p:pic>
      <p:pic>
        <p:nvPicPr>
          <p:cNvPr id="175" name="Graphic 174">
            <a:extLst>
              <a:ext uri="{FF2B5EF4-FFF2-40B4-BE49-F238E27FC236}">
                <a16:creationId xmlns:a16="http://schemas.microsoft.com/office/drawing/2014/main" id="{D5C8B9F4-477A-D293-728D-3FBFC8B85BF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88205" y="2083138"/>
            <a:ext cx="760760" cy="760760"/>
          </a:xfrm>
          <a:prstGeom prst="rect">
            <a:avLst/>
          </a:prstGeom>
        </p:spPr>
      </p:pic>
      <p:sp>
        <p:nvSpPr>
          <p:cNvPr id="6" name="Title 5">
            <a:extLst>
              <a:ext uri="{FF2B5EF4-FFF2-40B4-BE49-F238E27FC236}">
                <a16:creationId xmlns:a16="http://schemas.microsoft.com/office/drawing/2014/main" id="{AAC4A211-069E-9758-76A6-7FF342B81CBB}"/>
              </a:ext>
            </a:extLst>
          </p:cNvPr>
          <p:cNvSpPr>
            <a:spLocks noGrp="1"/>
          </p:cNvSpPr>
          <p:nvPr>
            <p:ph type="title"/>
          </p:nvPr>
        </p:nvSpPr>
        <p:spPr>
          <a:xfrm>
            <a:off x="457200" y="457200"/>
            <a:ext cx="11277600" cy="332399"/>
          </a:xfrm>
        </p:spPr>
        <p:txBody>
          <a:bodyPr/>
          <a:lstStyle/>
          <a:p>
            <a:r>
              <a:rPr lang="en-US">
                <a:solidFill>
                  <a:srgbClr val="000045"/>
                </a:solidFill>
                <a:latin typeface="Gellix" pitchFamily="2" charset="77"/>
                <a:cs typeface="Gellix" pitchFamily="2" charset="77"/>
              </a:rPr>
              <a:t>Core elements that strengthen our AI Builder stack</a:t>
            </a:r>
            <a:endParaRPr lang="en-US"/>
          </a:p>
        </p:txBody>
      </p:sp>
      <p:sp>
        <p:nvSpPr>
          <p:cNvPr id="7" name="TextBox 6">
            <a:extLst>
              <a:ext uri="{FF2B5EF4-FFF2-40B4-BE49-F238E27FC236}">
                <a16:creationId xmlns:a16="http://schemas.microsoft.com/office/drawing/2014/main" id="{F5089A89-215F-32C9-E45D-BDF21F23D581}"/>
              </a:ext>
            </a:extLst>
          </p:cNvPr>
          <p:cNvSpPr txBox="1"/>
          <p:nvPr/>
        </p:nvSpPr>
        <p:spPr>
          <a:xfrm>
            <a:off x="944380" y="1843790"/>
            <a:ext cx="0" cy="0"/>
          </a:xfrm>
          <a:prstGeom prst="rect">
            <a:avLst/>
          </a:prstGeom>
          <a:noFill/>
        </p:spPr>
        <p:txBody>
          <a:bodyPr wrap="none" lIns="0" tIns="0" rIns="0" bIns="0" rtlCol="0">
            <a:noAutofit/>
          </a:bodyPr>
          <a:lstStyle/>
          <a:p>
            <a:pPr algn="l">
              <a:lnSpc>
                <a:spcPct val="110000"/>
              </a:lnSpc>
              <a:spcBef>
                <a:spcPts val="600"/>
              </a:spcBef>
              <a:spcAft>
                <a:spcPts val="0"/>
              </a:spcAft>
            </a:pPr>
            <a:endParaRPr lang="en-US" err="1"/>
          </a:p>
        </p:txBody>
      </p:sp>
    </p:spTree>
    <p:extLst>
      <p:ext uri="{BB962C8B-B14F-4D97-AF65-F5344CB8AC3E}">
        <p14:creationId xmlns:p14="http://schemas.microsoft.com/office/powerpoint/2010/main" val="1048553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E2DF-6738-29E9-79E7-E626025A62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5BE7C85-5BBE-BDFC-6C55-6EF644282A77}"/>
              </a:ext>
            </a:extLst>
          </p:cNvPr>
          <p:cNvSpPr/>
          <p:nvPr/>
        </p:nvSpPr>
        <p:spPr>
          <a:xfrm>
            <a:off x="4468730" y="2727328"/>
            <a:ext cx="3229239" cy="390144"/>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 0">
            <a:extLst>
              <a:ext uri="{FF2B5EF4-FFF2-40B4-BE49-F238E27FC236}">
                <a16:creationId xmlns:a16="http://schemas.microsoft.com/office/drawing/2014/main" id="{D5046766-92A2-B18E-332B-15CD9BD361D7}"/>
              </a:ext>
            </a:extLst>
          </p:cNvPr>
          <p:cNvSpPr/>
          <p:nvPr/>
        </p:nvSpPr>
        <p:spPr>
          <a:xfrm>
            <a:off x="487680" y="740393"/>
            <a:ext cx="11338560" cy="53035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000045"/>
                </a:solidFill>
                <a:effectLst/>
                <a:uLnTx/>
                <a:uFillTx/>
                <a:latin typeface="Gellix" pitchFamily="2" charset="77"/>
                <a:ea typeface="+mn-ea"/>
                <a:cs typeface="+mn-cs"/>
              </a:rPr>
              <a:t>We build the bridge from generic AI to AI that works for </a:t>
            </a:r>
            <a:r>
              <a:rPr kumimoji="0" lang="en-US" sz="2800" b="1" i="1" u="none" strike="noStrike" kern="1200" cap="none" spc="0" normalizeH="0" baseline="0" noProof="0">
                <a:ln>
                  <a:noFill/>
                </a:ln>
                <a:solidFill>
                  <a:srgbClr val="000045"/>
                </a:solidFill>
                <a:effectLst/>
                <a:uLnTx/>
                <a:uFillTx/>
                <a:latin typeface="Gellix" pitchFamily="2" charset="77"/>
                <a:ea typeface="+mn-ea"/>
                <a:cs typeface="+mn-cs"/>
              </a:rPr>
              <a:t>your business</a:t>
            </a:r>
          </a:p>
        </p:txBody>
      </p:sp>
      <p:sp>
        <p:nvSpPr>
          <p:cNvPr id="42" name="Shape 40">
            <a:extLst>
              <a:ext uri="{FF2B5EF4-FFF2-40B4-BE49-F238E27FC236}">
                <a16:creationId xmlns:a16="http://schemas.microsoft.com/office/drawing/2014/main" id="{81EE4870-CBB6-B7B3-2EAA-14A9563B457C}"/>
              </a:ext>
            </a:extLst>
          </p:cNvPr>
          <p:cNvSpPr/>
          <p:nvPr/>
        </p:nvSpPr>
        <p:spPr>
          <a:xfrm>
            <a:off x="365760" y="3219536"/>
            <a:ext cx="1645920" cy="0"/>
          </a:xfrm>
          <a:prstGeom prst="line">
            <a:avLst/>
          </a:prstGeom>
          <a:noFill/>
          <a:ln w="10160">
            <a:solidFill>
              <a:srgbClr val="E0E0E0"/>
            </a:solidFill>
            <a:prstDash val="dash"/>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2B25FE90-72F2-DB92-1D15-3EE75FD8045F}"/>
              </a:ext>
            </a:extLst>
          </p:cNvPr>
          <p:cNvSpPr/>
          <p:nvPr/>
        </p:nvSpPr>
        <p:spPr>
          <a:xfrm>
            <a:off x="9997440" y="3219536"/>
            <a:ext cx="1828800" cy="0"/>
          </a:xfrm>
          <a:prstGeom prst="line">
            <a:avLst/>
          </a:prstGeom>
          <a:noFill/>
          <a:ln w="10160">
            <a:solidFill>
              <a:srgbClr val="E0E0E0"/>
            </a:solidFill>
            <a:prstDash val="dash"/>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a:extLst>
              <a:ext uri="{FF2B5EF4-FFF2-40B4-BE49-F238E27FC236}">
                <a16:creationId xmlns:a16="http://schemas.microsoft.com/office/drawing/2014/main" id="{3383EA16-7699-6381-2730-F5E192AA8210}"/>
              </a:ext>
            </a:extLst>
          </p:cNvPr>
          <p:cNvSpPr/>
          <p:nvPr/>
        </p:nvSpPr>
        <p:spPr>
          <a:xfrm>
            <a:off x="4468730" y="2756191"/>
            <a:ext cx="3133546" cy="336016"/>
          </a:xfrm>
          <a:prstGeom prst="rect">
            <a:avLst/>
          </a:prstGeom>
          <a:no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Gellix" pitchFamily="2" charset="77"/>
                <a:ea typeface="+mn-ea"/>
                <a:cs typeface="+mn-cs"/>
              </a:rPr>
              <a:t>COGNIZANT as AI BUILDER</a:t>
            </a:r>
          </a:p>
        </p:txBody>
      </p:sp>
      <p:sp>
        <p:nvSpPr>
          <p:cNvPr id="46" name="Text 44">
            <a:extLst>
              <a:ext uri="{FF2B5EF4-FFF2-40B4-BE49-F238E27FC236}">
                <a16:creationId xmlns:a16="http://schemas.microsoft.com/office/drawing/2014/main" id="{4E26AF23-41E3-E2E4-F8D8-B879F3F19387}"/>
              </a:ext>
            </a:extLst>
          </p:cNvPr>
          <p:cNvSpPr/>
          <p:nvPr/>
        </p:nvSpPr>
        <p:spPr>
          <a:xfrm>
            <a:off x="4049903" y="4023062"/>
            <a:ext cx="4023360" cy="243840"/>
          </a:xfrm>
          <a:prstGeom prst="rect">
            <a:avLst/>
          </a:prstGeom>
          <a:noFill/>
          <a:ln/>
        </p:spPr>
        <p:txBody>
          <a:bodyPr wrap="square" lIns="0" tIns="0" rIns="0" bIns="0" rtlCol="0" anchor="t"/>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67" b="0" i="1" u="none" strike="noStrike" kern="1200" cap="none" spc="0" normalizeH="0" baseline="0" noProof="0">
                <a:ln>
                  <a:noFill/>
                </a:ln>
                <a:solidFill>
                  <a:srgbClr val="999999"/>
                </a:solidFill>
                <a:effectLst/>
                <a:uLnTx/>
                <a:uFillTx/>
                <a:latin typeface="Georgia" pitchFamily="34" charset="0"/>
                <a:ea typeface="Georgia" pitchFamily="34" charset="-122"/>
                <a:cs typeface="Georgia" pitchFamily="34" charset="-120"/>
              </a:rPr>
              <a:t>Reducing complexity &amp; risk and accelerating time to value</a:t>
            </a:r>
            <a:endParaRPr kumimoji="0" lang="en-US" sz="1067"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a:extLst>
              <a:ext uri="{FF2B5EF4-FFF2-40B4-BE49-F238E27FC236}">
                <a16:creationId xmlns:a16="http://schemas.microsoft.com/office/drawing/2014/main" id="{CEE2E547-C999-0EB9-BFA6-23C3FCD41592}"/>
              </a:ext>
            </a:extLst>
          </p:cNvPr>
          <p:cNvSpPr/>
          <p:nvPr/>
        </p:nvSpPr>
        <p:spPr>
          <a:xfrm>
            <a:off x="426720" y="1616288"/>
            <a:ext cx="188976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333" normalizeH="0" baseline="0" noProof="0">
                <a:ln>
                  <a:noFill/>
                </a:ln>
                <a:solidFill>
                  <a:srgbClr val="999999"/>
                </a:solidFill>
                <a:effectLst/>
                <a:uLnTx/>
                <a:uFillTx/>
                <a:latin typeface="Calibri" pitchFamily="34" charset="0"/>
                <a:ea typeface="Calibri" pitchFamily="34" charset="-122"/>
                <a:cs typeface="Calibri" pitchFamily="34" charset="-120"/>
              </a:rPr>
              <a:t>AI INVESTMENTS</a:t>
            </a:r>
            <a:endParaRPr kumimoji="0" lang="en-US" sz="9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a:extLst>
              <a:ext uri="{FF2B5EF4-FFF2-40B4-BE49-F238E27FC236}">
                <a16:creationId xmlns:a16="http://schemas.microsoft.com/office/drawing/2014/main" id="{6088F200-13B2-5F2F-66B8-8EC53C434597}"/>
              </a:ext>
            </a:extLst>
          </p:cNvPr>
          <p:cNvSpPr/>
          <p:nvPr/>
        </p:nvSpPr>
        <p:spPr>
          <a:xfrm>
            <a:off x="426720" y="1908896"/>
            <a:ext cx="1889760" cy="39014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Foundation models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GPT, Claude, Gemini, Llama</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53443428-BE94-EAC9-61FD-C5EBB56DBFE8}"/>
              </a:ext>
            </a:extLst>
          </p:cNvPr>
          <p:cNvSpPr/>
          <p:nvPr/>
        </p:nvSpPr>
        <p:spPr>
          <a:xfrm>
            <a:off x="426720" y="2299040"/>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Text 48">
            <a:extLst>
              <a:ext uri="{FF2B5EF4-FFF2-40B4-BE49-F238E27FC236}">
                <a16:creationId xmlns:a16="http://schemas.microsoft.com/office/drawing/2014/main" id="{68EE28B0-B370-1852-BC7E-698D340E0767}"/>
              </a:ext>
            </a:extLst>
          </p:cNvPr>
          <p:cNvSpPr/>
          <p:nvPr/>
        </p:nvSpPr>
        <p:spPr>
          <a:xfrm>
            <a:off x="426720" y="2323424"/>
            <a:ext cx="1889760" cy="39014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Silicon &amp; compute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GPUs, TPUs, custom accelerators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6FF91A44-D808-19DF-D10B-C97A94CD727E}"/>
              </a:ext>
            </a:extLst>
          </p:cNvPr>
          <p:cNvSpPr/>
          <p:nvPr/>
        </p:nvSpPr>
        <p:spPr>
          <a:xfrm>
            <a:off x="426720" y="2713568"/>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50">
            <a:extLst>
              <a:ext uri="{FF2B5EF4-FFF2-40B4-BE49-F238E27FC236}">
                <a16:creationId xmlns:a16="http://schemas.microsoft.com/office/drawing/2014/main" id="{28DED697-EBA6-CC15-F201-69F634B4FBF6}"/>
              </a:ext>
            </a:extLst>
          </p:cNvPr>
          <p:cNvSpPr/>
          <p:nvPr/>
        </p:nvSpPr>
        <p:spPr>
          <a:xfrm>
            <a:off x="426720" y="2737952"/>
            <a:ext cx="1889760" cy="39014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AI Factories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Hyperscale data centers</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61145C60-637F-F26E-2FED-11956C57B836}"/>
              </a:ext>
            </a:extLst>
          </p:cNvPr>
          <p:cNvSpPr/>
          <p:nvPr/>
        </p:nvSpPr>
        <p:spPr>
          <a:xfrm>
            <a:off x="426720" y="3128096"/>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a:extLst>
              <a:ext uri="{FF2B5EF4-FFF2-40B4-BE49-F238E27FC236}">
                <a16:creationId xmlns:a16="http://schemas.microsoft.com/office/drawing/2014/main" id="{C81B356F-AE98-8480-5B22-49C1A2AE87B4}"/>
              </a:ext>
            </a:extLst>
          </p:cNvPr>
          <p:cNvSpPr/>
          <p:nvPr/>
        </p:nvSpPr>
        <p:spPr>
          <a:xfrm>
            <a:off x="426720" y="3152480"/>
            <a:ext cx="1889760" cy="39014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Data infrastructure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Structured + unstructured at scale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7198F117-6F2F-59DC-4233-452FFBF54EDD}"/>
              </a:ext>
            </a:extLst>
          </p:cNvPr>
          <p:cNvSpPr/>
          <p:nvPr/>
        </p:nvSpPr>
        <p:spPr>
          <a:xfrm>
            <a:off x="426720" y="3542624"/>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4">
            <a:extLst>
              <a:ext uri="{FF2B5EF4-FFF2-40B4-BE49-F238E27FC236}">
                <a16:creationId xmlns:a16="http://schemas.microsoft.com/office/drawing/2014/main" id="{AFE21309-E70C-CB68-703B-96A879C7C271}"/>
              </a:ext>
            </a:extLst>
          </p:cNvPr>
          <p:cNvSpPr/>
          <p:nvPr/>
        </p:nvSpPr>
        <p:spPr>
          <a:xfrm>
            <a:off x="9875520" y="1616288"/>
            <a:ext cx="1889760" cy="219456"/>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333" normalizeH="0" baseline="0" noProof="0">
                <a:ln>
                  <a:noFill/>
                </a:ln>
                <a:solidFill>
                  <a:srgbClr val="999999"/>
                </a:solidFill>
                <a:effectLst/>
                <a:uLnTx/>
                <a:uFillTx/>
                <a:latin typeface="Calibri" pitchFamily="34" charset="0"/>
                <a:ea typeface="Calibri" pitchFamily="34" charset="-122"/>
                <a:cs typeface="Calibri" pitchFamily="34" charset="-120"/>
              </a:rPr>
              <a:t>ENTERPRISE VALUE</a:t>
            </a:r>
            <a:endParaRPr kumimoji="0" lang="en-US" sz="9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a:extLst>
              <a:ext uri="{FF2B5EF4-FFF2-40B4-BE49-F238E27FC236}">
                <a16:creationId xmlns:a16="http://schemas.microsoft.com/office/drawing/2014/main" id="{CE98573C-71C0-2375-9E54-8CD5D8290C75}"/>
              </a:ext>
            </a:extLst>
          </p:cNvPr>
          <p:cNvSpPr/>
          <p:nvPr/>
        </p:nvSpPr>
        <p:spPr>
          <a:xfrm>
            <a:off x="9875520" y="1908896"/>
            <a:ext cx="1889760" cy="390144"/>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Business reinvention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New agentic capacity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9E6BDC2E-C437-49A7-EFAC-5747DE19EDEF}"/>
              </a:ext>
            </a:extLst>
          </p:cNvPr>
          <p:cNvSpPr/>
          <p:nvPr/>
        </p:nvSpPr>
        <p:spPr>
          <a:xfrm>
            <a:off x="9875520" y="2299040"/>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a:extLst>
              <a:ext uri="{FF2B5EF4-FFF2-40B4-BE49-F238E27FC236}">
                <a16:creationId xmlns:a16="http://schemas.microsoft.com/office/drawing/2014/main" id="{254F5A60-C98A-CCED-120C-2AA190B0576E}"/>
              </a:ext>
            </a:extLst>
          </p:cNvPr>
          <p:cNvSpPr/>
          <p:nvPr/>
        </p:nvSpPr>
        <p:spPr>
          <a:xfrm>
            <a:off x="9875520" y="2323424"/>
            <a:ext cx="1889760" cy="390144"/>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Hyperproductivity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AI-led SDLC, tech debt liberation</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1BD807CB-2D08-21B0-906E-1E3CD6400121}"/>
              </a:ext>
            </a:extLst>
          </p:cNvPr>
          <p:cNvSpPr/>
          <p:nvPr/>
        </p:nvSpPr>
        <p:spPr>
          <a:xfrm>
            <a:off x="9875520" y="2713568"/>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9">
            <a:extLst>
              <a:ext uri="{FF2B5EF4-FFF2-40B4-BE49-F238E27FC236}">
                <a16:creationId xmlns:a16="http://schemas.microsoft.com/office/drawing/2014/main" id="{F9EF86A5-76BD-6275-E45A-724CAF7E2D82}"/>
              </a:ext>
            </a:extLst>
          </p:cNvPr>
          <p:cNvSpPr/>
          <p:nvPr/>
        </p:nvSpPr>
        <p:spPr>
          <a:xfrm>
            <a:off x="9875520" y="2737952"/>
            <a:ext cx="1889760" cy="390144"/>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 Innovation &amp; growth</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New products, services &amp; revenue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41E0106D-36AF-074D-29E0-00B7F150731D}"/>
              </a:ext>
            </a:extLst>
          </p:cNvPr>
          <p:cNvSpPr/>
          <p:nvPr/>
        </p:nvSpPr>
        <p:spPr>
          <a:xfrm>
            <a:off x="9875520" y="3128096"/>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Text 61">
            <a:extLst>
              <a:ext uri="{FF2B5EF4-FFF2-40B4-BE49-F238E27FC236}">
                <a16:creationId xmlns:a16="http://schemas.microsoft.com/office/drawing/2014/main" id="{887875A2-E827-6C48-CD87-56DE71E231C8}"/>
              </a:ext>
            </a:extLst>
          </p:cNvPr>
          <p:cNvSpPr/>
          <p:nvPr/>
        </p:nvSpPr>
        <p:spPr>
          <a:xfrm>
            <a:off x="9875520" y="3152480"/>
            <a:ext cx="1889760" cy="390144"/>
          </a:xfrm>
          <a:prstGeom prst="rect">
            <a:avLst/>
          </a:prstGeom>
          <a:noFill/>
          <a:ln/>
        </p:spPr>
        <p:txBody>
          <a:bodyPr wrap="square" lIns="0" tIns="0" rIns="0" bIns="0" rtlCol="0" anchor="ct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22222"/>
                </a:solidFill>
                <a:effectLst/>
                <a:uLnTx/>
                <a:uFillTx/>
                <a:latin typeface="Calibri" pitchFamily="34" charset="0"/>
                <a:ea typeface="Calibri" pitchFamily="34" charset="-122"/>
                <a:cs typeface="Calibri" pitchFamily="34" charset="-120"/>
              </a:rPr>
              <a:t>Competitive advantage</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AAAAAA"/>
                </a:solidFill>
                <a:effectLst/>
                <a:uLnTx/>
                <a:uFillTx/>
                <a:latin typeface="Calibri" pitchFamily="34" charset="0"/>
                <a:ea typeface="Calibri" pitchFamily="34" charset="-122"/>
                <a:cs typeface="Calibri" pitchFamily="34" charset="-120"/>
              </a:rPr>
              <a:t>Durable differentiation &amp; growth</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657AB659-5FAA-6BC9-56ED-80134A323470}"/>
              </a:ext>
            </a:extLst>
          </p:cNvPr>
          <p:cNvSpPr/>
          <p:nvPr/>
        </p:nvSpPr>
        <p:spPr>
          <a:xfrm>
            <a:off x="9875520" y="3542624"/>
            <a:ext cx="188976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744ACC3C-97B3-2D2B-AB83-0ECD3B54AA27}"/>
              </a:ext>
            </a:extLst>
          </p:cNvPr>
          <p:cNvSpPr/>
          <p:nvPr/>
        </p:nvSpPr>
        <p:spPr>
          <a:xfrm>
            <a:off x="1219200" y="4474464"/>
            <a:ext cx="9753600" cy="0"/>
          </a:xfrm>
          <a:prstGeom prst="line">
            <a:avLst/>
          </a:prstGeom>
          <a:noFill/>
          <a:ln w="6350">
            <a:solidFill>
              <a:srgbClr val="E0E0E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35C6239C-418C-39AF-90C9-9EF12DBFEFB0}"/>
              </a:ext>
            </a:extLst>
          </p:cNvPr>
          <p:cNvSpPr/>
          <p:nvPr/>
        </p:nvSpPr>
        <p:spPr>
          <a:xfrm>
            <a:off x="6583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Text 66">
            <a:extLst>
              <a:ext uri="{FF2B5EF4-FFF2-40B4-BE49-F238E27FC236}">
                <a16:creationId xmlns:a16="http://schemas.microsoft.com/office/drawing/2014/main" id="{FC593A16-868B-0904-52B4-92F93059BB14}"/>
              </a:ext>
            </a:extLst>
          </p:cNvPr>
          <p:cNvSpPr/>
          <p:nvPr/>
        </p:nvSpPr>
        <p:spPr>
          <a:xfrm>
            <a:off x="658368" y="4876800"/>
            <a:ext cx="1731264"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itchFamily="34" charset="0"/>
                <a:ea typeface="Calibri" pitchFamily="34" charset="-122"/>
                <a:cs typeface="Calibri" pitchFamily="34" charset="-120"/>
              </a:rPr>
              <a:t>Business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itchFamily="34" charset="0"/>
                <a:ea typeface="Calibri" pitchFamily="34" charset="-122"/>
                <a:cs typeface="Calibri" pitchFamily="34" charset="-120"/>
              </a:rPr>
              <a:t>reimagination</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 67">
            <a:extLst>
              <a:ext uri="{FF2B5EF4-FFF2-40B4-BE49-F238E27FC236}">
                <a16:creationId xmlns:a16="http://schemas.microsoft.com/office/drawing/2014/main" id="{36956F99-9BE5-DCE5-F36B-292E5DBF4C6D}"/>
              </a:ext>
            </a:extLst>
          </p:cNvPr>
          <p:cNvSpPr/>
          <p:nvPr/>
        </p:nvSpPr>
        <p:spPr>
          <a:xfrm>
            <a:off x="658368" y="5443680"/>
            <a:ext cx="1731264"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itchFamily="34" charset="0"/>
                <a:ea typeface="+mn-ea"/>
                <a:cs typeface="Calibri" pitchFamily="34" charset="-120"/>
              </a:rPr>
              <a:t>Cognizant BASIS consulting methodology and process re-engineering .</a:t>
            </a:r>
            <a:endPar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BE949803-11D8-C3C7-6A57-7C29AD1C3845}"/>
              </a:ext>
            </a:extLst>
          </p:cNvPr>
          <p:cNvSpPr/>
          <p:nvPr/>
        </p:nvSpPr>
        <p:spPr>
          <a:xfrm>
            <a:off x="2438400" y="4803648"/>
            <a:ext cx="0" cy="128016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320BF1A1-902E-188E-8104-4BF62D47E46C}"/>
              </a:ext>
            </a:extLst>
          </p:cNvPr>
          <p:cNvSpPr/>
          <p:nvPr/>
        </p:nvSpPr>
        <p:spPr>
          <a:xfrm>
            <a:off x="24871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Text 71">
            <a:extLst>
              <a:ext uri="{FF2B5EF4-FFF2-40B4-BE49-F238E27FC236}">
                <a16:creationId xmlns:a16="http://schemas.microsoft.com/office/drawing/2014/main" id="{021DBEDE-946B-3BA0-AFFF-B522E814C0E2}"/>
              </a:ext>
            </a:extLst>
          </p:cNvPr>
          <p:cNvSpPr/>
          <p:nvPr/>
        </p:nvSpPr>
        <p:spPr>
          <a:xfrm>
            <a:off x="2487168" y="4876800"/>
            <a:ext cx="1414264"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itchFamily="34" charset="0"/>
                <a:ea typeface="Calibri" pitchFamily="34" charset="-122"/>
                <a:cs typeface="Calibri" pitchFamily="34" charset="-120"/>
              </a:rPr>
              <a:t>Enterprise grade AI guardrails &amp; trust</a:t>
            </a:r>
            <a:endParaRPr kumimoji="0" lang="en-US" sz="1333"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3">
            <a:extLst>
              <a:ext uri="{FF2B5EF4-FFF2-40B4-BE49-F238E27FC236}">
                <a16:creationId xmlns:a16="http://schemas.microsoft.com/office/drawing/2014/main" id="{45122F90-7A04-3F45-6A43-8E08F663C281}"/>
              </a:ext>
            </a:extLst>
          </p:cNvPr>
          <p:cNvSpPr/>
          <p:nvPr/>
        </p:nvSpPr>
        <p:spPr>
          <a:xfrm>
            <a:off x="2492952" y="5443680"/>
            <a:ext cx="1648011"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itchFamily="34" charset="0"/>
                <a:ea typeface="Calibri" pitchFamily="34" charset="-122"/>
                <a:cs typeface="Calibri" pitchFamily="34" charset="-120"/>
              </a:rPr>
              <a:t>Guardrails; responsible AI frameworks;</a:t>
            </a:r>
            <a:r>
              <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rPr>
              <a:t> agent development lifecycle methodology; agentic testing methodologies.</a:t>
            </a:r>
          </a:p>
        </p:txBody>
      </p:sp>
      <p:sp>
        <p:nvSpPr>
          <p:cNvPr id="76" name="Shape 74">
            <a:extLst>
              <a:ext uri="{FF2B5EF4-FFF2-40B4-BE49-F238E27FC236}">
                <a16:creationId xmlns:a16="http://schemas.microsoft.com/office/drawing/2014/main" id="{AC54BD86-4E31-579A-9AAF-AF9BFE82DE44}"/>
              </a:ext>
            </a:extLst>
          </p:cNvPr>
          <p:cNvSpPr/>
          <p:nvPr/>
        </p:nvSpPr>
        <p:spPr>
          <a:xfrm>
            <a:off x="4267200" y="4803648"/>
            <a:ext cx="0" cy="128016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3C07158B-CC98-ACE0-CF5B-C87A7CBE82CA}"/>
              </a:ext>
            </a:extLst>
          </p:cNvPr>
          <p:cNvSpPr/>
          <p:nvPr/>
        </p:nvSpPr>
        <p:spPr>
          <a:xfrm>
            <a:off x="43159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6">
            <a:extLst>
              <a:ext uri="{FF2B5EF4-FFF2-40B4-BE49-F238E27FC236}">
                <a16:creationId xmlns:a16="http://schemas.microsoft.com/office/drawing/2014/main" id="{72CFDA50-72B1-E8F0-3B3E-77E6368CCAFB}"/>
              </a:ext>
            </a:extLst>
          </p:cNvPr>
          <p:cNvSpPr/>
          <p:nvPr/>
        </p:nvSpPr>
        <p:spPr>
          <a:xfrm>
            <a:off x="6144770" y="4879677"/>
            <a:ext cx="1702484"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anose="020F0502020204030204"/>
                <a:ea typeface="+mn-ea"/>
                <a:cs typeface="+mn-cs"/>
              </a:rPr>
              <a:t>Economic AI optimization at scale</a:t>
            </a:r>
          </a:p>
        </p:txBody>
      </p:sp>
      <p:sp>
        <p:nvSpPr>
          <p:cNvPr id="79" name="Text 77">
            <a:extLst>
              <a:ext uri="{FF2B5EF4-FFF2-40B4-BE49-F238E27FC236}">
                <a16:creationId xmlns:a16="http://schemas.microsoft.com/office/drawing/2014/main" id="{03AA53D5-8F5E-0328-8EC1-8EE4707E7704}"/>
              </a:ext>
            </a:extLst>
          </p:cNvPr>
          <p:cNvSpPr/>
          <p:nvPr/>
        </p:nvSpPr>
        <p:spPr>
          <a:xfrm>
            <a:off x="7973568" y="5394912"/>
            <a:ext cx="1731264"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rPr>
              <a:t>BASIS consulting methodology, work-graphs / context, Cognizant Skillspring talent transformation platform.</a:t>
            </a:r>
          </a:p>
        </p:txBody>
      </p:sp>
      <p:sp>
        <p:nvSpPr>
          <p:cNvPr id="81" name="Shape 79">
            <a:extLst>
              <a:ext uri="{FF2B5EF4-FFF2-40B4-BE49-F238E27FC236}">
                <a16:creationId xmlns:a16="http://schemas.microsoft.com/office/drawing/2014/main" id="{60B75760-578B-6555-DF9F-9C4E09070BBA}"/>
              </a:ext>
            </a:extLst>
          </p:cNvPr>
          <p:cNvSpPr/>
          <p:nvPr/>
        </p:nvSpPr>
        <p:spPr>
          <a:xfrm>
            <a:off x="6096000" y="4803648"/>
            <a:ext cx="0" cy="128016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5C08FB49-E1A6-B718-3971-8C39D7029C2D}"/>
              </a:ext>
            </a:extLst>
          </p:cNvPr>
          <p:cNvSpPr/>
          <p:nvPr/>
        </p:nvSpPr>
        <p:spPr>
          <a:xfrm>
            <a:off x="61447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Text 81">
            <a:extLst>
              <a:ext uri="{FF2B5EF4-FFF2-40B4-BE49-F238E27FC236}">
                <a16:creationId xmlns:a16="http://schemas.microsoft.com/office/drawing/2014/main" id="{430280BB-9E9C-8D3E-35AE-64FBFB4650F8}"/>
              </a:ext>
            </a:extLst>
          </p:cNvPr>
          <p:cNvSpPr/>
          <p:nvPr/>
        </p:nvSpPr>
        <p:spPr>
          <a:xfrm>
            <a:off x="7985900" y="4889589"/>
            <a:ext cx="1731264"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anose="020F0502020204030204"/>
                <a:ea typeface="+mn-ea"/>
                <a:cs typeface="+mn-cs"/>
              </a:rPr>
              <a:t>Workforce transformation</a:t>
            </a:r>
          </a:p>
        </p:txBody>
      </p:sp>
      <p:sp>
        <p:nvSpPr>
          <p:cNvPr id="86" name="Shape 84">
            <a:extLst>
              <a:ext uri="{FF2B5EF4-FFF2-40B4-BE49-F238E27FC236}">
                <a16:creationId xmlns:a16="http://schemas.microsoft.com/office/drawing/2014/main" id="{D146C59A-1EF6-37B9-06D2-D3DD99CF8CBC}"/>
              </a:ext>
            </a:extLst>
          </p:cNvPr>
          <p:cNvSpPr/>
          <p:nvPr/>
        </p:nvSpPr>
        <p:spPr>
          <a:xfrm>
            <a:off x="7924800" y="4803648"/>
            <a:ext cx="0" cy="128016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097B2A6A-951B-EE93-D358-3681E9E444A2}"/>
              </a:ext>
            </a:extLst>
          </p:cNvPr>
          <p:cNvSpPr/>
          <p:nvPr/>
        </p:nvSpPr>
        <p:spPr>
          <a:xfrm>
            <a:off x="79735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6">
            <a:extLst>
              <a:ext uri="{FF2B5EF4-FFF2-40B4-BE49-F238E27FC236}">
                <a16:creationId xmlns:a16="http://schemas.microsoft.com/office/drawing/2014/main" id="{2A5FE144-6A3C-6217-D94D-F7C9176CAB86}"/>
              </a:ext>
            </a:extLst>
          </p:cNvPr>
          <p:cNvSpPr/>
          <p:nvPr/>
        </p:nvSpPr>
        <p:spPr>
          <a:xfrm>
            <a:off x="9812280" y="4876800"/>
            <a:ext cx="1731264"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anose="020F0502020204030204"/>
                <a:ea typeface="+mn-ea"/>
                <a:cs typeface="+mn-cs"/>
              </a:rPr>
              <a:t>Outcome-based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anose="020F0502020204030204"/>
                <a:ea typeface="+mn-ea"/>
                <a:cs typeface="+mn-cs"/>
              </a:rPr>
              <a:t>services </a:t>
            </a:r>
          </a:p>
        </p:txBody>
      </p:sp>
      <p:sp>
        <p:nvSpPr>
          <p:cNvPr id="90" name="Text 88">
            <a:extLst>
              <a:ext uri="{FF2B5EF4-FFF2-40B4-BE49-F238E27FC236}">
                <a16:creationId xmlns:a16="http://schemas.microsoft.com/office/drawing/2014/main" id="{D8013C2F-7EC2-7899-8ECD-84617181E088}"/>
              </a:ext>
            </a:extLst>
          </p:cNvPr>
          <p:cNvSpPr/>
          <p:nvPr/>
        </p:nvSpPr>
        <p:spPr>
          <a:xfrm>
            <a:off x="6154763" y="5395408"/>
            <a:ext cx="1731264"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itchFamily="34" charset="0"/>
                <a:ea typeface="Calibri" pitchFamily="34" charset="-122"/>
                <a:cs typeface="Calibri" pitchFamily="34" charset="-120"/>
              </a:rPr>
              <a:t>Small Language Models (SLMs), token usage predictability,</a:t>
            </a:r>
            <a:r>
              <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rPr>
              <a:t> </a:t>
            </a:r>
            <a:r>
              <a:rPr kumimoji="0" lang="en-US" sz="867" b="0" i="0" u="none" strike="noStrike" kern="1200" cap="none" spc="0" normalizeH="0" baseline="0" noProof="0">
                <a:ln>
                  <a:noFill/>
                </a:ln>
                <a:solidFill>
                  <a:srgbClr val="E8E8E8">
                    <a:lumMod val="50000"/>
                  </a:srgbClr>
                </a:solidFill>
                <a:effectLst/>
                <a:uLnTx/>
                <a:uFillTx/>
                <a:latin typeface="Calibri" pitchFamily="34" charset="0"/>
                <a:ea typeface="Calibri" pitchFamily="34" charset="-122"/>
                <a:cs typeface="Calibri" pitchFamily="34" charset="-120"/>
              </a:rPr>
              <a:t>inference cost governance.</a:t>
            </a:r>
            <a:endPar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04B0C584-D6E9-DD0B-C0F9-A8C7179B3482}"/>
              </a:ext>
            </a:extLst>
          </p:cNvPr>
          <p:cNvSpPr/>
          <p:nvPr/>
        </p:nvSpPr>
        <p:spPr>
          <a:xfrm>
            <a:off x="9753600" y="4803648"/>
            <a:ext cx="0" cy="128016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F5DBB2BA-58B6-2BA6-90FE-A1A001B46FFE}"/>
              </a:ext>
            </a:extLst>
          </p:cNvPr>
          <p:cNvSpPr/>
          <p:nvPr/>
        </p:nvSpPr>
        <p:spPr>
          <a:xfrm>
            <a:off x="9802368" y="4803648"/>
            <a:ext cx="219456" cy="30480"/>
          </a:xfrm>
          <a:prstGeom prst="rect">
            <a:avLst/>
          </a:prstGeom>
          <a:solidFill>
            <a:srgbClr val="CCCCCC"/>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Text 93">
            <a:extLst>
              <a:ext uri="{FF2B5EF4-FFF2-40B4-BE49-F238E27FC236}">
                <a16:creationId xmlns:a16="http://schemas.microsoft.com/office/drawing/2014/main" id="{30A534B9-C6E3-9942-D79D-F454D6ABD69B}"/>
              </a:ext>
            </a:extLst>
          </p:cNvPr>
          <p:cNvSpPr/>
          <p:nvPr/>
        </p:nvSpPr>
        <p:spPr>
          <a:xfrm>
            <a:off x="9802368" y="5405320"/>
            <a:ext cx="1731264"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rPr>
              <a:t>Flexible commercial constructs delivering business operations outcomes.</a:t>
            </a:r>
          </a:p>
        </p:txBody>
      </p:sp>
      <p:sp>
        <p:nvSpPr>
          <p:cNvPr id="96" name="Shape 94">
            <a:extLst>
              <a:ext uri="{FF2B5EF4-FFF2-40B4-BE49-F238E27FC236}">
                <a16:creationId xmlns:a16="http://schemas.microsoft.com/office/drawing/2014/main" id="{D3D29817-B254-E606-98AE-4597753B5341}"/>
              </a:ext>
            </a:extLst>
          </p:cNvPr>
          <p:cNvSpPr/>
          <p:nvPr/>
        </p:nvSpPr>
        <p:spPr>
          <a:xfrm>
            <a:off x="487680" y="6486144"/>
            <a:ext cx="11216640" cy="0"/>
          </a:xfrm>
          <a:prstGeom prst="line">
            <a:avLst/>
          </a:prstGeom>
          <a:noFill/>
          <a:ln w="6350">
            <a:solidFill>
              <a:srgbClr val="F0F0F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Text 88">
            <a:extLst>
              <a:ext uri="{FF2B5EF4-FFF2-40B4-BE49-F238E27FC236}">
                <a16:creationId xmlns:a16="http://schemas.microsoft.com/office/drawing/2014/main" id="{C3D705B3-664D-0866-73D2-FD319A079FBD}"/>
              </a:ext>
            </a:extLst>
          </p:cNvPr>
          <p:cNvSpPr/>
          <p:nvPr/>
        </p:nvSpPr>
        <p:spPr>
          <a:xfrm>
            <a:off x="4330319" y="5394912"/>
            <a:ext cx="1731264" cy="390144"/>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67" b="0" i="0" u="none" strike="noStrike" kern="1200" cap="none" spc="0" normalizeH="0" baseline="0" noProof="0">
                <a:ln>
                  <a:noFill/>
                </a:ln>
                <a:solidFill>
                  <a:srgbClr val="E8E8E8">
                    <a:lumMod val="50000"/>
                  </a:srgbClr>
                </a:solidFill>
                <a:effectLst/>
                <a:uLnTx/>
                <a:uFillTx/>
                <a:latin typeface="Calibri" panose="020F0502020204030204"/>
                <a:ea typeface="+mn-ea"/>
                <a:cs typeface="+mn-cs"/>
              </a:rPr>
              <a:t>Custom, integrated, full stack solutions; Context engineering discipline with certification levels. </a:t>
            </a:r>
          </a:p>
        </p:txBody>
      </p:sp>
      <p:sp>
        <p:nvSpPr>
          <p:cNvPr id="102" name="Text 76">
            <a:extLst>
              <a:ext uri="{FF2B5EF4-FFF2-40B4-BE49-F238E27FC236}">
                <a16:creationId xmlns:a16="http://schemas.microsoft.com/office/drawing/2014/main" id="{D2C4EAA1-873B-4946-2644-E15F2A118681}"/>
              </a:ext>
            </a:extLst>
          </p:cNvPr>
          <p:cNvSpPr/>
          <p:nvPr/>
        </p:nvSpPr>
        <p:spPr>
          <a:xfrm>
            <a:off x="4334187" y="4874372"/>
            <a:ext cx="1632948" cy="426720"/>
          </a:xfrm>
          <a:prstGeom prst="rect">
            <a:avLst/>
          </a:prstGeom>
          <a:noFill/>
          <a:ln/>
        </p:spPr>
        <p:txBody>
          <a:bodyPr wrap="square" lIns="0" tIns="0" rIns="0" bIns="0"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prstClr val="black"/>
                </a:solidFill>
                <a:effectLst/>
                <a:uLnTx/>
                <a:uFillTx/>
                <a:latin typeface="Calibri" panose="020F0502020204030204"/>
                <a:ea typeface="+mn-ea"/>
                <a:cs typeface="+mn-cs"/>
              </a:rPr>
              <a:t>Full stack, contextual AI solutions</a:t>
            </a:r>
          </a:p>
        </p:txBody>
      </p:sp>
      <p:cxnSp>
        <p:nvCxnSpPr>
          <p:cNvPr id="66" name="Straight Connector 65">
            <a:extLst>
              <a:ext uri="{FF2B5EF4-FFF2-40B4-BE49-F238E27FC236}">
                <a16:creationId xmlns:a16="http://schemas.microsoft.com/office/drawing/2014/main" id="{2A127D95-35CE-0BCF-302D-C153AE9496BE}"/>
              </a:ext>
            </a:extLst>
          </p:cNvPr>
          <p:cNvCxnSpPr>
            <a:cxnSpLocks/>
          </p:cNvCxnSpPr>
          <p:nvPr/>
        </p:nvCxnSpPr>
        <p:spPr>
          <a:xfrm flipV="1">
            <a:off x="1640041" y="3003959"/>
            <a:ext cx="2690278" cy="1184795"/>
          </a:xfrm>
          <a:prstGeom prst="line">
            <a:avLst/>
          </a:prstGeom>
          <a:ln w="3175">
            <a:solidFill>
              <a:schemeClr val="bg1">
                <a:lumMod val="75000"/>
              </a:schemeClr>
            </a:solidFill>
          </a:ln>
        </p:spPr>
        <p:style>
          <a:lnRef idx="1">
            <a:schemeClr val="accent3"/>
          </a:lnRef>
          <a:fillRef idx="0">
            <a:schemeClr val="accent3"/>
          </a:fillRef>
          <a:effectRef idx="0">
            <a:schemeClr val="accent3"/>
          </a:effectRef>
          <a:fontRef idx="minor">
            <a:schemeClr val="tx1"/>
          </a:fontRef>
        </p:style>
      </p:cxnSp>
      <p:cxnSp>
        <p:nvCxnSpPr>
          <p:cNvPr id="70" name="Straight Connector 69">
            <a:extLst>
              <a:ext uri="{FF2B5EF4-FFF2-40B4-BE49-F238E27FC236}">
                <a16:creationId xmlns:a16="http://schemas.microsoft.com/office/drawing/2014/main" id="{47F5770B-9CDF-3515-F744-C6774A87BAD9}"/>
              </a:ext>
            </a:extLst>
          </p:cNvPr>
          <p:cNvCxnSpPr>
            <a:cxnSpLocks/>
          </p:cNvCxnSpPr>
          <p:nvPr/>
        </p:nvCxnSpPr>
        <p:spPr>
          <a:xfrm>
            <a:off x="7861681" y="2946151"/>
            <a:ext cx="2796363" cy="1351780"/>
          </a:xfrm>
          <a:prstGeom prst="line">
            <a:avLst/>
          </a:prstGeom>
          <a:ln w="3175">
            <a:solidFill>
              <a:schemeClr val="bg1">
                <a:lumMod val="75000"/>
              </a:schemeClr>
            </a:solidFill>
          </a:ln>
        </p:spPr>
        <p:style>
          <a:lnRef idx="1">
            <a:schemeClr val="accent3"/>
          </a:lnRef>
          <a:fillRef idx="0">
            <a:schemeClr val="accent3"/>
          </a:fillRef>
          <a:effectRef idx="0">
            <a:schemeClr val="accent3"/>
          </a:effectRef>
          <a:fontRef idx="minor">
            <a:schemeClr val="tx1"/>
          </a:fontRef>
        </p:style>
      </p:cxnSp>
      <p:cxnSp>
        <p:nvCxnSpPr>
          <p:cNvPr id="80" name="Straight Connector 79">
            <a:extLst>
              <a:ext uri="{FF2B5EF4-FFF2-40B4-BE49-F238E27FC236}">
                <a16:creationId xmlns:a16="http://schemas.microsoft.com/office/drawing/2014/main" id="{12612217-F40F-D8F5-2F85-035CCCA7E61E}"/>
              </a:ext>
            </a:extLst>
          </p:cNvPr>
          <p:cNvCxnSpPr>
            <a:cxnSpLocks/>
          </p:cNvCxnSpPr>
          <p:nvPr/>
        </p:nvCxnSpPr>
        <p:spPr>
          <a:xfrm>
            <a:off x="3163135" y="2342252"/>
            <a:ext cx="5949387" cy="0"/>
          </a:xfrm>
          <a:prstGeom prst="line">
            <a:avLst/>
          </a:prstGeom>
          <a:ln>
            <a:solidFill>
              <a:srgbClr val="002060"/>
            </a:solidFill>
          </a:ln>
        </p:spPr>
        <p:style>
          <a:lnRef idx="2">
            <a:schemeClr val="accent1"/>
          </a:lnRef>
          <a:fillRef idx="0">
            <a:schemeClr val="accent1"/>
          </a:fillRef>
          <a:effectRef idx="1">
            <a:schemeClr val="accent1"/>
          </a:effectRef>
          <a:fontRef idx="minor">
            <a:schemeClr val="tx1"/>
          </a:fontRef>
        </p:style>
      </p:cxnSp>
      <p:sp>
        <p:nvSpPr>
          <p:cNvPr id="93" name="Chevron 92">
            <a:extLst>
              <a:ext uri="{FF2B5EF4-FFF2-40B4-BE49-F238E27FC236}">
                <a16:creationId xmlns:a16="http://schemas.microsoft.com/office/drawing/2014/main" id="{8FB2E07B-5C1D-B7A0-EE8A-FF349764F597}"/>
              </a:ext>
            </a:extLst>
          </p:cNvPr>
          <p:cNvSpPr/>
          <p:nvPr/>
        </p:nvSpPr>
        <p:spPr>
          <a:xfrm>
            <a:off x="9189908" y="2212130"/>
            <a:ext cx="181575" cy="238527"/>
          </a:xfrm>
          <a:prstGeom prst="chevron">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94" name="Chevron 93">
            <a:extLst>
              <a:ext uri="{FF2B5EF4-FFF2-40B4-BE49-F238E27FC236}">
                <a16:creationId xmlns:a16="http://schemas.microsoft.com/office/drawing/2014/main" id="{F75C3167-D558-8D66-79AD-231A4CF1773C}"/>
              </a:ext>
            </a:extLst>
          </p:cNvPr>
          <p:cNvSpPr/>
          <p:nvPr/>
        </p:nvSpPr>
        <p:spPr>
          <a:xfrm flipH="1">
            <a:off x="2836807" y="2212131"/>
            <a:ext cx="181575" cy="250654"/>
          </a:xfrm>
          <a:prstGeom prst="chevron">
            <a:avLst/>
          </a:prstGeom>
          <a:solidFill>
            <a:srgbClr val="0070C0"/>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pic>
        <p:nvPicPr>
          <p:cNvPr id="109" name="Picture 108" descr="A blue text on a black background&#10;&#10;Description automatically generated">
            <a:extLst>
              <a:ext uri="{FF2B5EF4-FFF2-40B4-BE49-F238E27FC236}">
                <a16:creationId xmlns:a16="http://schemas.microsoft.com/office/drawing/2014/main" id="{B7D7C861-93A9-6074-3F86-97F46F9D87D5}"/>
              </a:ext>
            </a:extLst>
          </p:cNvPr>
          <p:cNvPicPr>
            <a:picLocks noChangeAspect="1"/>
          </p:cNvPicPr>
          <p:nvPr/>
        </p:nvPicPr>
        <p:blipFill>
          <a:blip r:embed="rId3"/>
          <a:stretch>
            <a:fillRect/>
          </a:stretch>
        </p:blipFill>
        <p:spPr>
          <a:xfrm>
            <a:off x="10725682" y="6495222"/>
            <a:ext cx="974900" cy="174670"/>
          </a:xfrm>
          <a:prstGeom prst="rect">
            <a:avLst/>
          </a:prstGeom>
        </p:spPr>
      </p:pic>
      <p:sp>
        <p:nvSpPr>
          <p:cNvPr id="110" name="Text 5">
            <a:extLst>
              <a:ext uri="{FF2B5EF4-FFF2-40B4-BE49-F238E27FC236}">
                <a16:creationId xmlns:a16="http://schemas.microsoft.com/office/drawing/2014/main" id="{B8D7487C-F483-ECA7-D93C-E54101C0F422}"/>
              </a:ext>
            </a:extLst>
          </p:cNvPr>
          <p:cNvSpPr/>
          <p:nvPr/>
        </p:nvSpPr>
        <p:spPr>
          <a:xfrm>
            <a:off x="930689" y="6415048"/>
            <a:ext cx="3341766" cy="297968"/>
          </a:xfrm>
          <a:prstGeom prst="rect">
            <a:avLst/>
          </a:prstGeom>
          <a:noFill/>
          <a:ln/>
        </p:spPr>
        <p:txBody>
          <a:bodyPr wrap="square" rtlCol="0" anchor="ct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lumMod val="50000"/>
                    <a:lumOff val="50000"/>
                  </a:prstClr>
                </a:solidFill>
                <a:effectLst/>
                <a:uLnTx/>
                <a:uFillTx/>
                <a:latin typeface="Gellix Light" pitchFamily="2" charset="77"/>
                <a:ea typeface="+mn-ea"/>
                <a:cs typeface="Gellix Light" pitchFamily="2" charset="77"/>
              </a:rPr>
              <a:t>© 2026 Cognizant. All Rights reserved. | 2026</a:t>
            </a:r>
          </a:p>
        </p:txBody>
      </p:sp>
      <p:sp>
        <p:nvSpPr>
          <p:cNvPr id="111" name="Slide Number Placeholder 8">
            <a:extLst>
              <a:ext uri="{FF2B5EF4-FFF2-40B4-BE49-F238E27FC236}">
                <a16:creationId xmlns:a16="http://schemas.microsoft.com/office/drawing/2014/main" id="{CA0323B4-CD0D-AFD3-40C6-0BF61E98F663}"/>
              </a:ext>
            </a:extLst>
          </p:cNvPr>
          <p:cNvSpPr txBox="1">
            <a:spLocks/>
          </p:cNvSpPr>
          <p:nvPr/>
        </p:nvSpPr>
        <p:spPr>
          <a:xfrm>
            <a:off x="428293" y="6424768"/>
            <a:ext cx="328448" cy="312464"/>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fld id="{11B95D35-DD53-0442-BAEB-773F9797755E}" type="slidenum">
              <a:rPr kumimoji="0" lang="en-US" sz="1100" b="0" i="0" u="none" strike="noStrike" kern="1200" cap="none" spc="0" normalizeH="0" baseline="0" noProof="0" smtClean="0">
                <a:ln>
                  <a:noFill/>
                </a:ln>
                <a:solidFill>
                  <a:prstClr val="black">
                    <a:lumMod val="50000"/>
                    <a:lumOff val="50000"/>
                  </a:prstClr>
                </a:solidFill>
                <a:effectLst/>
                <a:uLnTx/>
                <a:uFillTx/>
                <a:latin typeface="Gellix Light" pitchFamily="2" charset="77"/>
                <a:ea typeface="+mn-ea"/>
                <a:cs typeface="Gellix Light" pitchFamily="2" charset="77"/>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a:ln>
                <a:noFill/>
              </a:ln>
              <a:solidFill>
                <a:prstClr val="black">
                  <a:lumMod val="50000"/>
                  <a:lumOff val="50000"/>
                </a:prstClr>
              </a:solidFill>
              <a:effectLst/>
              <a:uLnTx/>
              <a:uFillTx/>
              <a:latin typeface="Gellix Light" pitchFamily="2" charset="77"/>
              <a:ea typeface="+mn-ea"/>
              <a:cs typeface="Gellix Light" pitchFamily="2" charset="77"/>
            </a:endParaRPr>
          </a:p>
        </p:txBody>
      </p:sp>
      <p:grpSp>
        <p:nvGrpSpPr>
          <p:cNvPr id="17" name="Group 16">
            <a:extLst>
              <a:ext uri="{FF2B5EF4-FFF2-40B4-BE49-F238E27FC236}">
                <a16:creationId xmlns:a16="http://schemas.microsoft.com/office/drawing/2014/main" id="{15F5FE6B-7599-9F59-A926-D7AF9B7AA513}"/>
              </a:ext>
            </a:extLst>
          </p:cNvPr>
          <p:cNvGrpSpPr/>
          <p:nvPr/>
        </p:nvGrpSpPr>
        <p:grpSpPr>
          <a:xfrm>
            <a:off x="457200" y="228600"/>
            <a:ext cx="11113024" cy="308611"/>
            <a:chOff x="457200" y="228600"/>
            <a:chExt cx="11113024" cy="308611"/>
          </a:xfrm>
        </p:grpSpPr>
        <p:sp>
          <p:nvSpPr>
            <p:cNvPr id="18" name="Text 5">
              <a:extLst>
                <a:ext uri="{FF2B5EF4-FFF2-40B4-BE49-F238E27FC236}">
                  <a16:creationId xmlns:a16="http://schemas.microsoft.com/office/drawing/2014/main" id="{4C1B3B8D-15DD-B482-21CE-86B0E6518082}"/>
                </a:ext>
              </a:extLst>
            </p:cNvPr>
            <p:cNvSpPr/>
            <p:nvPr/>
          </p:nvSpPr>
          <p:spPr>
            <a:xfrm>
              <a:off x="457200" y="228600"/>
              <a:ext cx="1732547"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pitchFamily="2" charset="77"/>
                </a:rPr>
                <a:t>01</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The</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AI</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Inflection</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Point</a:t>
              </a:r>
            </a:p>
          </p:txBody>
        </p:sp>
        <p:sp>
          <p:nvSpPr>
            <p:cNvPr id="19" name="Text 5">
              <a:extLst>
                <a:ext uri="{FF2B5EF4-FFF2-40B4-BE49-F238E27FC236}">
                  <a16:creationId xmlns:a16="http://schemas.microsoft.com/office/drawing/2014/main" id="{B85A73D8-E2B5-F787-921D-62A44F4D4131}"/>
                </a:ext>
              </a:extLst>
            </p:cNvPr>
            <p:cNvSpPr/>
            <p:nvPr/>
          </p:nvSpPr>
          <p:spPr>
            <a:xfrm>
              <a:off x="2133600" y="228600"/>
              <a:ext cx="1921042"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a:rPr>
                <a:t>02</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The</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New</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Complexity</a:t>
              </a:r>
            </a:p>
          </p:txBody>
        </p:sp>
        <p:sp>
          <p:nvSpPr>
            <p:cNvPr id="20" name="Text 5">
              <a:extLst>
                <a:ext uri="{FF2B5EF4-FFF2-40B4-BE49-F238E27FC236}">
                  <a16:creationId xmlns:a16="http://schemas.microsoft.com/office/drawing/2014/main" id="{14CC2279-2A38-DAA0-25D2-FA8DBBD21CF7}"/>
                </a:ext>
              </a:extLst>
            </p:cNvPr>
            <p:cNvSpPr/>
            <p:nvPr/>
          </p:nvSpPr>
          <p:spPr>
            <a:xfrm>
              <a:off x="3800902" y="228600"/>
              <a:ext cx="1275347" cy="308611"/>
            </a:xfrm>
            <a:prstGeom prst="rect">
              <a:avLst/>
            </a:prstGeom>
            <a:noFill/>
            <a:ln/>
          </p:spPr>
          <p:txBody>
            <a:bodyPr wrap="square" lIns="91440" tIns="45720" rIns="91440" bIns="45720" rtlCol="0" anchor="ctr"/>
            <a:lstStyle/>
            <a:p>
              <a:pPr>
                <a:lnSpc>
                  <a:spcPct val="140000"/>
                </a:lnSpc>
              </a:pPr>
              <a:r>
                <a:rPr lang="en-US" sz="1000">
                  <a:solidFill>
                    <a:schemeClr val="tx1">
                      <a:lumMod val="65000"/>
                      <a:lumOff val="35000"/>
                    </a:schemeClr>
                  </a:solidFill>
                  <a:latin typeface="Gellix Light"/>
                </a:rPr>
                <a:t>03 The AI ROI Gap</a:t>
              </a:r>
            </a:p>
          </p:txBody>
        </p:sp>
        <p:sp>
          <p:nvSpPr>
            <p:cNvPr id="21" name="Text 5">
              <a:extLst>
                <a:ext uri="{FF2B5EF4-FFF2-40B4-BE49-F238E27FC236}">
                  <a16:creationId xmlns:a16="http://schemas.microsoft.com/office/drawing/2014/main" id="{7305D745-B623-1561-C0E9-0B95B5DBAF98}"/>
                </a:ext>
              </a:extLst>
            </p:cNvPr>
            <p:cNvSpPr/>
            <p:nvPr/>
          </p:nvSpPr>
          <p:spPr>
            <a:xfrm>
              <a:off x="5227091" y="228600"/>
              <a:ext cx="2205312" cy="303631"/>
            </a:xfrm>
            <a:prstGeom prst="rect">
              <a:avLst/>
            </a:prstGeom>
            <a:noFill/>
            <a:ln/>
          </p:spPr>
          <p:txBody>
            <a:bodyPr wrap="square" lIns="91440" tIns="45720" rIns="91440" bIns="45720" rtlCol="0" anchor="ctr"/>
            <a:lstStyle/>
            <a:p>
              <a:pPr>
                <a:lnSpc>
                  <a:spcPct val="140000"/>
                </a:lnSpc>
              </a:pPr>
              <a:r>
                <a:rPr lang="en-US" sz="1000">
                  <a:solidFill>
                    <a:schemeClr val="tx1">
                      <a:lumMod val="65000"/>
                      <a:lumOff val="35000"/>
                    </a:schemeClr>
                  </a:solidFill>
                  <a:latin typeface="Gellix Light"/>
                  <a:cs typeface="Gellix Light" pitchFamily="2" charset="77"/>
                </a:rPr>
                <a:t>04 Three Vectors of Transformation</a:t>
              </a:r>
              <a:endParaRPr lang="en-US" sz="1000">
                <a:solidFill>
                  <a:schemeClr val="tx1">
                    <a:lumMod val="65000"/>
                    <a:lumOff val="35000"/>
                  </a:schemeClr>
                </a:solidFill>
                <a:latin typeface="Gellix Light" pitchFamily="2" charset="77"/>
                <a:cs typeface="Gellix Light" pitchFamily="2" charset="77"/>
              </a:endParaRPr>
            </a:p>
          </p:txBody>
        </p:sp>
        <p:sp>
          <p:nvSpPr>
            <p:cNvPr id="22" name="Text 5">
              <a:extLst>
                <a:ext uri="{FF2B5EF4-FFF2-40B4-BE49-F238E27FC236}">
                  <a16:creationId xmlns:a16="http://schemas.microsoft.com/office/drawing/2014/main" id="{D5C315B1-725E-5131-80C9-E67BD36273ED}"/>
                </a:ext>
              </a:extLst>
            </p:cNvPr>
            <p:cNvSpPr/>
            <p:nvPr/>
          </p:nvSpPr>
          <p:spPr>
            <a:xfrm>
              <a:off x="7491839" y="228600"/>
              <a:ext cx="2284508" cy="308611"/>
            </a:xfrm>
            <a:prstGeom prst="rect">
              <a:avLst/>
            </a:prstGeom>
            <a:noFill/>
            <a:ln/>
          </p:spPr>
          <p:txBody>
            <a:bodyPr wrap="square" rtlCol="0" anchor="ctr"/>
            <a:lstStyle/>
            <a:p>
              <a:pPr>
                <a:lnSpc>
                  <a:spcPct val="140000"/>
                </a:lnSpc>
              </a:pPr>
              <a:r>
                <a:rPr lang="en-US" sz="1000" b="1">
                  <a:solidFill>
                    <a:srgbClr val="0171C1"/>
                  </a:solidFill>
                  <a:latin typeface="Gellix SemiBold" pitchFamily="2" charset="77"/>
                </a:rPr>
                <a:t>05 Cognizant as AI Builder</a:t>
              </a:r>
            </a:p>
          </p:txBody>
        </p:sp>
        <p:sp>
          <p:nvSpPr>
            <p:cNvPr id="23" name="Text 5">
              <a:extLst>
                <a:ext uri="{FF2B5EF4-FFF2-40B4-BE49-F238E27FC236}">
                  <a16:creationId xmlns:a16="http://schemas.microsoft.com/office/drawing/2014/main" id="{BE0ABAFE-516E-C927-D776-9EDB0EC42B47}"/>
                </a:ext>
              </a:extLst>
            </p:cNvPr>
            <p:cNvSpPr/>
            <p:nvPr/>
          </p:nvSpPr>
          <p:spPr>
            <a:xfrm>
              <a:off x="9285716" y="228600"/>
              <a:ext cx="2284508"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pitchFamily="2" charset="77"/>
                  <a:cs typeface="Gellix Light" pitchFamily="2" charset="77"/>
                </a:rPr>
                <a:t>06 What’s Next</a:t>
              </a:r>
            </a:p>
          </p:txBody>
        </p:sp>
      </p:grpSp>
    </p:spTree>
    <p:extLst>
      <p:ext uri="{BB962C8B-B14F-4D97-AF65-F5344CB8AC3E}">
        <p14:creationId xmlns:p14="http://schemas.microsoft.com/office/powerpoint/2010/main" val="2640437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67913-05FB-A289-BE4D-529AECA2C484}"/>
            </a:ext>
          </a:extLst>
        </p:cNvPr>
        <p:cNvGrpSpPr/>
        <p:nvPr/>
      </p:nvGrpSpPr>
      <p:grpSpPr>
        <a:xfrm>
          <a:off x="0" y="0"/>
          <a:ext cx="0" cy="0"/>
          <a:chOff x="0" y="0"/>
          <a:chExt cx="0" cy="0"/>
        </a:xfrm>
      </p:grpSpPr>
      <p:sp>
        <p:nvSpPr>
          <p:cNvPr id="11" name="Text 4">
            <a:extLst>
              <a:ext uri="{FF2B5EF4-FFF2-40B4-BE49-F238E27FC236}">
                <a16:creationId xmlns:a16="http://schemas.microsoft.com/office/drawing/2014/main" id="{3172EB26-B95F-1A53-17EF-34AF53BBDF9B}"/>
              </a:ext>
            </a:extLst>
          </p:cNvPr>
          <p:cNvSpPr/>
          <p:nvPr/>
        </p:nvSpPr>
        <p:spPr>
          <a:xfrm>
            <a:off x="477966" y="460880"/>
            <a:ext cx="11237583" cy="738137"/>
          </a:xfrm>
          <a:prstGeom prst="rect">
            <a:avLst/>
          </a:prstGeom>
          <a:noFill/>
          <a:ln/>
        </p:spPr>
        <p:txBody>
          <a:bodyPr wrap="square" rtlCol="0" anchor="ctr"/>
          <a:lstStyle/>
          <a:p>
            <a:pPr marL="0" indent="0">
              <a:buNone/>
            </a:pPr>
            <a:r>
              <a:rPr lang="en-US" sz="2800" b="1">
                <a:solidFill>
                  <a:srgbClr val="000045"/>
                </a:solidFill>
                <a:latin typeface="Gellix" pitchFamily="2" charset="77"/>
                <a:cs typeface="Gellix" pitchFamily="2" charset="77"/>
              </a:rPr>
              <a:t>Industry value plays: custom industry AI stacks supporting agentic journeys</a:t>
            </a:r>
          </a:p>
        </p:txBody>
      </p:sp>
      <p:sp>
        <p:nvSpPr>
          <p:cNvPr id="6" name="Text 3">
            <a:extLst>
              <a:ext uri="{FF2B5EF4-FFF2-40B4-BE49-F238E27FC236}">
                <a16:creationId xmlns:a16="http://schemas.microsoft.com/office/drawing/2014/main" id="{B8454815-EF1F-A293-C596-A4339E2F6C1E}"/>
              </a:ext>
            </a:extLst>
          </p:cNvPr>
          <p:cNvSpPr/>
          <p:nvPr/>
        </p:nvSpPr>
        <p:spPr>
          <a:xfrm>
            <a:off x="476451" y="1153312"/>
            <a:ext cx="8412480" cy="228600"/>
          </a:xfrm>
          <a:prstGeom prst="rect">
            <a:avLst/>
          </a:prstGeom>
          <a:noFill/>
          <a:ln/>
        </p:spPr>
        <p:txBody>
          <a:bodyPr wrap="square" rtlCol="0" anchor="ctr"/>
          <a:lstStyle/>
          <a:p>
            <a:r>
              <a:rPr lang="en-US" sz="1000" i="1">
                <a:solidFill>
                  <a:srgbClr val="0171C1"/>
                </a:solidFill>
                <a:latin typeface="Calibri" pitchFamily="34" charset="0"/>
                <a:ea typeface="Calibri" pitchFamily="34" charset="-122"/>
                <a:cs typeface="Calibri" pitchFamily="34" charset="-120"/>
              </a:rPr>
              <a:t>Transforming end-to-end journeys to drive efficiencies, higher profit and increased revenue</a:t>
            </a:r>
          </a:p>
        </p:txBody>
      </p:sp>
      <p:sp>
        <p:nvSpPr>
          <p:cNvPr id="7" name="Shape 3">
            <a:extLst>
              <a:ext uri="{FF2B5EF4-FFF2-40B4-BE49-F238E27FC236}">
                <a16:creationId xmlns:a16="http://schemas.microsoft.com/office/drawing/2014/main" id="{5DE3F1B0-0362-3A3F-79DA-61483887DF78}"/>
              </a:ext>
            </a:extLst>
          </p:cNvPr>
          <p:cNvSpPr/>
          <p:nvPr/>
        </p:nvSpPr>
        <p:spPr>
          <a:xfrm>
            <a:off x="546093" y="1532190"/>
            <a:ext cx="3662350" cy="4756316"/>
          </a:xfrm>
          <a:prstGeom prst="rect">
            <a:avLst/>
          </a:prstGeom>
          <a:solidFill>
            <a:srgbClr val="E9F2FB"/>
          </a:solidFill>
          <a:ln w="6350">
            <a:noFill/>
            <a:prstDash val="solid"/>
          </a:ln>
        </p:spPr>
        <p:txBody>
          <a:bodyPr/>
          <a:lstStyle/>
          <a:p>
            <a:endParaRPr lang="en-US" sz="2400"/>
          </a:p>
        </p:txBody>
      </p:sp>
      <p:sp>
        <p:nvSpPr>
          <p:cNvPr id="9" name="Text 5">
            <a:extLst>
              <a:ext uri="{FF2B5EF4-FFF2-40B4-BE49-F238E27FC236}">
                <a16:creationId xmlns:a16="http://schemas.microsoft.com/office/drawing/2014/main" id="{D5613A82-6B25-516C-2087-4C5F065E5050}"/>
              </a:ext>
            </a:extLst>
          </p:cNvPr>
          <p:cNvSpPr/>
          <p:nvPr/>
        </p:nvSpPr>
        <p:spPr>
          <a:xfrm>
            <a:off x="660733" y="1786219"/>
            <a:ext cx="3339061" cy="401377"/>
          </a:xfrm>
          <a:prstGeom prst="rect">
            <a:avLst/>
          </a:prstGeom>
          <a:noFill/>
          <a:ln/>
        </p:spPr>
        <p:txBody>
          <a:bodyPr wrap="square" rtlCol="0" anchor="ctr"/>
          <a:lstStyle/>
          <a:p>
            <a:pPr>
              <a:lnSpc>
                <a:spcPct val="120000"/>
              </a:lnSpc>
            </a:pPr>
            <a:r>
              <a:rPr lang="en-US" sz="1600" b="1">
                <a:solidFill>
                  <a:srgbClr val="111111"/>
                </a:solidFill>
                <a:latin typeface="Gellix" pitchFamily="2" charset="77"/>
                <a:ea typeface="Calibri" pitchFamily="34" charset="-122"/>
                <a:cs typeface="Gellix" pitchFamily="2" charset="77"/>
              </a:rPr>
              <a:t>Financial Services</a:t>
            </a:r>
            <a:endParaRPr lang="en-US" sz="1600">
              <a:latin typeface="Gellix" pitchFamily="2" charset="77"/>
              <a:cs typeface="Gellix" pitchFamily="2" charset="77"/>
            </a:endParaRPr>
          </a:p>
        </p:txBody>
      </p:sp>
      <p:sp>
        <p:nvSpPr>
          <p:cNvPr id="10" name="Text 6">
            <a:extLst>
              <a:ext uri="{FF2B5EF4-FFF2-40B4-BE49-F238E27FC236}">
                <a16:creationId xmlns:a16="http://schemas.microsoft.com/office/drawing/2014/main" id="{12857BA4-0CE2-5DE2-C935-32CCB8E1E074}"/>
              </a:ext>
            </a:extLst>
          </p:cNvPr>
          <p:cNvSpPr/>
          <p:nvPr/>
        </p:nvSpPr>
        <p:spPr>
          <a:xfrm>
            <a:off x="660733" y="2328989"/>
            <a:ext cx="3339061" cy="160551"/>
          </a:xfrm>
          <a:prstGeom prst="rect">
            <a:avLst/>
          </a:prstGeom>
          <a:noFill/>
          <a:ln/>
        </p:spPr>
        <p:txBody>
          <a:bodyPr wrap="square" rtlCol="0" anchor="ctr"/>
          <a:lstStyle/>
          <a:p>
            <a:r>
              <a:rPr lang="en-US" sz="1267" b="1">
                <a:solidFill>
                  <a:srgbClr val="0171C1"/>
                </a:solidFill>
                <a:latin typeface="Gellix" pitchFamily="2" charset="77"/>
                <a:ea typeface="Calibri" pitchFamily="34" charset="-122"/>
                <a:cs typeface="Gellix" pitchFamily="2" charset="77"/>
              </a:rPr>
              <a:t>Key Pain Points:</a:t>
            </a:r>
            <a:endParaRPr lang="en-US" sz="1267">
              <a:solidFill>
                <a:srgbClr val="0171C1"/>
              </a:solidFill>
              <a:latin typeface="Gellix" pitchFamily="2" charset="77"/>
              <a:cs typeface="Gellix" pitchFamily="2" charset="77"/>
            </a:endParaRPr>
          </a:p>
        </p:txBody>
      </p:sp>
      <p:sp>
        <p:nvSpPr>
          <p:cNvPr id="15" name="Text 7">
            <a:extLst>
              <a:ext uri="{FF2B5EF4-FFF2-40B4-BE49-F238E27FC236}">
                <a16:creationId xmlns:a16="http://schemas.microsoft.com/office/drawing/2014/main" id="{FE2EFCA9-ED62-C964-74A5-6EE559A78188}"/>
              </a:ext>
            </a:extLst>
          </p:cNvPr>
          <p:cNvSpPr/>
          <p:nvPr/>
        </p:nvSpPr>
        <p:spPr>
          <a:xfrm>
            <a:off x="660733" y="2712123"/>
            <a:ext cx="3339061" cy="525440"/>
          </a:xfrm>
          <a:prstGeom prst="rect">
            <a:avLst/>
          </a:prstGeom>
          <a:noFill/>
          <a:ln/>
        </p:spPr>
        <p:txBody>
          <a:bodyPr wrap="square" rtlCol="0" anchor="ctr"/>
          <a:lstStyle/>
          <a:p>
            <a:pPr>
              <a:lnSpc>
                <a:spcPct val="125000"/>
              </a:lnSpc>
            </a:pPr>
            <a:r>
              <a:rPr lang="en-US" sz="1267">
                <a:solidFill>
                  <a:srgbClr val="888888"/>
                </a:solidFill>
                <a:latin typeface="Gellix" pitchFamily="2" charset="77"/>
                <a:ea typeface="Calibri" pitchFamily="34" charset="-122"/>
                <a:cs typeface="Gellix" pitchFamily="2" charset="77"/>
              </a:rPr>
              <a:t>KYC delays, compliance burden, fraud loss, manual regulatory reporting</a:t>
            </a:r>
          </a:p>
          <a:p>
            <a:pPr>
              <a:lnSpc>
                <a:spcPct val="125000"/>
              </a:lnSpc>
            </a:pPr>
            <a:endParaRPr lang="en-US" sz="1267">
              <a:solidFill>
                <a:srgbClr val="888888"/>
              </a:solidFill>
              <a:latin typeface="Gellix" pitchFamily="2" charset="77"/>
              <a:ea typeface="Calibri" pitchFamily="34" charset="-122"/>
              <a:cs typeface="Gellix" pitchFamily="2" charset="77"/>
            </a:endParaRPr>
          </a:p>
        </p:txBody>
      </p:sp>
      <p:sp>
        <p:nvSpPr>
          <p:cNvPr id="23" name="Text 8">
            <a:extLst>
              <a:ext uri="{FF2B5EF4-FFF2-40B4-BE49-F238E27FC236}">
                <a16:creationId xmlns:a16="http://schemas.microsoft.com/office/drawing/2014/main" id="{69483410-18AE-CEC2-D8CD-D0D2C433C2A1}"/>
              </a:ext>
            </a:extLst>
          </p:cNvPr>
          <p:cNvSpPr/>
          <p:nvPr/>
        </p:nvSpPr>
        <p:spPr>
          <a:xfrm>
            <a:off x="660733" y="3713101"/>
            <a:ext cx="3339061" cy="160551"/>
          </a:xfrm>
          <a:prstGeom prst="rect">
            <a:avLst/>
          </a:prstGeom>
          <a:noFill/>
          <a:ln/>
        </p:spPr>
        <p:txBody>
          <a:bodyPr wrap="square" rtlCol="0" anchor="ctr"/>
          <a:lstStyle/>
          <a:p>
            <a:r>
              <a:rPr lang="en-US" sz="1267">
                <a:solidFill>
                  <a:srgbClr val="0171C1"/>
                </a:solidFill>
                <a:latin typeface="Gellix" pitchFamily="2" charset="77"/>
                <a:cs typeface="Gellix" pitchFamily="2" charset="77"/>
              </a:rPr>
              <a:t>Process reimagination + AI Builder Stack:</a:t>
            </a:r>
          </a:p>
          <a:p>
            <a:endParaRPr lang="en-US" sz="1267">
              <a:solidFill>
                <a:srgbClr val="0171C1"/>
              </a:solidFill>
              <a:latin typeface="Gellix" pitchFamily="2" charset="77"/>
              <a:cs typeface="Gellix" pitchFamily="2" charset="77"/>
            </a:endParaRPr>
          </a:p>
        </p:txBody>
      </p:sp>
      <p:sp>
        <p:nvSpPr>
          <p:cNvPr id="24" name="Text 9">
            <a:extLst>
              <a:ext uri="{FF2B5EF4-FFF2-40B4-BE49-F238E27FC236}">
                <a16:creationId xmlns:a16="http://schemas.microsoft.com/office/drawing/2014/main" id="{D10B6549-E2A4-D996-FB55-18686C437967}"/>
              </a:ext>
            </a:extLst>
          </p:cNvPr>
          <p:cNvSpPr/>
          <p:nvPr/>
        </p:nvSpPr>
        <p:spPr>
          <a:xfrm>
            <a:off x="660733" y="3914274"/>
            <a:ext cx="3339061" cy="1138989"/>
          </a:xfrm>
          <a:prstGeom prst="rect">
            <a:avLst/>
          </a:prstGeom>
          <a:noFill/>
          <a:ln/>
        </p:spPr>
        <p:txBody>
          <a:bodyPr wrap="square" rtlCol="0" anchor="ctr"/>
          <a:lstStyle/>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KYC + compliance agents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Neuro AI for fraud detection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Context-engineered regulatory reasoning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Audit trails + human-in-the-loop built in</a:t>
            </a:r>
            <a:endParaRPr lang="en-US" sz="1200">
              <a:solidFill>
                <a:schemeClr val="tx1">
                  <a:lumMod val="50000"/>
                  <a:lumOff val="50000"/>
                </a:schemeClr>
              </a:solidFill>
              <a:latin typeface="Gellix" pitchFamily="2" charset="77"/>
              <a:cs typeface="Gellix" pitchFamily="2" charset="77"/>
            </a:endParaRPr>
          </a:p>
        </p:txBody>
      </p:sp>
      <p:sp>
        <p:nvSpPr>
          <p:cNvPr id="25" name="Shape 10">
            <a:extLst>
              <a:ext uri="{FF2B5EF4-FFF2-40B4-BE49-F238E27FC236}">
                <a16:creationId xmlns:a16="http://schemas.microsoft.com/office/drawing/2014/main" id="{414AEFC8-2304-3C01-B6A2-7C5012599A2D}"/>
              </a:ext>
            </a:extLst>
          </p:cNvPr>
          <p:cNvSpPr/>
          <p:nvPr/>
        </p:nvSpPr>
        <p:spPr>
          <a:xfrm>
            <a:off x="644691" y="5283303"/>
            <a:ext cx="3339061" cy="0"/>
          </a:xfrm>
          <a:prstGeom prst="line">
            <a:avLst/>
          </a:prstGeom>
          <a:noFill/>
          <a:ln w="9525">
            <a:solidFill>
              <a:srgbClr val="BBBBBB"/>
            </a:solidFill>
            <a:prstDash val="solid"/>
          </a:ln>
        </p:spPr>
        <p:txBody>
          <a:bodyPr/>
          <a:lstStyle/>
          <a:p>
            <a:endParaRPr lang="en-US" sz="2400"/>
          </a:p>
        </p:txBody>
      </p:sp>
      <p:sp>
        <p:nvSpPr>
          <p:cNvPr id="44" name="Shape 17">
            <a:extLst>
              <a:ext uri="{FF2B5EF4-FFF2-40B4-BE49-F238E27FC236}">
                <a16:creationId xmlns:a16="http://schemas.microsoft.com/office/drawing/2014/main" id="{8DCC84D2-2000-39A7-5020-EFBEE13AD3CB}"/>
              </a:ext>
            </a:extLst>
          </p:cNvPr>
          <p:cNvSpPr/>
          <p:nvPr/>
        </p:nvSpPr>
        <p:spPr>
          <a:xfrm>
            <a:off x="4296578" y="1532190"/>
            <a:ext cx="3645113" cy="4756316"/>
          </a:xfrm>
          <a:prstGeom prst="rect">
            <a:avLst/>
          </a:prstGeom>
          <a:solidFill>
            <a:srgbClr val="E9F2FB"/>
          </a:solidFill>
          <a:ln w="6350">
            <a:noFill/>
            <a:prstDash val="solid"/>
          </a:ln>
        </p:spPr>
        <p:txBody>
          <a:bodyPr/>
          <a:lstStyle/>
          <a:p>
            <a:endParaRPr lang="en-US" sz="2400"/>
          </a:p>
        </p:txBody>
      </p:sp>
      <p:sp>
        <p:nvSpPr>
          <p:cNvPr id="58" name="Text 19">
            <a:extLst>
              <a:ext uri="{FF2B5EF4-FFF2-40B4-BE49-F238E27FC236}">
                <a16:creationId xmlns:a16="http://schemas.microsoft.com/office/drawing/2014/main" id="{123932AB-1D99-E87F-311E-F8436B2683B8}"/>
              </a:ext>
            </a:extLst>
          </p:cNvPr>
          <p:cNvSpPr/>
          <p:nvPr/>
        </p:nvSpPr>
        <p:spPr>
          <a:xfrm>
            <a:off x="4418418" y="1690685"/>
            <a:ext cx="3347494" cy="401377"/>
          </a:xfrm>
          <a:prstGeom prst="rect">
            <a:avLst/>
          </a:prstGeom>
          <a:noFill/>
          <a:ln/>
        </p:spPr>
        <p:txBody>
          <a:bodyPr wrap="square" rtlCol="0" anchor="ctr"/>
          <a:lstStyle/>
          <a:p>
            <a:pPr>
              <a:lnSpc>
                <a:spcPct val="120000"/>
              </a:lnSpc>
            </a:pPr>
            <a:r>
              <a:rPr lang="en-US" sz="1600" b="1">
                <a:solidFill>
                  <a:srgbClr val="111111"/>
                </a:solidFill>
                <a:latin typeface="Gellix" pitchFamily="2" charset="77"/>
                <a:ea typeface="Calibri" pitchFamily="34" charset="-122"/>
                <a:cs typeface="Gellix" pitchFamily="2" charset="77"/>
              </a:rPr>
              <a:t>Healthcare</a:t>
            </a:r>
            <a:endParaRPr lang="en-US" sz="1600">
              <a:latin typeface="Gellix" pitchFamily="2" charset="77"/>
              <a:cs typeface="Gellix" pitchFamily="2" charset="77"/>
            </a:endParaRPr>
          </a:p>
        </p:txBody>
      </p:sp>
      <p:sp>
        <p:nvSpPr>
          <p:cNvPr id="59" name="Text 20">
            <a:extLst>
              <a:ext uri="{FF2B5EF4-FFF2-40B4-BE49-F238E27FC236}">
                <a16:creationId xmlns:a16="http://schemas.microsoft.com/office/drawing/2014/main" id="{16F76597-E40F-60FE-0EF2-B8DDAF4A82B6}"/>
              </a:ext>
            </a:extLst>
          </p:cNvPr>
          <p:cNvSpPr/>
          <p:nvPr/>
        </p:nvSpPr>
        <p:spPr>
          <a:xfrm>
            <a:off x="4418418" y="2342637"/>
            <a:ext cx="3347494" cy="160551"/>
          </a:xfrm>
          <a:prstGeom prst="rect">
            <a:avLst/>
          </a:prstGeom>
          <a:noFill/>
          <a:ln/>
        </p:spPr>
        <p:txBody>
          <a:bodyPr wrap="square" rtlCol="0" anchor="ctr"/>
          <a:lstStyle/>
          <a:p>
            <a:r>
              <a:rPr lang="en-US" sz="1267" b="1">
                <a:solidFill>
                  <a:srgbClr val="0171C1"/>
                </a:solidFill>
                <a:latin typeface="Gellix" pitchFamily="2" charset="77"/>
                <a:ea typeface="Calibri" pitchFamily="34" charset="-122"/>
                <a:cs typeface="Gellix" pitchFamily="2" charset="77"/>
              </a:rPr>
              <a:t>Key Pain Points:</a:t>
            </a:r>
            <a:endParaRPr lang="en-US" sz="1267">
              <a:solidFill>
                <a:srgbClr val="0171C1"/>
              </a:solidFill>
              <a:latin typeface="Gellix" pitchFamily="2" charset="77"/>
              <a:cs typeface="Gellix" pitchFamily="2" charset="77"/>
            </a:endParaRPr>
          </a:p>
        </p:txBody>
      </p:sp>
      <p:sp>
        <p:nvSpPr>
          <p:cNvPr id="60" name="Text 21">
            <a:extLst>
              <a:ext uri="{FF2B5EF4-FFF2-40B4-BE49-F238E27FC236}">
                <a16:creationId xmlns:a16="http://schemas.microsoft.com/office/drawing/2014/main" id="{9E83C87D-D407-0B6D-4859-B4A51D1C8AC2}"/>
              </a:ext>
            </a:extLst>
          </p:cNvPr>
          <p:cNvSpPr/>
          <p:nvPr/>
        </p:nvSpPr>
        <p:spPr>
          <a:xfrm>
            <a:off x="4418418" y="2686503"/>
            <a:ext cx="3347494" cy="525440"/>
          </a:xfrm>
          <a:prstGeom prst="rect">
            <a:avLst/>
          </a:prstGeom>
          <a:noFill/>
          <a:ln/>
        </p:spPr>
        <p:txBody>
          <a:bodyPr wrap="square" rtlCol="0" anchor="ctr"/>
          <a:lstStyle/>
          <a:p>
            <a:pPr>
              <a:lnSpc>
                <a:spcPct val="125000"/>
              </a:lnSpc>
            </a:pPr>
            <a:r>
              <a:rPr lang="en-US" sz="1267">
                <a:solidFill>
                  <a:srgbClr val="888888"/>
                </a:solidFill>
                <a:latin typeface="Gellix" pitchFamily="2" charset="77"/>
                <a:ea typeface="Calibri" pitchFamily="34" charset="-122"/>
                <a:cs typeface="Gellix" pitchFamily="2" charset="77"/>
              </a:rPr>
              <a:t>Grievance resolution taking days. High-quality talent tied up in triage and routing of cases.</a:t>
            </a:r>
            <a:endParaRPr lang="en-US" sz="1267">
              <a:latin typeface="Gellix" pitchFamily="2" charset="77"/>
              <a:cs typeface="Gellix" pitchFamily="2" charset="77"/>
            </a:endParaRPr>
          </a:p>
        </p:txBody>
      </p:sp>
      <p:sp>
        <p:nvSpPr>
          <p:cNvPr id="61" name="Text 22">
            <a:extLst>
              <a:ext uri="{FF2B5EF4-FFF2-40B4-BE49-F238E27FC236}">
                <a16:creationId xmlns:a16="http://schemas.microsoft.com/office/drawing/2014/main" id="{2BDCE62A-9500-096B-FF5B-9CA6A1108D58}"/>
              </a:ext>
            </a:extLst>
          </p:cNvPr>
          <p:cNvSpPr/>
          <p:nvPr/>
        </p:nvSpPr>
        <p:spPr>
          <a:xfrm>
            <a:off x="4418418" y="3726749"/>
            <a:ext cx="3347494" cy="160551"/>
          </a:xfrm>
          <a:prstGeom prst="rect">
            <a:avLst/>
          </a:prstGeom>
          <a:noFill/>
          <a:ln/>
        </p:spPr>
        <p:txBody>
          <a:bodyPr wrap="square" rtlCol="0" anchor="ctr"/>
          <a:lstStyle/>
          <a:p>
            <a:r>
              <a:rPr lang="en-US" sz="1267">
                <a:solidFill>
                  <a:srgbClr val="0171C1"/>
                </a:solidFill>
                <a:latin typeface="Gellix" pitchFamily="2" charset="77"/>
                <a:cs typeface="Gellix" pitchFamily="2" charset="77"/>
              </a:rPr>
              <a:t>Process reimagination + AI Builder Stack:</a:t>
            </a:r>
          </a:p>
          <a:p>
            <a:endParaRPr lang="en-US" sz="1267">
              <a:solidFill>
                <a:srgbClr val="0171C1"/>
              </a:solidFill>
              <a:latin typeface="Gellix" pitchFamily="2" charset="77"/>
              <a:cs typeface="Gellix" pitchFamily="2" charset="77"/>
            </a:endParaRPr>
          </a:p>
        </p:txBody>
      </p:sp>
      <p:sp>
        <p:nvSpPr>
          <p:cNvPr id="62" name="Text 23">
            <a:extLst>
              <a:ext uri="{FF2B5EF4-FFF2-40B4-BE49-F238E27FC236}">
                <a16:creationId xmlns:a16="http://schemas.microsoft.com/office/drawing/2014/main" id="{BC3A09F5-B002-6E16-8C04-72169EF0570B}"/>
              </a:ext>
            </a:extLst>
          </p:cNvPr>
          <p:cNvSpPr/>
          <p:nvPr/>
        </p:nvSpPr>
        <p:spPr>
          <a:xfrm>
            <a:off x="4418418" y="3894154"/>
            <a:ext cx="3347494" cy="1110983"/>
          </a:xfrm>
          <a:prstGeom prst="rect">
            <a:avLst/>
          </a:prstGeom>
          <a:noFill/>
          <a:ln/>
        </p:spPr>
        <p:txBody>
          <a:bodyPr wrap="square" rtlCol="0" anchor="ctr"/>
          <a:lstStyle/>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Multimodal agents for diagnostic assist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Contact center agentification (donor, patient)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Medical billing + claims AI agents  </a:t>
            </a:r>
          </a:p>
          <a:p>
            <a:pPr marL="285750" indent="-2857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ea typeface="Calibri" pitchFamily="34" charset="-122"/>
                <a:cs typeface="Gellix" pitchFamily="2" charset="77"/>
              </a:rPr>
              <a:t>Grievance resolution automation</a:t>
            </a:r>
            <a:endParaRPr lang="en-US" sz="1200">
              <a:solidFill>
                <a:schemeClr val="tx1">
                  <a:lumMod val="50000"/>
                  <a:lumOff val="50000"/>
                </a:schemeClr>
              </a:solidFill>
              <a:latin typeface="Gellix" pitchFamily="2" charset="77"/>
              <a:cs typeface="Gellix" pitchFamily="2" charset="77"/>
            </a:endParaRPr>
          </a:p>
        </p:txBody>
      </p:sp>
      <p:sp>
        <p:nvSpPr>
          <p:cNvPr id="63" name="Shape 24">
            <a:extLst>
              <a:ext uri="{FF2B5EF4-FFF2-40B4-BE49-F238E27FC236}">
                <a16:creationId xmlns:a16="http://schemas.microsoft.com/office/drawing/2014/main" id="{8FB50DCF-8826-FFF3-497D-72D1D872529E}"/>
              </a:ext>
            </a:extLst>
          </p:cNvPr>
          <p:cNvSpPr/>
          <p:nvPr/>
        </p:nvSpPr>
        <p:spPr>
          <a:xfrm>
            <a:off x="4418418" y="5280909"/>
            <a:ext cx="3347494" cy="0"/>
          </a:xfrm>
          <a:prstGeom prst="line">
            <a:avLst/>
          </a:prstGeom>
          <a:noFill/>
          <a:ln w="9525">
            <a:solidFill>
              <a:srgbClr val="BBBBBB"/>
            </a:solidFill>
            <a:prstDash val="solid"/>
          </a:ln>
        </p:spPr>
        <p:txBody>
          <a:bodyPr/>
          <a:lstStyle/>
          <a:p>
            <a:endParaRPr lang="en-US" sz="2400"/>
          </a:p>
        </p:txBody>
      </p:sp>
      <p:sp>
        <p:nvSpPr>
          <p:cNvPr id="82" name="Shape 31">
            <a:extLst>
              <a:ext uri="{FF2B5EF4-FFF2-40B4-BE49-F238E27FC236}">
                <a16:creationId xmlns:a16="http://schemas.microsoft.com/office/drawing/2014/main" id="{4B44BD1F-18F1-734F-5A1E-823BD3840E81}"/>
              </a:ext>
            </a:extLst>
          </p:cNvPr>
          <p:cNvSpPr/>
          <p:nvPr/>
        </p:nvSpPr>
        <p:spPr>
          <a:xfrm>
            <a:off x="8009263" y="1532190"/>
            <a:ext cx="3652091" cy="4756315"/>
          </a:xfrm>
          <a:prstGeom prst="rect">
            <a:avLst/>
          </a:prstGeom>
          <a:solidFill>
            <a:srgbClr val="E9F2FB"/>
          </a:solidFill>
          <a:ln w="6350">
            <a:noFill/>
            <a:prstDash val="solid"/>
          </a:ln>
        </p:spPr>
        <p:txBody>
          <a:bodyPr/>
          <a:lstStyle/>
          <a:p>
            <a:endParaRPr lang="en-US" sz="2400"/>
          </a:p>
        </p:txBody>
      </p:sp>
      <p:sp>
        <p:nvSpPr>
          <p:cNvPr id="88" name="Text 33">
            <a:extLst>
              <a:ext uri="{FF2B5EF4-FFF2-40B4-BE49-F238E27FC236}">
                <a16:creationId xmlns:a16="http://schemas.microsoft.com/office/drawing/2014/main" id="{9F7C86E8-27BB-5D35-F738-911B1F837542}"/>
              </a:ext>
            </a:extLst>
          </p:cNvPr>
          <p:cNvSpPr/>
          <p:nvPr/>
        </p:nvSpPr>
        <p:spPr>
          <a:xfrm>
            <a:off x="8135158" y="1690685"/>
            <a:ext cx="3393872" cy="401377"/>
          </a:xfrm>
          <a:prstGeom prst="rect">
            <a:avLst/>
          </a:prstGeom>
          <a:noFill/>
          <a:ln/>
        </p:spPr>
        <p:txBody>
          <a:bodyPr wrap="square" rtlCol="0" anchor="ctr"/>
          <a:lstStyle/>
          <a:p>
            <a:pPr>
              <a:lnSpc>
                <a:spcPct val="120000"/>
              </a:lnSpc>
            </a:pPr>
            <a:r>
              <a:rPr lang="en-US" sz="1600">
                <a:latin typeface="Gellix" pitchFamily="2" charset="77"/>
                <a:cs typeface="Gellix" pitchFamily="2" charset="77"/>
              </a:rPr>
              <a:t>Retail &amp; Consumer</a:t>
            </a:r>
          </a:p>
        </p:txBody>
      </p:sp>
      <p:sp>
        <p:nvSpPr>
          <p:cNvPr id="89" name="Text 34">
            <a:extLst>
              <a:ext uri="{FF2B5EF4-FFF2-40B4-BE49-F238E27FC236}">
                <a16:creationId xmlns:a16="http://schemas.microsoft.com/office/drawing/2014/main" id="{BA01440B-94AC-C6DA-4532-83E290A76E57}"/>
              </a:ext>
            </a:extLst>
          </p:cNvPr>
          <p:cNvSpPr/>
          <p:nvPr/>
        </p:nvSpPr>
        <p:spPr>
          <a:xfrm>
            <a:off x="8135158" y="2342637"/>
            <a:ext cx="3393872" cy="160551"/>
          </a:xfrm>
          <a:prstGeom prst="rect">
            <a:avLst/>
          </a:prstGeom>
          <a:noFill/>
          <a:ln/>
        </p:spPr>
        <p:txBody>
          <a:bodyPr wrap="square" rtlCol="0" anchor="ctr"/>
          <a:lstStyle/>
          <a:p>
            <a:r>
              <a:rPr lang="en-US" sz="1267" b="1">
                <a:solidFill>
                  <a:srgbClr val="0171C1"/>
                </a:solidFill>
                <a:latin typeface="Gellix" pitchFamily="2" charset="77"/>
                <a:ea typeface="Calibri" pitchFamily="34" charset="-122"/>
                <a:cs typeface="Gellix" pitchFamily="2" charset="77"/>
              </a:rPr>
              <a:t>Key Pain Points:</a:t>
            </a:r>
            <a:endParaRPr lang="en-US" sz="1267">
              <a:solidFill>
                <a:srgbClr val="0171C1"/>
              </a:solidFill>
              <a:latin typeface="Gellix" pitchFamily="2" charset="77"/>
              <a:cs typeface="Gellix" pitchFamily="2" charset="77"/>
            </a:endParaRPr>
          </a:p>
        </p:txBody>
      </p:sp>
      <p:sp>
        <p:nvSpPr>
          <p:cNvPr id="90" name="Text 35">
            <a:extLst>
              <a:ext uri="{FF2B5EF4-FFF2-40B4-BE49-F238E27FC236}">
                <a16:creationId xmlns:a16="http://schemas.microsoft.com/office/drawing/2014/main" id="{51B9336B-1D06-98D9-0D74-33874C317DBA}"/>
              </a:ext>
            </a:extLst>
          </p:cNvPr>
          <p:cNvSpPr/>
          <p:nvPr/>
        </p:nvSpPr>
        <p:spPr>
          <a:xfrm>
            <a:off x="8135158" y="2656815"/>
            <a:ext cx="3393872" cy="525440"/>
          </a:xfrm>
          <a:prstGeom prst="rect">
            <a:avLst/>
          </a:prstGeom>
          <a:noFill/>
          <a:ln/>
        </p:spPr>
        <p:txBody>
          <a:bodyPr wrap="square" rtlCol="0" anchor="ctr"/>
          <a:lstStyle/>
          <a:p>
            <a:pPr>
              <a:lnSpc>
                <a:spcPct val="125000"/>
              </a:lnSpc>
            </a:pPr>
            <a:r>
              <a:rPr lang="en-US" sz="1267">
                <a:solidFill>
                  <a:srgbClr val="888888"/>
                </a:solidFill>
                <a:latin typeface="Gellix" pitchFamily="2" charset="77"/>
                <a:ea typeface="Calibri" pitchFamily="34" charset="-122"/>
                <a:cs typeface="Gellix" pitchFamily="2" charset="77"/>
              </a:rPr>
              <a:t>Order management latency, inventory inaccuracy, fulfillment speed, low agent capacity</a:t>
            </a:r>
          </a:p>
        </p:txBody>
      </p:sp>
      <p:sp>
        <p:nvSpPr>
          <p:cNvPr id="91" name="Text 36">
            <a:extLst>
              <a:ext uri="{FF2B5EF4-FFF2-40B4-BE49-F238E27FC236}">
                <a16:creationId xmlns:a16="http://schemas.microsoft.com/office/drawing/2014/main" id="{8AA1E5BE-C208-7E97-435F-CABA8C71E977}"/>
              </a:ext>
            </a:extLst>
          </p:cNvPr>
          <p:cNvSpPr/>
          <p:nvPr/>
        </p:nvSpPr>
        <p:spPr>
          <a:xfrm>
            <a:off x="8135158" y="3726749"/>
            <a:ext cx="3393872" cy="160551"/>
          </a:xfrm>
          <a:prstGeom prst="rect">
            <a:avLst/>
          </a:prstGeom>
          <a:noFill/>
          <a:ln/>
        </p:spPr>
        <p:txBody>
          <a:bodyPr wrap="square" rtlCol="0" anchor="ctr"/>
          <a:lstStyle/>
          <a:p>
            <a:r>
              <a:rPr lang="en-US" sz="1267">
                <a:solidFill>
                  <a:srgbClr val="0171C1"/>
                </a:solidFill>
                <a:latin typeface="Gellix" pitchFamily="2" charset="77"/>
                <a:cs typeface="Gellix" pitchFamily="2" charset="77"/>
              </a:rPr>
              <a:t>Process reimagination + AI Builder Stack:</a:t>
            </a:r>
          </a:p>
          <a:p>
            <a:endParaRPr lang="en-US" sz="1267">
              <a:solidFill>
                <a:srgbClr val="0171C1"/>
              </a:solidFill>
              <a:latin typeface="Gellix" pitchFamily="2" charset="77"/>
              <a:cs typeface="Gellix" pitchFamily="2" charset="77"/>
            </a:endParaRPr>
          </a:p>
        </p:txBody>
      </p:sp>
      <p:sp>
        <p:nvSpPr>
          <p:cNvPr id="92" name="Text 37">
            <a:extLst>
              <a:ext uri="{FF2B5EF4-FFF2-40B4-BE49-F238E27FC236}">
                <a16:creationId xmlns:a16="http://schemas.microsoft.com/office/drawing/2014/main" id="{EC5F3EAD-A0C1-19BE-73D5-A573299EF140}"/>
              </a:ext>
            </a:extLst>
          </p:cNvPr>
          <p:cNvSpPr/>
          <p:nvPr/>
        </p:nvSpPr>
        <p:spPr>
          <a:xfrm>
            <a:off x="8135158" y="3561347"/>
            <a:ext cx="3393872" cy="1588169"/>
          </a:xfrm>
          <a:prstGeom prst="rect">
            <a:avLst/>
          </a:prstGeom>
          <a:noFill/>
          <a:ln/>
        </p:spPr>
        <p:txBody>
          <a:bodyPr wrap="square" rtlCol="0" anchor="ctr"/>
          <a:lstStyle/>
          <a:p>
            <a:pPr marL="171450" indent="-1714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cs typeface="Gellix" pitchFamily="2" charset="77"/>
              </a:rPr>
              <a:t>Smart picker routing with AI agents </a:t>
            </a:r>
          </a:p>
          <a:p>
            <a:pPr marL="171450" indent="-1714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cs typeface="Gellix" pitchFamily="2" charset="77"/>
              </a:rPr>
              <a:t>Order management via Agentforce </a:t>
            </a:r>
          </a:p>
          <a:p>
            <a:pPr marL="171450" indent="-1714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cs typeface="Gellix" pitchFamily="2" charset="77"/>
              </a:rPr>
              <a:t>Digital sales agents (inbound + outbound) </a:t>
            </a:r>
          </a:p>
          <a:p>
            <a:pPr marL="171450" indent="-171450">
              <a:lnSpc>
                <a:spcPct val="125000"/>
              </a:lnSpc>
              <a:buFont typeface="Arial" panose="020B0604020202020204" pitchFamily="34" charset="0"/>
              <a:buChar char="•"/>
            </a:pPr>
            <a:r>
              <a:rPr lang="en-US" sz="1200">
                <a:solidFill>
                  <a:schemeClr val="tx1">
                    <a:lumMod val="50000"/>
                    <a:lumOff val="50000"/>
                  </a:schemeClr>
                </a:solidFill>
                <a:latin typeface="Gellix" pitchFamily="2" charset="77"/>
                <a:cs typeface="Gellix" pitchFamily="2" charset="77"/>
              </a:rPr>
              <a:t>Context-aware product substitution AI</a:t>
            </a:r>
          </a:p>
        </p:txBody>
      </p:sp>
      <p:sp>
        <p:nvSpPr>
          <p:cNvPr id="93" name="Shape 38">
            <a:extLst>
              <a:ext uri="{FF2B5EF4-FFF2-40B4-BE49-F238E27FC236}">
                <a16:creationId xmlns:a16="http://schemas.microsoft.com/office/drawing/2014/main" id="{C85AFA03-2605-C0CA-1047-D28786D7EF17}"/>
              </a:ext>
            </a:extLst>
          </p:cNvPr>
          <p:cNvSpPr/>
          <p:nvPr/>
        </p:nvSpPr>
        <p:spPr>
          <a:xfrm>
            <a:off x="8119116" y="5296951"/>
            <a:ext cx="3393872" cy="0"/>
          </a:xfrm>
          <a:prstGeom prst="line">
            <a:avLst/>
          </a:prstGeom>
          <a:noFill/>
          <a:ln w="9525">
            <a:solidFill>
              <a:srgbClr val="BBBBBB"/>
            </a:solidFill>
            <a:prstDash val="solid"/>
          </a:ln>
        </p:spPr>
        <p:txBody>
          <a:bodyPr/>
          <a:lstStyle/>
          <a:p>
            <a:endParaRPr lang="en-US" sz="2400"/>
          </a:p>
        </p:txBody>
      </p:sp>
      <p:sp>
        <p:nvSpPr>
          <p:cNvPr id="100" name="Shape 10">
            <a:extLst>
              <a:ext uri="{FF2B5EF4-FFF2-40B4-BE49-F238E27FC236}">
                <a16:creationId xmlns:a16="http://schemas.microsoft.com/office/drawing/2014/main" id="{93A8EFF2-29F1-73DD-AAB8-68B76051AFCD}"/>
              </a:ext>
            </a:extLst>
          </p:cNvPr>
          <p:cNvSpPr/>
          <p:nvPr/>
        </p:nvSpPr>
        <p:spPr>
          <a:xfrm>
            <a:off x="685800" y="3461084"/>
            <a:ext cx="3339061" cy="0"/>
          </a:xfrm>
          <a:prstGeom prst="line">
            <a:avLst/>
          </a:prstGeom>
          <a:noFill/>
          <a:ln w="9525">
            <a:solidFill>
              <a:srgbClr val="BBBBBB"/>
            </a:solidFill>
            <a:prstDash val="solid"/>
          </a:ln>
        </p:spPr>
        <p:txBody>
          <a:bodyPr/>
          <a:lstStyle/>
          <a:p>
            <a:endParaRPr lang="en-US" sz="2400"/>
          </a:p>
        </p:txBody>
      </p:sp>
      <p:sp>
        <p:nvSpPr>
          <p:cNvPr id="101" name="Shape 10">
            <a:extLst>
              <a:ext uri="{FF2B5EF4-FFF2-40B4-BE49-F238E27FC236}">
                <a16:creationId xmlns:a16="http://schemas.microsoft.com/office/drawing/2014/main" id="{AB344F0C-DEEA-6E9B-D635-C93A009E07AB}"/>
              </a:ext>
            </a:extLst>
          </p:cNvPr>
          <p:cNvSpPr/>
          <p:nvPr/>
        </p:nvSpPr>
        <p:spPr>
          <a:xfrm>
            <a:off x="4419600" y="3453064"/>
            <a:ext cx="3339061" cy="0"/>
          </a:xfrm>
          <a:prstGeom prst="line">
            <a:avLst/>
          </a:prstGeom>
          <a:noFill/>
          <a:ln w="9525">
            <a:solidFill>
              <a:srgbClr val="BBBBBB"/>
            </a:solidFill>
            <a:prstDash val="solid"/>
          </a:ln>
        </p:spPr>
        <p:txBody>
          <a:bodyPr/>
          <a:lstStyle/>
          <a:p>
            <a:endParaRPr lang="en-US" sz="2400"/>
          </a:p>
        </p:txBody>
      </p:sp>
      <p:sp>
        <p:nvSpPr>
          <p:cNvPr id="102" name="Shape 10">
            <a:extLst>
              <a:ext uri="{FF2B5EF4-FFF2-40B4-BE49-F238E27FC236}">
                <a16:creationId xmlns:a16="http://schemas.microsoft.com/office/drawing/2014/main" id="{39347FEF-E75C-00C3-5642-00C150EAB38C}"/>
              </a:ext>
            </a:extLst>
          </p:cNvPr>
          <p:cNvSpPr/>
          <p:nvPr/>
        </p:nvSpPr>
        <p:spPr>
          <a:xfrm>
            <a:off x="8133347" y="3461085"/>
            <a:ext cx="3339061" cy="0"/>
          </a:xfrm>
          <a:prstGeom prst="line">
            <a:avLst/>
          </a:prstGeom>
          <a:noFill/>
          <a:ln w="9525">
            <a:solidFill>
              <a:srgbClr val="BBBBBB"/>
            </a:solidFill>
            <a:prstDash val="solid"/>
          </a:ln>
        </p:spPr>
        <p:txBody>
          <a:bodyPr/>
          <a:lstStyle/>
          <a:p>
            <a:endParaRPr lang="en-US" sz="2400"/>
          </a:p>
        </p:txBody>
      </p:sp>
      <p:sp>
        <p:nvSpPr>
          <p:cNvPr id="104" name="Text 8">
            <a:extLst>
              <a:ext uri="{FF2B5EF4-FFF2-40B4-BE49-F238E27FC236}">
                <a16:creationId xmlns:a16="http://schemas.microsoft.com/office/drawing/2014/main" id="{0E4B6E2C-4715-0302-CD30-8BF901D3BC0D}"/>
              </a:ext>
            </a:extLst>
          </p:cNvPr>
          <p:cNvSpPr/>
          <p:nvPr/>
        </p:nvSpPr>
        <p:spPr>
          <a:xfrm>
            <a:off x="609600" y="5245768"/>
            <a:ext cx="3339061" cy="401183"/>
          </a:xfrm>
          <a:prstGeom prst="rect">
            <a:avLst/>
          </a:prstGeom>
          <a:noFill/>
          <a:ln/>
        </p:spPr>
        <p:txBody>
          <a:bodyPr wrap="square" rtlCol="0" anchor="ctr"/>
          <a:lstStyle/>
          <a:p>
            <a:r>
              <a:rPr lang="en-US" sz="1267">
                <a:solidFill>
                  <a:srgbClr val="0171C1"/>
                </a:solidFill>
                <a:latin typeface="Gellix" pitchFamily="2" charset="77"/>
                <a:cs typeface="Gellix" pitchFamily="2" charset="77"/>
              </a:rPr>
              <a:t>Outcome:</a:t>
            </a:r>
          </a:p>
        </p:txBody>
      </p:sp>
      <p:sp>
        <p:nvSpPr>
          <p:cNvPr id="106" name="Text 8">
            <a:extLst>
              <a:ext uri="{FF2B5EF4-FFF2-40B4-BE49-F238E27FC236}">
                <a16:creationId xmlns:a16="http://schemas.microsoft.com/office/drawing/2014/main" id="{8757A9FA-E145-63A2-D249-C000E6A9B7FE}"/>
              </a:ext>
            </a:extLst>
          </p:cNvPr>
          <p:cNvSpPr/>
          <p:nvPr/>
        </p:nvSpPr>
        <p:spPr>
          <a:xfrm>
            <a:off x="4419600" y="5257800"/>
            <a:ext cx="3339061" cy="401183"/>
          </a:xfrm>
          <a:prstGeom prst="rect">
            <a:avLst/>
          </a:prstGeom>
          <a:noFill/>
          <a:ln/>
        </p:spPr>
        <p:txBody>
          <a:bodyPr wrap="square" rtlCol="0" anchor="ctr"/>
          <a:lstStyle/>
          <a:p>
            <a:r>
              <a:rPr lang="en-US" sz="1267">
                <a:solidFill>
                  <a:srgbClr val="0171C1"/>
                </a:solidFill>
                <a:latin typeface="Gellix" pitchFamily="2" charset="77"/>
                <a:cs typeface="Gellix" pitchFamily="2" charset="77"/>
              </a:rPr>
              <a:t>Outcome:</a:t>
            </a:r>
          </a:p>
        </p:txBody>
      </p:sp>
      <p:sp>
        <p:nvSpPr>
          <p:cNvPr id="108" name="Text 8">
            <a:extLst>
              <a:ext uri="{FF2B5EF4-FFF2-40B4-BE49-F238E27FC236}">
                <a16:creationId xmlns:a16="http://schemas.microsoft.com/office/drawing/2014/main" id="{1A0CB661-5526-7E6E-F98F-974E825350F5}"/>
              </a:ext>
            </a:extLst>
          </p:cNvPr>
          <p:cNvSpPr/>
          <p:nvPr/>
        </p:nvSpPr>
        <p:spPr>
          <a:xfrm>
            <a:off x="8153400" y="5257800"/>
            <a:ext cx="3339061" cy="401183"/>
          </a:xfrm>
          <a:prstGeom prst="rect">
            <a:avLst/>
          </a:prstGeom>
          <a:noFill/>
          <a:ln/>
        </p:spPr>
        <p:txBody>
          <a:bodyPr wrap="square" rtlCol="0" anchor="ctr"/>
          <a:lstStyle/>
          <a:p>
            <a:r>
              <a:rPr lang="en-US" sz="1267">
                <a:solidFill>
                  <a:srgbClr val="0171C1"/>
                </a:solidFill>
                <a:latin typeface="Gellix" pitchFamily="2" charset="77"/>
                <a:cs typeface="Gellix" pitchFamily="2" charset="77"/>
              </a:rPr>
              <a:t>Outcome:</a:t>
            </a:r>
          </a:p>
        </p:txBody>
      </p:sp>
      <p:sp>
        <p:nvSpPr>
          <p:cNvPr id="110" name="Text 9">
            <a:extLst>
              <a:ext uri="{FF2B5EF4-FFF2-40B4-BE49-F238E27FC236}">
                <a16:creationId xmlns:a16="http://schemas.microsoft.com/office/drawing/2014/main" id="{E7C176F2-F7D8-A805-C086-E1DD7C5C9881}"/>
              </a:ext>
            </a:extLst>
          </p:cNvPr>
          <p:cNvSpPr/>
          <p:nvPr/>
        </p:nvSpPr>
        <p:spPr>
          <a:xfrm>
            <a:off x="637674" y="5462338"/>
            <a:ext cx="3339061" cy="826168"/>
          </a:xfrm>
          <a:prstGeom prst="rect">
            <a:avLst/>
          </a:prstGeom>
          <a:noFill/>
          <a:ln/>
        </p:spPr>
        <p:txBody>
          <a:bodyPr wrap="square" rtlCol="0" anchor="ctr"/>
          <a:lstStyle/>
          <a:p>
            <a:pPr>
              <a:lnSpc>
                <a:spcPct val="125000"/>
              </a:lnSpc>
            </a:pPr>
            <a:r>
              <a:rPr lang="en-US" sz="1200">
                <a:solidFill>
                  <a:schemeClr val="tx1">
                    <a:lumMod val="50000"/>
                    <a:lumOff val="50000"/>
                  </a:schemeClr>
                </a:solidFill>
                <a:latin typeface="Gellix" pitchFamily="2" charset="77"/>
                <a:cs typeface="Gellix" pitchFamily="2" charset="77"/>
              </a:rPr>
              <a:t>50% faster KYC turnaround · First-time approval: 20% → 80%</a:t>
            </a:r>
          </a:p>
        </p:txBody>
      </p:sp>
      <p:sp>
        <p:nvSpPr>
          <p:cNvPr id="113" name="Text 9">
            <a:extLst>
              <a:ext uri="{FF2B5EF4-FFF2-40B4-BE49-F238E27FC236}">
                <a16:creationId xmlns:a16="http://schemas.microsoft.com/office/drawing/2014/main" id="{DA4B14E4-51D3-971B-3CFB-A3EB4F084BE9}"/>
              </a:ext>
            </a:extLst>
          </p:cNvPr>
          <p:cNvSpPr/>
          <p:nvPr/>
        </p:nvSpPr>
        <p:spPr>
          <a:xfrm>
            <a:off x="4419600" y="5474368"/>
            <a:ext cx="3339061" cy="826168"/>
          </a:xfrm>
          <a:prstGeom prst="rect">
            <a:avLst/>
          </a:prstGeom>
          <a:noFill/>
          <a:ln/>
        </p:spPr>
        <p:txBody>
          <a:bodyPr wrap="square" rtlCol="0" anchor="ctr"/>
          <a:lstStyle/>
          <a:p>
            <a:pPr>
              <a:lnSpc>
                <a:spcPct val="125000"/>
              </a:lnSpc>
            </a:pPr>
            <a:r>
              <a:rPr lang="en-US" sz="1200">
                <a:solidFill>
                  <a:schemeClr val="tx1">
                    <a:lumMod val="50000"/>
                    <a:lumOff val="50000"/>
                  </a:schemeClr>
                </a:solidFill>
                <a:latin typeface="Gellix" pitchFamily="2" charset="77"/>
                <a:cs typeface="Gellix" pitchFamily="2" charset="77"/>
              </a:rPr>
              <a:t>90%+ triage accuracy · 75% talent redeployed · Near-zero abandonment</a:t>
            </a:r>
          </a:p>
        </p:txBody>
      </p:sp>
      <p:sp>
        <p:nvSpPr>
          <p:cNvPr id="114" name="Text 9">
            <a:extLst>
              <a:ext uri="{FF2B5EF4-FFF2-40B4-BE49-F238E27FC236}">
                <a16:creationId xmlns:a16="http://schemas.microsoft.com/office/drawing/2014/main" id="{FD0B69AC-6440-866A-2118-1255B78B54E6}"/>
              </a:ext>
            </a:extLst>
          </p:cNvPr>
          <p:cNvSpPr/>
          <p:nvPr/>
        </p:nvSpPr>
        <p:spPr>
          <a:xfrm>
            <a:off x="8153400" y="5486400"/>
            <a:ext cx="3339061" cy="826168"/>
          </a:xfrm>
          <a:prstGeom prst="rect">
            <a:avLst/>
          </a:prstGeom>
          <a:noFill/>
          <a:ln/>
        </p:spPr>
        <p:txBody>
          <a:bodyPr wrap="square" rtlCol="0" anchor="ctr"/>
          <a:lstStyle/>
          <a:p>
            <a:pPr>
              <a:lnSpc>
                <a:spcPct val="125000"/>
              </a:lnSpc>
            </a:pPr>
            <a:r>
              <a:rPr lang="en-US" sz="1200">
                <a:solidFill>
                  <a:schemeClr val="tx1">
                    <a:lumMod val="50000"/>
                    <a:lumOff val="50000"/>
                  </a:schemeClr>
                </a:solidFill>
                <a:latin typeface="Gellix" pitchFamily="2" charset="77"/>
                <a:cs typeface="Gellix" pitchFamily="2" charset="77"/>
              </a:rPr>
              <a:t>20–45% faster fulfillment · 5 days → 90 sec order response</a:t>
            </a:r>
          </a:p>
        </p:txBody>
      </p:sp>
      <p:sp>
        <p:nvSpPr>
          <p:cNvPr id="115" name="Slide Number Placeholder 4">
            <a:extLst>
              <a:ext uri="{FF2B5EF4-FFF2-40B4-BE49-F238E27FC236}">
                <a16:creationId xmlns:a16="http://schemas.microsoft.com/office/drawing/2014/main" id="{C2322DD8-8AE5-18D2-F3BA-B34D650EEE40}"/>
              </a:ext>
            </a:extLst>
          </p:cNvPr>
          <p:cNvSpPr txBox="1">
            <a:spLocks/>
          </p:cNvSpPr>
          <p:nvPr/>
        </p:nvSpPr>
        <p:spPr>
          <a:xfrm>
            <a:off x="9056370" y="6374447"/>
            <a:ext cx="27432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1B95D35-DD53-0442-BAEB-773F9797755E}" type="slidenum">
              <a:rPr lang="en-US" sz="1000" smtClean="0">
                <a:solidFill>
                  <a:schemeClr val="bg1">
                    <a:lumMod val="65000"/>
                    <a:lumOff val="35000"/>
                  </a:schemeClr>
                </a:solidFill>
                <a:latin typeface="Gellix" pitchFamily="2" charset="77"/>
                <a:cs typeface="Gellix" pitchFamily="2" charset="77"/>
              </a:rPr>
              <a:pPr/>
              <a:t>8</a:t>
            </a:fld>
            <a:endParaRPr lang="en-US" sz="1000">
              <a:solidFill>
                <a:schemeClr val="bg1">
                  <a:lumMod val="65000"/>
                  <a:lumOff val="35000"/>
                </a:schemeClr>
              </a:solidFill>
              <a:latin typeface="Gellix" pitchFamily="2" charset="77"/>
              <a:cs typeface="Gellix" pitchFamily="2" charset="77"/>
            </a:endParaRPr>
          </a:p>
        </p:txBody>
      </p:sp>
      <p:sp>
        <p:nvSpPr>
          <p:cNvPr id="116" name="Text 5">
            <a:extLst>
              <a:ext uri="{FF2B5EF4-FFF2-40B4-BE49-F238E27FC236}">
                <a16:creationId xmlns:a16="http://schemas.microsoft.com/office/drawing/2014/main" id="{784C053F-6602-CA88-31E0-9926CB10F306}"/>
              </a:ext>
            </a:extLst>
          </p:cNvPr>
          <p:cNvSpPr/>
          <p:nvPr/>
        </p:nvSpPr>
        <p:spPr>
          <a:xfrm>
            <a:off x="930689" y="6415048"/>
            <a:ext cx="3341766" cy="297968"/>
          </a:xfrm>
          <a:prstGeom prst="rect">
            <a:avLst/>
          </a:prstGeom>
          <a:noFill/>
          <a:ln/>
        </p:spPr>
        <p:txBody>
          <a:bodyPr wrap="square" rtlCol="0" anchor="ctr"/>
          <a:lstStyle/>
          <a:p>
            <a:pPr>
              <a:lnSpc>
                <a:spcPct val="140000"/>
              </a:lnSpc>
            </a:pPr>
            <a:r>
              <a:rPr lang="en-US" sz="1100">
                <a:solidFill>
                  <a:schemeClr val="tx1">
                    <a:lumMod val="50000"/>
                    <a:lumOff val="50000"/>
                  </a:schemeClr>
                </a:solidFill>
                <a:effectLst/>
                <a:latin typeface="Gellix Light" pitchFamily="2" charset="77"/>
                <a:cs typeface="Gellix Light" pitchFamily="2" charset="77"/>
              </a:rPr>
              <a:t>© 2026 Cognizant. All Rights reserved. | 2026</a:t>
            </a:r>
            <a:endParaRPr lang="en-US" sz="1100">
              <a:solidFill>
                <a:schemeClr val="tx1">
                  <a:lumMod val="50000"/>
                  <a:lumOff val="50000"/>
                </a:schemeClr>
              </a:solidFill>
              <a:latin typeface="Gellix Light" pitchFamily="2" charset="77"/>
              <a:cs typeface="Gellix Light" pitchFamily="2" charset="77"/>
            </a:endParaRPr>
          </a:p>
        </p:txBody>
      </p:sp>
      <p:sp>
        <p:nvSpPr>
          <p:cNvPr id="117" name="Slide Number Placeholder 8">
            <a:extLst>
              <a:ext uri="{FF2B5EF4-FFF2-40B4-BE49-F238E27FC236}">
                <a16:creationId xmlns:a16="http://schemas.microsoft.com/office/drawing/2014/main" id="{7F6D05AF-2466-C95C-79BF-05570A709C46}"/>
              </a:ext>
            </a:extLst>
          </p:cNvPr>
          <p:cNvSpPr txBox="1">
            <a:spLocks/>
          </p:cNvSpPr>
          <p:nvPr/>
        </p:nvSpPr>
        <p:spPr>
          <a:xfrm>
            <a:off x="428292" y="6438623"/>
            <a:ext cx="504395" cy="30521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82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fld id="{11B95D35-DD53-0442-BAEB-773F9797755E}" type="slidenum">
              <a:rPr lang="en-US" sz="1100" smtClean="0">
                <a:solidFill>
                  <a:schemeClr val="tx1">
                    <a:lumMod val="50000"/>
                    <a:lumOff val="50000"/>
                  </a:schemeClr>
                </a:solidFill>
                <a:latin typeface="Gellix Light" pitchFamily="2" charset="77"/>
                <a:cs typeface="Gellix Light" pitchFamily="2" charset="77"/>
              </a:rPr>
              <a:pPr algn="l"/>
              <a:t>8</a:t>
            </a:fld>
            <a:endParaRPr lang="en-US" sz="1100">
              <a:solidFill>
                <a:schemeClr val="tx1">
                  <a:lumMod val="50000"/>
                  <a:lumOff val="50000"/>
                </a:schemeClr>
              </a:solidFill>
              <a:latin typeface="Gellix Light" pitchFamily="2" charset="77"/>
              <a:cs typeface="Gellix Light" pitchFamily="2" charset="77"/>
            </a:endParaRPr>
          </a:p>
        </p:txBody>
      </p:sp>
      <p:pic>
        <p:nvPicPr>
          <p:cNvPr id="118" name="Picture 117" descr="A blue text on a black background&#10;&#10;Description automatically generated">
            <a:extLst>
              <a:ext uri="{FF2B5EF4-FFF2-40B4-BE49-F238E27FC236}">
                <a16:creationId xmlns:a16="http://schemas.microsoft.com/office/drawing/2014/main" id="{750FEEBA-ABF5-49F3-CF68-D47AA1CCCCB2}"/>
              </a:ext>
            </a:extLst>
          </p:cNvPr>
          <p:cNvPicPr>
            <a:picLocks noChangeAspect="1"/>
          </p:cNvPicPr>
          <p:nvPr/>
        </p:nvPicPr>
        <p:blipFill>
          <a:blip r:embed="rId3"/>
          <a:stretch>
            <a:fillRect/>
          </a:stretch>
        </p:blipFill>
        <p:spPr>
          <a:xfrm>
            <a:off x="10725682" y="6495222"/>
            <a:ext cx="974900" cy="174670"/>
          </a:xfrm>
          <a:prstGeom prst="rect">
            <a:avLst/>
          </a:prstGeom>
        </p:spPr>
      </p:pic>
      <p:grpSp>
        <p:nvGrpSpPr>
          <p:cNvPr id="31" name="Group 30">
            <a:extLst>
              <a:ext uri="{FF2B5EF4-FFF2-40B4-BE49-F238E27FC236}">
                <a16:creationId xmlns:a16="http://schemas.microsoft.com/office/drawing/2014/main" id="{35EE9B2F-983E-2B79-AEE8-B14D1C434BB5}"/>
              </a:ext>
            </a:extLst>
          </p:cNvPr>
          <p:cNvGrpSpPr/>
          <p:nvPr/>
        </p:nvGrpSpPr>
        <p:grpSpPr>
          <a:xfrm>
            <a:off x="457200" y="228600"/>
            <a:ext cx="11113024" cy="308611"/>
            <a:chOff x="457200" y="228600"/>
            <a:chExt cx="11113024" cy="308611"/>
          </a:xfrm>
        </p:grpSpPr>
        <p:sp>
          <p:nvSpPr>
            <p:cNvPr id="32" name="Text 5">
              <a:extLst>
                <a:ext uri="{FF2B5EF4-FFF2-40B4-BE49-F238E27FC236}">
                  <a16:creationId xmlns:a16="http://schemas.microsoft.com/office/drawing/2014/main" id="{0808E9B4-9E63-8D8F-57A1-0D13DEFA189F}"/>
                </a:ext>
              </a:extLst>
            </p:cNvPr>
            <p:cNvSpPr/>
            <p:nvPr/>
          </p:nvSpPr>
          <p:spPr>
            <a:xfrm>
              <a:off x="457200" y="228600"/>
              <a:ext cx="1732547"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pitchFamily="2" charset="77"/>
                </a:rPr>
                <a:t>01</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The</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AI</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Inflection</a:t>
              </a:r>
              <a:r>
                <a:rPr lang="en-US" sz="1000" b="1">
                  <a:solidFill>
                    <a:srgbClr val="0171C1"/>
                  </a:solidFill>
                  <a:latin typeface="Gellix SemiBold" pitchFamily="2" charset="77"/>
                  <a:cs typeface="Gellix SemiBold" pitchFamily="2" charset="77"/>
                </a:rPr>
                <a:t> </a:t>
              </a:r>
              <a:r>
                <a:rPr lang="en-US" sz="1000">
                  <a:solidFill>
                    <a:schemeClr val="tx1">
                      <a:lumMod val="65000"/>
                      <a:lumOff val="35000"/>
                    </a:schemeClr>
                  </a:solidFill>
                  <a:latin typeface="Gellix Light" pitchFamily="2" charset="77"/>
                </a:rPr>
                <a:t>Point</a:t>
              </a:r>
            </a:p>
          </p:txBody>
        </p:sp>
        <p:sp>
          <p:nvSpPr>
            <p:cNvPr id="33" name="Text 5">
              <a:extLst>
                <a:ext uri="{FF2B5EF4-FFF2-40B4-BE49-F238E27FC236}">
                  <a16:creationId xmlns:a16="http://schemas.microsoft.com/office/drawing/2014/main" id="{49085692-1E6C-5B17-A4AC-14F8607DCF57}"/>
                </a:ext>
              </a:extLst>
            </p:cNvPr>
            <p:cNvSpPr/>
            <p:nvPr/>
          </p:nvSpPr>
          <p:spPr>
            <a:xfrm>
              <a:off x="2133600" y="228600"/>
              <a:ext cx="1921042"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a:rPr>
                <a:t>02</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The</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New</a:t>
              </a:r>
              <a:r>
                <a:rPr lang="en-US" sz="1000" b="1">
                  <a:solidFill>
                    <a:srgbClr val="0171C1"/>
                  </a:solidFill>
                  <a:latin typeface="Gellix SemiBold" pitchFamily="2" charset="77"/>
                </a:rPr>
                <a:t> </a:t>
              </a:r>
              <a:r>
                <a:rPr lang="en-US" sz="1000">
                  <a:solidFill>
                    <a:schemeClr val="tx1">
                      <a:lumMod val="65000"/>
                      <a:lumOff val="35000"/>
                    </a:schemeClr>
                  </a:solidFill>
                  <a:latin typeface="Gellix Light"/>
                </a:rPr>
                <a:t>Complexity</a:t>
              </a:r>
            </a:p>
          </p:txBody>
        </p:sp>
        <p:sp>
          <p:nvSpPr>
            <p:cNvPr id="34" name="Text 5">
              <a:extLst>
                <a:ext uri="{FF2B5EF4-FFF2-40B4-BE49-F238E27FC236}">
                  <a16:creationId xmlns:a16="http://schemas.microsoft.com/office/drawing/2014/main" id="{D9BF1A64-3791-F92C-1328-4E75A8B63108}"/>
                </a:ext>
              </a:extLst>
            </p:cNvPr>
            <p:cNvSpPr/>
            <p:nvPr/>
          </p:nvSpPr>
          <p:spPr>
            <a:xfrm>
              <a:off x="3800902" y="228600"/>
              <a:ext cx="1275347" cy="308611"/>
            </a:xfrm>
            <a:prstGeom prst="rect">
              <a:avLst/>
            </a:prstGeom>
            <a:noFill/>
            <a:ln/>
          </p:spPr>
          <p:txBody>
            <a:bodyPr wrap="square" lIns="91440" tIns="45720" rIns="91440" bIns="45720" rtlCol="0" anchor="ctr"/>
            <a:lstStyle/>
            <a:p>
              <a:pPr>
                <a:lnSpc>
                  <a:spcPct val="140000"/>
                </a:lnSpc>
              </a:pPr>
              <a:r>
                <a:rPr lang="en-US" sz="1000">
                  <a:solidFill>
                    <a:schemeClr val="tx1">
                      <a:lumMod val="65000"/>
                      <a:lumOff val="35000"/>
                    </a:schemeClr>
                  </a:solidFill>
                  <a:latin typeface="Gellix Light"/>
                </a:rPr>
                <a:t>03 The AI ROI Gap</a:t>
              </a:r>
            </a:p>
          </p:txBody>
        </p:sp>
        <p:sp>
          <p:nvSpPr>
            <p:cNvPr id="35" name="Text 5">
              <a:extLst>
                <a:ext uri="{FF2B5EF4-FFF2-40B4-BE49-F238E27FC236}">
                  <a16:creationId xmlns:a16="http://schemas.microsoft.com/office/drawing/2014/main" id="{7D147812-C41E-F3F9-4074-B6BFD596D02E}"/>
                </a:ext>
              </a:extLst>
            </p:cNvPr>
            <p:cNvSpPr/>
            <p:nvPr/>
          </p:nvSpPr>
          <p:spPr>
            <a:xfrm>
              <a:off x="5227091" y="228600"/>
              <a:ext cx="2205312" cy="303631"/>
            </a:xfrm>
            <a:prstGeom prst="rect">
              <a:avLst/>
            </a:prstGeom>
            <a:noFill/>
            <a:ln/>
          </p:spPr>
          <p:txBody>
            <a:bodyPr wrap="square" lIns="91440" tIns="45720" rIns="91440" bIns="45720" rtlCol="0" anchor="ctr"/>
            <a:lstStyle/>
            <a:p>
              <a:pPr>
                <a:lnSpc>
                  <a:spcPct val="140000"/>
                </a:lnSpc>
              </a:pPr>
              <a:r>
                <a:rPr lang="en-US" sz="1000">
                  <a:solidFill>
                    <a:schemeClr val="tx1">
                      <a:lumMod val="65000"/>
                      <a:lumOff val="35000"/>
                    </a:schemeClr>
                  </a:solidFill>
                  <a:latin typeface="Gellix Light"/>
                  <a:cs typeface="Gellix Light" pitchFamily="2" charset="77"/>
                </a:rPr>
                <a:t>04 Three Vectors of Transformation</a:t>
              </a:r>
              <a:endParaRPr lang="en-US" sz="1000">
                <a:solidFill>
                  <a:schemeClr val="tx1">
                    <a:lumMod val="65000"/>
                    <a:lumOff val="35000"/>
                  </a:schemeClr>
                </a:solidFill>
                <a:latin typeface="Gellix Light" pitchFamily="2" charset="77"/>
                <a:cs typeface="Gellix Light" pitchFamily="2" charset="77"/>
              </a:endParaRPr>
            </a:p>
          </p:txBody>
        </p:sp>
        <p:sp>
          <p:nvSpPr>
            <p:cNvPr id="36" name="Text 5">
              <a:extLst>
                <a:ext uri="{FF2B5EF4-FFF2-40B4-BE49-F238E27FC236}">
                  <a16:creationId xmlns:a16="http://schemas.microsoft.com/office/drawing/2014/main" id="{7D2986FB-AA58-82D3-E9C5-457641FC88D4}"/>
                </a:ext>
              </a:extLst>
            </p:cNvPr>
            <p:cNvSpPr/>
            <p:nvPr/>
          </p:nvSpPr>
          <p:spPr>
            <a:xfrm>
              <a:off x="7491839" y="228600"/>
              <a:ext cx="2284508" cy="308611"/>
            </a:xfrm>
            <a:prstGeom prst="rect">
              <a:avLst/>
            </a:prstGeom>
            <a:noFill/>
            <a:ln/>
          </p:spPr>
          <p:txBody>
            <a:bodyPr wrap="square" rtlCol="0" anchor="ctr"/>
            <a:lstStyle/>
            <a:p>
              <a:pPr>
                <a:lnSpc>
                  <a:spcPct val="140000"/>
                </a:lnSpc>
              </a:pPr>
              <a:r>
                <a:rPr lang="en-US" sz="1000" b="1">
                  <a:solidFill>
                    <a:srgbClr val="0171C1"/>
                  </a:solidFill>
                  <a:latin typeface="Gellix SemiBold" pitchFamily="2" charset="77"/>
                </a:rPr>
                <a:t>05 Cognizant as AI Builder</a:t>
              </a:r>
            </a:p>
          </p:txBody>
        </p:sp>
        <p:sp>
          <p:nvSpPr>
            <p:cNvPr id="37" name="Text 5">
              <a:extLst>
                <a:ext uri="{FF2B5EF4-FFF2-40B4-BE49-F238E27FC236}">
                  <a16:creationId xmlns:a16="http://schemas.microsoft.com/office/drawing/2014/main" id="{DF22A640-D630-B6F9-BF49-D61F91AAD4CF}"/>
                </a:ext>
              </a:extLst>
            </p:cNvPr>
            <p:cNvSpPr/>
            <p:nvPr/>
          </p:nvSpPr>
          <p:spPr>
            <a:xfrm>
              <a:off x="9285716" y="228600"/>
              <a:ext cx="2284508" cy="308611"/>
            </a:xfrm>
            <a:prstGeom prst="rect">
              <a:avLst/>
            </a:prstGeom>
            <a:noFill/>
            <a:ln/>
          </p:spPr>
          <p:txBody>
            <a:bodyPr wrap="square" rtlCol="0" anchor="ctr"/>
            <a:lstStyle/>
            <a:p>
              <a:pPr>
                <a:lnSpc>
                  <a:spcPct val="140000"/>
                </a:lnSpc>
              </a:pPr>
              <a:r>
                <a:rPr lang="en-US" sz="1000">
                  <a:solidFill>
                    <a:schemeClr val="tx1">
                      <a:lumMod val="65000"/>
                      <a:lumOff val="35000"/>
                    </a:schemeClr>
                  </a:solidFill>
                  <a:latin typeface="Gellix Light" pitchFamily="2" charset="77"/>
                  <a:cs typeface="Gellix Light" pitchFamily="2" charset="77"/>
                </a:rPr>
                <a:t>06 What’s Next</a:t>
              </a:r>
            </a:p>
          </p:txBody>
        </p:sp>
      </p:grpSp>
    </p:spTree>
    <p:extLst>
      <p:ext uri="{BB962C8B-B14F-4D97-AF65-F5344CB8AC3E}">
        <p14:creationId xmlns:p14="http://schemas.microsoft.com/office/powerpoint/2010/main" val="39836746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1C82507F09FD74DBC124E381BA2A0CC" ma:contentTypeVersion="18" ma:contentTypeDescription="Create a new document." ma:contentTypeScope="" ma:versionID="d3f2bef0d026bf72c281980948297a6a">
  <xsd:schema xmlns:xsd="http://www.w3.org/2001/XMLSchema" xmlns:xs="http://www.w3.org/2001/XMLSchema" xmlns:p="http://schemas.microsoft.com/office/2006/metadata/properties" xmlns:ns2="011d2f2e-75be-49b6-a89c-4e27544a3f1d" xmlns:ns3="5ca2039e-2689-4c0e-a8a7-372084ae5265" targetNamespace="http://schemas.microsoft.com/office/2006/metadata/properties" ma:root="true" ma:fieldsID="cea4551b79eaecd84651c98ec8c26cfd" ns2:_="" ns3:_="">
    <xsd:import namespace="011d2f2e-75be-49b6-a89c-4e27544a3f1d"/>
    <xsd:import namespace="5ca2039e-2689-4c0e-a8a7-372084ae526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1d2f2e-75be-49b6-a89c-4e27544a3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ca2039e-2689-4c0e-a8a7-372084ae526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5c22c92-5f95-4eb8-a37a-da3ed79a345f}" ma:internalName="TaxCatchAll" ma:showField="CatchAllData" ma:web="5ca2039e-2689-4c0e-a8a7-372084ae5265">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ca2039e-2689-4c0e-a8a7-372084ae5265" xsi:nil="true"/>
    <lcf76f155ced4ddcb4097134ff3c332f xmlns="011d2f2e-75be-49b6-a89c-4e27544a3f1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05173CD-361C-4A1A-90BF-90EC57CFE440}">
  <ds:schemaRefs>
    <ds:schemaRef ds:uri="011d2f2e-75be-49b6-a89c-4e27544a3f1d"/>
    <ds:schemaRef ds:uri="5ca2039e-2689-4c0e-a8a7-372084ae526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68993AB-FF7F-49CB-8B33-2BC0E6D2B922}">
  <ds:schemaRefs>
    <ds:schemaRef ds:uri="http://schemas.microsoft.com/sharepoint/v3/contenttype/forms"/>
  </ds:schemaRefs>
</ds:datastoreItem>
</file>

<file path=customXml/itemProps3.xml><?xml version="1.0" encoding="utf-8"?>
<ds:datastoreItem xmlns:ds="http://schemas.openxmlformats.org/officeDocument/2006/customXml" ds:itemID="{EA330C32-F231-4FBF-BB35-07AF9AEF16FC}">
  <ds:schemaRefs>
    <ds:schemaRef ds:uri="011d2f2e-75be-49b6-a89c-4e27544a3f1d"/>
    <ds:schemaRef ds:uri="5ca2039e-2689-4c0e-a8a7-372084ae526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7</Notes>
  <HiddenSlides>0</HiddenSlide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Office Theme</vt:lpstr>
      <vt:lpstr>Cognizant_2024</vt:lpstr>
      <vt:lpstr>Our AI Builder approach</vt:lpstr>
      <vt:lpstr>$4.5 trillion in labor value is exposed to AI — six years ahead of schedule</vt:lpstr>
      <vt:lpstr>To realize tangible value, focus is shifting to AI industrialization and agentification</vt:lpstr>
      <vt:lpstr>Three vectors of AI-Led transformation for enterprises</vt:lpstr>
      <vt:lpstr>We defined the ‘AI Builder’ category</vt:lpstr>
      <vt:lpstr>Core elements that strengthen our AI Builder stack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Victoria Gunell</dc:creator>
  <cp:revision>1</cp:revision>
  <dcterms:created xsi:type="dcterms:W3CDTF">2026-03-02T14:15:25Z</dcterms:created>
  <dcterms:modified xsi:type="dcterms:W3CDTF">2026-04-01T15:39:58Z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0x01010041C82507F09FD74DBC124E381BA2A0CC</vt:lpwstr>
  </property>
  <property fmtid="{D5CDD505-2E9C-101B-9397-08002B2CF9AE}" pid="3" name="MediaServiceImageTags">
    <vt:lpwstr/>
  </property>
</Properties>
</file>